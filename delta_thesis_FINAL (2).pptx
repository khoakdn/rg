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harts/chart1.xml" ContentType="application/vnd.openxmlformats-officedocument.drawingml.chart+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Masters/slideMaster1.xml" ContentType="application/vnd.openxmlformats-officedocument.presentationml.slideMaster+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64748B"/>
                </a:solidFill>
                <a:latin typeface="Arial"/>
              </a:defRPr>
            </a:pPr>
            <a:r>
              <a:rPr sz="1000" b="0" i="0" u="none" strike="noStrike">
                <a:solidFill>
                  <a:srgbClr val="64748B"/>
                </a:solidFill>
                <a:latin typeface="Arial"/>
              </a:rPr>
              <a:t>Satisfaction Survey: Before vs After  (1=very dissatisfied, 5=very satisfied,  n=9)</a:t>
            </a:r>
          </a:p>
        </c:rich>
      </c:tx>
      <c:layout/>
      <c:overlay val="0"/>
    </c:title>
    <c:autoTitleDeleted val="0"/>
    <c:plotArea>
      <c:layout/>
      <c:barChart>
        <c:barDir val="bar"/>
        <c:grouping val="clustered"/>
        <c:varyColors val="0"/>
        <c:ser>
          <c:idx val="0"/>
          <c:order val="0"/>
          <c:tx>
            <c:strRef>
              <c:f>Sheet1!$B$1</c:f>
              <c:strCache>
                <c:ptCount val="1"/>
                <c:pt idx="0">
                  <c:v>Before</c:v>
                </c:pt>
              </c:strCache>
            </c:strRef>
          </c:tx>
          <c:spPr>
            <a:solidFill>
              <a:srgbClr val="C0392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Easy to create / update</c:v>
                  </c:pt>
                  <c:pt idx="1">
                    <c:v>Work independently</c:v>
                  </c:pt>
                  <c:pt idx="2">
                    <c:v>Consistent &amp; structured</c:v>
                  </c:pt>
                  <c:pt idx="3">
                    <c:v>Overall satisfaction</c:v>
                  </c:pt>
                </c:lvl>
              </c:multiLvlStrCache>
            </c:multiLvlStrRef>
          </c:cat>
          <c:val>
            <c:numRef>
              <c:f>Sheet1!$B$2:$B$5</c:f>
              <c:numCache>
                <c:formatCode>General</c:formatCode>
                <c:ptCount val="4"/>
                <c:pt idx="0">
                  <c:v>2.8</c:v>
                </c:pt>
                <c:pt idx="1">
                  <c:v>2.2</c:v>
                </c:pt>
                <c:pt idx="2">
                  <c:v>1.8</c:v>
                </c:pt>
                <c:pt idx="3">
                  <c:v>2</c:v>
                </c:pt>
              </c:numCache>
            </c:numRef>
          </c:val>
        </c:ser>
        <c:ser>
          <c:idx val="1"/>
          <c:order val="1"/>
          <c:tx>
            <c:strRef>
              <c:f>Sheet1!$C$1</c:f>
              <c:strCache>
                <c:ptCount val="1"/>
                <c:pt idx="0">
                  <c:v>After</c:v>
                </c:pt>
              </c:strCache>
            </c:strRef>
          </c:tx>
          <c:spPr>
            <a:solidFill>
              <a:srgbClr val="0087DC"/>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Easy to create / update</c:v>
                  </c:pt>
                  <c:pt idx="1">
                    <c:v>Work independently</c:v>
                  </c:pt>
                  <c:pt idx="2">
                    <c:v>Consistent &amp; structured</c:v>
                  </c:pt>
                  <c:pt idx="3">
                    <c:v>Overall satisfaction</c:v>
                  </c:pt>
                </c:lvl>
              </c:multiLvlStrCache>
            </c:multiLvlStrRef>
          </c:cat>
          <c:val>
            <c:numRef>
              <c:f>Sheet1!$C$2:$C$5</c:f>
              <c:numCache>
                <c:formatCode>General</c:formatCode>
                <c:ptCount val="4"/>
                <c:pt idx="0">
                  <c:v>4.2</c:v>
                </c:pt>
                <c:pt idx="1">
                  <c:v>4.1</c:v>
                </c:pt>
                <c:pt idx="2">
                  <c:v>4.2</c:v>
                </c:pt>
                <c:pt idx="3">
                  <c:v>4.1</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6350" cap="flat">
              <a:solidFill>
                <a:srgbClr val="DCE8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solidFill>
      <a:srgbClr val="F5F8F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good afternoon. My name is [Your Name], and I am here to defend my graduation project carried out during my internship at Delta Electronics EMEA.
The title of my project is: Designing a User-Friendly Template System for Campaign Landing Pages in Delta's CMS.
Over the next 15 to 20 minutes I'll take you through the problem that motivated this research, the structured Design Thinking approach I used, what I built, and what it has delivered for the organisation.
Let me begin with a brief introduction to Delta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Electronics is a global leader in power management and energy-saving solutions, founded in 1971. They operate in over 60 countries with approximately 88,000 employees and are the world's number-one supplier of industrial power supplies.
Their core market is B2B — they sell to businesses, not end consumers. Their product portfolio includes industrial power supplies, UPS systems, EV charging infrastructure, and smart energy solutions.
My internship was specifically within the EMEA region, working with the marketing team. That team is responsible for creating campaign landing pages in a custom-built CMS — and that CMS workflow is where my graduation project focused.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structure of today's defense.
I'll open with the company context and the problem that motivated this project.
Then I'll explain the research approach — how Design Thinking structured the entire project.
Next, I'll take you through each of the six phases, what I did, and what I found.
After that, a live demo of the template system.
Then the results — with concrete before and after numbers.
And I'll close with a conclusion and personal reflection.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the problem.
Delta's marketing team creates campaign landing pages in a custom-built CMS. Before this project, there was no shared template or design system — every page was started from scratch.
In practice, this meant marketers had to design the page structure themselves, discuss it with the wider team each time, and then wait for a developer to implement any changes — because the CMS required technical knowledge to operate.
I documented five recent campaign landing pages to trace each one from brief to launch. Through observation sessions and interviews, the same pattern emerged every time: unpredictable, repetitive, and slow. One page routinely took three to four weeks.
That quote came directly from a semi-structured interview. It captures the situation exactly — there was no structure to fall back on.
This was the gap my research set out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that problem, I formulated a clear research objective and a main research question.
The objective: to design and evaluate a user-friendly template system that enables marketing teams to create consistent campaign landing pages with significantly less developer support.
The main question asks: how can such a system be designed?
To answer this rigorously, I broke the problem into six sub-questions, each targeting a different aspect: the current situation, requirements, concept design, implementation, impact evaluation, and AI potential.
Each sub-question was answered with specific ICT research methods, all structured within a Design Thinking framework. The next slide shows how those six questions mapped to the six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project was structured around Design Thinking — a framework for human-centred, evidence-based design.
What distinguishes this project from a typical design exercise is that every phase used specific, named ICT research methods. Decisions weren't made on intuition — they were grounded in data.
In the following slides, I'll walk through each phase individually: what I did, what I found, and how it informed the next step.
Let me start with Phase 1 — Empathize.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was about deeply understanding the situation before designing anything.
I started with a CMS and artefact analysis — systematically reviewing the existing content models, configuration screens, and Figma files to understand how the CMS was actually structured and used. I then conducted case studies of five recent campaign landing pages: Hannover Messe 2026, Smarter E 2026, MCE 2026, Power &amp; Cooling, and Advanced Factories 2026. For each, I traced the full process from brief to go-live, comparing the Figma design, CMS configuration and the live page.
Alongside this, I ran semi-structured interviews with six stakeholders: Fidan (HM26), Rose (MCE), Joyce (Smarter E), Fiona (Power &amp; Cooling), Christina (Advanced Factories), and Teodor, an intern on the front-end team. I also ran observation and shadowing sessions, created an empathy map, and ran a baseline satisfaction survey.
Three key findings emerged.
First: no predictable, shared workflow. Every page followed a different informal process — no shared template, no checklist, nothing reusable in the CMS.
Second: total developer dependency. Marketers couldn't make a single structural change themselves. Every update went through the digital team.
Third: inconsistency and rework. Pages differed in layout patterns and component usage between campaigns. Last-minute changes frequently led to manual fixes and extra implementation effort.
The baseline survey confirmed the impact: overall satisfaction 2.1 out of 5, ease of use 2.8, and self-sufficiency just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evidence behind Phase 1.
The top row shows screenshots of the five campaign landing pages I studied: Hannover Messe 2026, Smarter E 2026, MCE 2026, Power &amp; Cooling Solutions, and Advanced Factories 2026. For each, I traced the full process from brief to launch, documenting the steps, tools, decisions and pain points.
The bottom row shows photos from the usability testing sessions in Phase 5. Nine participants took part: Andrea, Bilyana, Rose, Christina, Nadine, Fiona, Wil Chiang, Thy Bui, and Fidan. These sessions gave me both the quantitative before/after data and the qualitative insight into where exactly the friction was occurring.
PRESENTER NOTE: Replace the placeholder tiles above with your actual page screenshots and session photos before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was about translating everything from Phase 1 into concrete, prioritised requirements.
I used five methods. First, a requirements analysis using MoSCoW prioritisation — classifying each requirement as Must, Should, Could, or Won't — so that scope was realistic and stakeholder-agreed.
Second, a heuristic evaluation of current and concept landing-page layouts against recognised UX principles — focusing on clarity of calls-to-action, consistency, visual hierarchy, feedback, and mobile friendliness.
Third, I refined the empathy map from Phase 1 to directly connect user goals and frustrations to requirements — for example, 'marketers need to launch pages quickly without involving developers' became a self-service Must requirement.
Fourth, I created three lightweight personas — EMEA campaign marketer, digital/front-end developer, and product stakeholder — to ensure requirements balanced the needs of all three roles.
Fifth, I synthesised the five case study artefacts — briefings, Figma designs, live pages, CMS configurations — into a consolidated set of Delta landing-page artefacts to identify recurring patterns and hard technical constraints.
The result was a MoSCoW-prioritised, stakeholder-validated requirement list covering content structure, usability, self-service, technical constraints, and brand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was Ideate — generating and evaluating concept directions using the requirements from Phase 2 as fixed criteria.
My methods were: a benchmark analysis of existing CMSs, landing-page builders and template systems to identify proven patterns; a storage and sharing analysis exploring how templates and components could be stored and reused across campaigns and markets; a sidebar pattern analysis comparing how different tools structure configuration panels and preview behaviours; a comparison matrix scoring three concept directions against the MoSCoW Must requirements; and an AI concept exploration mapping where AI could realistically support the workflow.
The three concepts were: a free builder offering maximum flexibility but producing inconsistent results; a component-based system with reusable, archetype-based pages and a sidebar configuration panel; and fixed templates that were simple but too rigid for the variety of campaign types Delta runs.
The comparison matrix showed Concept B — the component-based system — was the only concept that satisfied all Must requirements. The benchmark and sidebar analyses confirmed this structure aligns with best practices while fitting Delta's technical constraints.
The AI concept was documented separately as a realistic future direction — not part of the core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moved the concept into reality through three levels of prototyping, followed by initial CMS implementation.
I started with a low-fidelity prototype in Figma — simple wireframes capturing the basic structure of the landing-page archetype, component placement, and the main steps of the configuration flow. This let me quickly test layout and flow ideas with stakeholders before investing in detailed design.
Next, I created a mid-fidelity prototype that incorporated Delta's design system — brand colours, typography, and component specifications. This bridged the gap between structure and the final visual design.
Then three iterations of high-fidelity prototypes, each incorporating feedback: Version 1 translated the concept directly; Version 2 adjusted spacing, responsive behaviour, and configuration labels based on stakeholder input; Version 3 was the near-final visual reference used for CMS implementation.
Alongside the Figma work, I began CMS implementation — building the template system in Delta's actual CMS front-end. Versions 1 through 3 in the CMS corresponded to the high-fidelity design iterations. Each was documented in the implementation log.
In parallel, I built an AI concept prototype — a small, illustrative example showing how AI-assisted copy suggestions might work within the configuration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was Testing — but it started with preparation, not sessions.
Before running any tests, I refined the template system through three additional versions — 4, 5 and 6 — working together with Rose and Fidan to align the system with Delta's brand guidelines and ensure it was in a pre-final, testable state.
I then created a usability testing plan defining goals, tasks, and success criteria, and ran sessions with nine participants: Andrea, Bilyana, Rose, Christina, Nadine, Fiona, Wil Chiang, Thy Bui, and Fidan. Each session was documented in an individual report, and the nine reports were combined into a consolidated analysis to identify repeated patterns across participants.
The before/after survey results tell a clear story. Every item improved substantially.
Ease of use: 2.8 → 4.2. Self-sufficiency: 2.2 → 4.1. Page consistency: 1.8 → 4.2. Overall satisfaction: 2.0 → 4.1. Overall average: 2.1 → 4.2 — nearly doubled.
The consolidated report identified what was working, what was still creating friction, and what needed to be addressed in the final implementation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committee a clear view of how the usability testing was set up and what it produced.
Nine participants took part — seven from the marketing side and two from the digital team. Having both perspectives was important: it let me check that the system was genuinely easier for marketers to use, without creating new problems for the developers who maintain it.
Each session followed the same five tasks, so results were comparable across all nine participants. Sessions ran for approximately 45 minutes each, and every session was documented in an individual report.
The five tasks covered the full workflow: selecting a template, configuring the hero section, adding a USP block, adjusting the contact form with live preview, and saving or publishing.
The nine reports were then combined into a consolidated analysis. Three patterns stood out across almost all participants.
First: the live preview removed most of the back-and-forth review rounds that characterised the old workflow — participants could see immediately whether the page looked right.
Second: the sidebar configuration was described as intuitive, even by participants with no technical background.
Third: the field labels and help text reduced hesitation during setup — participants didn't need to ask what a field was for.
These findings drove the specific changes made in template versions 4, 5, and 6 during Phase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was about taking the test findings and translating them into a final, stable, documented template system.
The implement phase was not a separate step from testing — the two were closely linked. Every issue identified in the nine usability sessions was documented in the change log, and the template went through versions 4, 5, and 6 as those issues were addressed one by one.
The implementation log made the full evolution transparent: from the initial prototype versions through to the final delivery.
What was ultimately delivered is a component library with reusable page sections, a sidebar-based configuration system with guided fields and live preview, and a fully documented system ready for use across real campaigns.
Crucially — this was not just a concept handed to developers. This was implemented in the live CMS, refined through direct user feedback, and delivered in a state that is immediately usable by the marketing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SLIDE — PRESENTER NOTES:
Option 1 (recommended): Open the live CMS at https://www.delta-emea.com and navigate to the template system. Username: DeltaEMEA / Password: Mrkt2026
Option 2: Use the Figma high-fidelity prototype or insert a screen recording.
Suggested walkthrough script (~3–4 minutes):
1. 'I'm now going to show you what this looks like in practice.'
2. Open the CMS and navigate to the template selection screen. 'A marketer starts here — choosing from available templates.'
3. Select a template. 'The page structure is immediately there — no decisions about layout needed.'
4. Open the hero component settings panel. 'This is the configuration panel. The marketer fills in the fields — headline, image, button text. There is no code.'
5. Show the live preview. 'As they configure, the preview on the right updates immediately.'
6. Add a USP block and a CTA strip. 'Additional sections are added by selecting from the component library.'
7. Click publish. 'When ready, they publish — or save as draft for review.'
Close with: 'The whole process you just saw — selecting, configuring, previewing, publishing — took under 3 minutes. In the old workflow, this would have required a developer and several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question: why is it so much faster?
Before: a marketer had to design the layout from scratch — thinking through structure and visual hierarchy. That alone took several days. Then team discussions to align on the design. Then a developer had to implement it in the CMS. Then a review-and-fix cycle because the first version rarely matched expectations. Then final approval.
After: the page structure already exists. The marketer selects a template, configures components through the settings panel, and sees a live preview immediately. There is no coding step. Minor adjustments are self-service. The remaining time is approval — a legitimate process that would happen regardless.
Three steps were essentially eliminated: designing from scratch, developer implementation, and the back-and-forth caused by the absence of live preview.
That's precisely where the ~75% time reduction comes from. It is structural, not incidental.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summarise the measurable impact.
Time to launch a campaign landing page went from three to four weeks down to roughly one week. Most participants could complete the configuration themselves within one to two days.
On satisfaction — every item in the survey improved substantially.
Ease of use: 2.8 → 4.2. Self-sufficiency: 2.2 → 4.1. Page consistency: 1.8 → 4.2. Overall satisfaction: 2.0 → 4.1.
The overall average moved from 2.1 to 4.2 — nearly doubling.
These are not aspirational targets. They are measured outcomes from a before-and-after study with nine participants.
The results confirm that the system does what it was designed to do: reduce time, reduce dependency, and improve the experience of creating campaign landing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for the defense committee — it answers the question: how do you know your design decisions were justified?
Every major feature or outcome in the system traces back to a specific ICT method and a concrete finding.
The six semi-structured interviews — with Fidan, Rose, Joyce, Fiona, Christina and Teodor — identified developer dependency as the root bottleneck. That finding directly drove the self-service sidebar configuration panel.
The five case studies showed no shared process existed across any of the five campaigns — that drove the component library as the standardising structure.
The baseline survey showed ease of use at 2.8 and self-sufficiency at 2.2 — both now exceed 4 after implementation.
The comparison matrix against MoSCoW Must requirements objectively selected the concept — not personal preference or creative instinct.
The usability testing with nine participants provides the empirical evidence that the system works in practice.
And the change log from versions 4 through 6 makes the implementation evolution fully traceable — every test finding became a documented change.
This chain — method, finding, decision, outcome — is what makes this a research project, not just a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sixth sub-question explored AI as a future direction. To be clear upfront: the template system delivers full value without AI. This is a forward-looking exploration conducted at Delta's request.
Using desk research, interview add-ons, and a concept prototype with feedback sessions, I identified four realistic AI opportunities.
AI copy suggestions — generating first-draft text from the campaign brief, with the marketer reviewing and approving.
Smart image tagging — automatically suggesting images from the asset library.
Inline SEO feedback — real-time suggestions on title, headings, and alt text during configuration.
Layout recommendations — suggesting which components to use based on campaign type and performance history.
None of these are implemented features. They represent a natural next phase, building directly on the template system already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everything I found and built, I have four concrete recommendations for Delta.
The first two are high priority.
First: expand the component library. The current set covers the most common campaign types, but adding components like countdown timers, product carousels, and event forms would extend self-service coverage significantly.
Second: formalise the process. The system is live and working — but sustainable, consistent adoption requires a short onboarding guide and a page-launch checklist. Without it, different teams may develop inconsistent habits.
Third: integrate analytics. Connecting page performance data to the CMS would close the feedback loop — marketers could see how their configuration decisions affect business outcomes.
Fourth: pilot AI copy and SEO, building on the SQ6 prototype findings. This would be a time-boxed pilot, not a full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conclusion, a short reflection on what I have genuinely learned from this project.
First: research-driven design. The structured methods gave me a defensible rationale for every decision. That rigour is what made this project credible — not just to me, but to the committee and to Delta.
Second: stakeholder communication. Regularly involving both developers and marketers — and actively incorporating their feedback — kept the project aligned and prevented major rework. Communication is a research skill, not just a soft skill.
Third: proactive feedback and continuous improvement. In each implementation cycle, I actively sought review rather than waiting for problems to appear. I learned that treating every piece of feedback as an improvement opportunity — not a criticism — is what pushes a product from good to genuinely useful.
Fourth: taking ownership end-to-end. This project required me to lead every phase independently — from research, to design, to CMS implementation, to evaluation. Taking full ownership, making decisions under uncertainty, and seeing them through to a working, measured outcome is the most valuable thing I take from this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this together.
The main research question asked: how can a user-friendly template system in Delta's custom CMS be designed to better support marketing teams in creating consistent, well-structured campaign landing pages?
The answer: by combining structured ICT research methods — interviews, case studies, heuristic review, comparison matrix, usability testing — with an iterative, stakeholder-validated design process. That process produced a component-based system with reusable sections, guided configuration, and live preview. And that system directly reduces time, dependency on developers, and inconsistency across campaign pages.
The evidence confirms this: approximately 75 percent time reduction, satisfaction nearly doubled from 2.1 to 4.2, self-sufficiency up from 2.2 to 4.1, six sub-questions answered with named ICT methods, and nine participants in the usability study.
This was not a prototype handed over and left untested. It was implemented in the live CMS, iterated across three cycles, and evaluated with real users.
The project delivered what it set out to deliver. I am confident in the research behind it.
Thank you —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ready for your questions.
Backup slides with raw survey data, full method documentation, and implementation artefacts are available if the committee wishes to go deeper on any aspect.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94D"/>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087DC"/>
          </a:solidFill>
          <a:ln w="12700">
            <a:solidFill>
              <a:srgbClr val="0087DC"/>
            </a:solidFill>
            <a:prstDash val="solid"/>
          </a:ln>
        </p:spPr>
      </p:sp>
      <p:sp>
        <p:nvSpPr>
          <p:cNvPr id="3" name="Text 1"/>
          <p:cNvSpPr/>
          <p:nvPr/>
        </p:nvSpPr>
        <p:spPr>
          <a:xfrm>
            <a:off x="457200" y="137160"/>
            <a:ext cx="8229600" cy="68580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HBO-ICT Bachelor Thesis Defense  ·  Delta Electronics EMEA</a:t>
            </a:r>
            <a:endParaRPr lang="en-US" sz="1300" dirty="0"/>
          </a:p>
        </p:txBody>
      </p:sp>
      <p:sp>
        <p:nvSpPr>
          <p:cNvPr id="4" name="Shape 2"/>
          <p:cNvSpPr/>
          <p:nvPr/>
        </p:nvSpPr>
        <p:spPr>
          <a:xfrm>
            <a:off x="0" y="987552"/>
            <a:ext cx="9144000" cy="54864"/>
          </a:xfrm>
          <a:prstGeom prst="rect">
            <a:avLst/>
          </a:prstGeom>
          <a:solidFill>
            <a:srgbClr val="67D7D2"/>
          </a:solidFill>
          <a:ln w="12700">
            <a:solidFill>
              <a:srgbClr val="67D7D2"/>
            </a:solidFill>
            <a:prstDash val="solid"/>
          </a:ln>
        </p:spPr>
      </p:sp>
      <p:sp>
        <p:nvSpPr>
          <p:cNvPr id="5" name="Text 3"/>
          <p:cNvSpPr/>
          <p:nvPr/>
        </p:nvSpPr>
        <p:spPr>
          <a:xfrm>
            <a:off x="457200" y="1207008"/>
            <a:ext cx="8229600" cy="1965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Designing a User-Friendly</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Template System for Campaign</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Landing Pages in Delta's CMS</a:t>
            </a:r>
            <a:endParaRPr lang="en-US" sz="3000" dirty="0"/>
          </a:p>
        </p:txBody>
      </p:sp>
      <p:sp>
        <p:nvSpPr>
          <p:cNvPr id="6" name="Shape 4"/>
          <p:cNvSpPr/>
          <p:nvPr/>
        </p:nvSpPr>
        <p:spPr>
          <a:xfrm>
            <a:off x="457200" y="3291840"/>
            <a:ext cx="4572000" cy="36576"/>
          </a:xfrm>
          <a:prstGeom prst="rect">
            <a:avLst/>
          </a:prstGeom>
          <a:solidFill>
            <a:srgbClr val="67D7D2"/>
          </a:solidFill>
          <a:ln w="12700">
            <a:solidFill>
              <a:srgbClr val="67D7D2"/>
            </a:solidFill>
            <a:prstDash val="solid"/>
          </a:ln>
        </p:spPr>
      </p:sp>
      <p:sp>
        <p:nvSpPr>
          <p:cNvPr id="7" name="Text 5"/>
          <p:cNvSpPr/>
          <p:nvPr/>
        </p:nvSpPr>
        <p:spPr>
          <a:xfrm>
            <a:off x="457200" y="3429000"/>
            <a:ext cx="8229600" cy="384048"/>
          </a:xfrm>
          <a:prstGeom prst="rect">
            <a:avLst/>
          </a:prstGeom>
          <a:noFill/>
          <a:ln/>
        </p:spPr>
        <p:txBody>
          <a:bodyPr wrap="square" lIns="0" tIns="0" rIns="0" bIns="0" rtlCol="0" anchor="ctr"/>
          <a:lstStyle/>
          <a:p>
            <a:pPr indent="0" marL="0">
              <a:buNone/>
            </a:pPr>
            <a:r>
              <a:rPr lang="en-US" sz="1300" b="1" dirty="0">
                <a:solidFill>
                  <a:srgbClr val="67D7D2"/>
                </a:solidFill>
                <a:latin typeface="Calibri" pitchFamily="34" charset="0"/>
                <a:ea typeface="Calibri" pitchFamily="34" charset="-122"/>
                <a:cs typeface="Calibri" pitchFamily="34" charset="-120"/>
              </a:rPr>
              <a:t>Student:</a:t>
            </a:r>
            <a:pPr indent="0" marL="0">
              <a:buNone/>
            </a:pPr>
            <a:r>
              <a:rPr lang="en-US" sz="1300" dirty="0">
                <a:solidFill>
                  <a:srgbClr val="C8DCF0"/>
                </a:solidFill>
                <a:latin typeface="Calibri" pitchFamily="34" charset="0"/>
                <a:ea typeface="Calibri" pitchFamily="34" charset="-122"/>
                <a:cs typeface="Calibri" pitchFamily="34" charset="-120"/>
              </a:rPr>
              <a:t>  [Your Name]</a:t>
            </a:r>
            <a:pPr indent="0" marL="0">
              <a:buNone/>
            </a:pPr>
            <a:r>
              <a:rPr lang="en-US" sz="1300" dirty="0">
                <a:solidFill>
                  <a:srgbClr val="44698C"/>
                </a:solidFill>
                <a:latin typeface="Calibri" pitchFamily="34" charset="0"/>
                <a:ea typeface="Calibri" pitchFamily="34" charset="-122"/>
                <a:cs typeface="Calibri" pitchFamily="34" charset="-120"/>
              </a:rPr>
              <a:t>    |    </a:t>
            </a:r>
            <a:pPr indent="0" marL="0">
              <a:buNone/>
            </a:pPr>
            <a:r>
              <a:rPr lang="en-US" sz="1300" b="1" dirty="0">
                <a:solidFill>
                  <a:srgbClr val="67D7D2"/>
                </a:solidFill>
                <a:latin typeface="Calibri" pitchFamily="34" charset="0"/>
                <a:ea typeface="Calibri" pitchFamily="34" charset="-122"/>
                <a:cs typeface="Calibri" pitchFamily="34" charset="-120"/>
              </a:rPr>
              <a:t>Company:</a:t>
            </a:r>
            <a:pPr indent="0" marL="0">
              <a:buNone/>
            </a:pPr>
            <a:r>
              <a:rPr lang="en-US" sz="1300" dirty="0">
                <a:solidFill>
                  <a:srgbClr val="C8DCF0"/>
                </a:solidFill>
                <a:latin typeface="Calibri" pitchFamily="34" charset="0"/>
                <a:ea typeface="Calibri" pitchFamily="34" charset="-122"/>
                <a:cs typeface="Calibri" pitchFamily="34" charset="-120"/>
              </a:rPr>
              <a:t>  Delta Electronics EMEA</a:t>
            </a:r>
            <a:endParaRPr lang="en-US" sz="1300" dirty="0"/>
          </a:p>
        </p:txBody>
      </p:sp>
      <p:sp>
        <p:nvSpPr>
          <p:cNvPr id="8" name="Text 6"/>
          <p:cNvSpPr/>
          <p:nvPr/>
        </p:nvSpPr>
        <p:spPr>
          <a:xfrm>
            <a:off x="457200" y="3840480"/>
            <a:ext cx="8229600" cy="384048"/>
          </a:xfrm>
          <a:prstGeom prst="rect">
            <a:avLst/>
          </a:prstGeom>
          <a:noFill/>
          <a:ln/>
        </p:spPr>
        <p:txBody>
          <a:bodyPr wrap="square" lIns="0" tIns="0" rIns="0" bIns="0" rtlCol="0" anchor="ctr"/>
          <a:lstStyle/>
          <a:p>
            <a:pPr indent="0" marL="0">
              <a:buNone/>
            </a:pPr>
            <a:r>
              <a:rPr lang="en-US" sz="1300" b="1" dirty="0">
                <a:solidFill>
                  <a:srgbClr val="67D7D2"/>
                </a:solidFill>
                <a:latin typeface="Calibri" pitchFamily="34" charset="0"/>
                <a:ea typeface="Calibri" pitchFamily="34" charset="-122"/>
                <a:cs typeface="Calibri" pitchFamily="34" charset="-120"/>
              </a:rPr>
              <a:t>Programme:</a:t>
            </a:r>
            <a:pPr indent="0" marL="0">
              <a:buNone/>
            </a:pPr>
            <a:r>
              <a:rPr lang="en-US" sz="1300" dirty="0">
                <a:solidFill>
                  <a:srgbClr val="C8DCF0"/>
                </a:solidFill>
                <a:latin typeface="Calibri" pitchFamily="34" charset="0"/>
                <a:ea typeface="Calibri" pitchFamily="34" charset="-122"/>
                <a:cs typeface="Calibri" pitchFamily="34" charset="-120"/>
              </a:rPr>
              <a:t>  HBO-ICT</a:t>
            </a:r>
            <a:pPr indent="0" marL="0">
              <a:buNone/>
            </a:pPr>
            <a:r>
              <a:rPr lang="en-US" sz="1300" dirty="0">
                <a:solidFill>
                  <a:srgbClr val="44698C"/>
                </a:solidFill>
                <a:latin typeface="Calibri" pitchFamily="34" charset="0"/>
                <a:ea typeface="Calibri" pitchFamily="34" charset="-122"/>
                <a:cs typeface="Calibri" pitchFamily="34" charset="-120"/>
              </a:rPr>
              <a:t>    |    </a:t>
            </a:r>
            <a:pPr indent="0" marL="0">
              <a:buNone/>
            </a:pPr>
            <a:r>
              <a:rPr lang="en-US" sz="1300" b="1" dirty="0">
                <a:solidFill>
                  <a:srgbClr val="67D7D2"/>
                </a:solidFill>
                <a:latin typeface="Calibri" pitchFamily="34" charset="0"/>
                <a:ea typeface="Calibri" pitchFamily="34" charset="-122"/>
                <a:cs typeface="Calibri" pitchFamily="34" charset="-120"/>
              </a:rPr>
              <a:t>Academic Year:</a:t>
            </a:r>
            <a:pPr indent="0" marL="0">
              <a:buNone/>
            </a:pPr>
            <a:r>
              <a:rPr lang="en-US" sz="1300" dirty="0">
                <a:solidFill>
                  <a:srgbClr val="C8DCF0"/>
                </a:solidFill>
                <a:latin typeface="Calibri" pitchFamily="34" charset="0"/>
                <a:ea typeface="Calibri" pitchFamily="34" charset="-122"/>
                <a:cs typeface="Calibri" pitchFamily="34" charset="-120"/>
              </a:rPr>
              <a:t>  2024–2025</a:t>
            </a:r>
            <a:endParaRPr lang="en-US" sz="1300" dirty="0"/>
          </a:p>
        </p:txBody>
      </p:sp>
      <p:sp>
        <p:nvSpPr>
          <p:cNvPr id="9" name="Shape 7"/>
          <p:cNvSpPr/>
          <p:nvPr/>
        </p:nvSpPr>
        <p:spPr>
          <a:xfrm>
            <a:off x="0" y="4892040"/>
            <a:ext cx="9144000" cy="251460"/>
          </a:xfrm>
          <a:prstGeom prst="rect">
            <a:avLst/>
          </a:prstGeom>
          <a:solidFill>
            <a:srgbClr val="001E38"/>
          </a:solidFill>
          <a:ln w="12700">
            <a:solidFill>
              <a:srgbClr val="001E38"/>
            </a:solidFill>
            <a:prstDash val="solid"/>
          </a:ln>
        </p:spPr>
      </p:sp>
      <p:sp>
        <p:nvSpPr>
          <p:cNvPr id="10" name="Text 8"/>
          <p:cNvSpPr/>
          <p:nvPr/>
        </p:nvSpPr>
        <p:spPr>
          <a:xfrm>
            <a:off x="457200" y="4892040"/>
            <a:ext cx="8229600" cy="251460"/>
          </a:xfrm>
          <a:prstGeom prst="rect">
            <a:avLst/>
          </a:prstGeom>
          <a:noFill/>
          <a:ln/>
        </p:spPr>
        <p:txBody>
          <a:bodyPr wrap="square" lIns="0" tIns="0" rIns="0" bIns="0" rtlCol="0" anchor="ctr"/>
          <a:lstStyle/>
          <a:p>
            <a:pPr indent="0" marL="0">
              <a:buNone/>
            </a:pPr>
            <a:r>
              <a:rPr lang="en-US" sz="900" dirty="0">
                <a:solidFill>
                  <a:srgbClr val="446688"/>
                </a:solidFill>
                <a:latin typeface="Calibri" pitchFamily="34" charset="0"/>
                <a:ea typeface="Calibri" pitchFamily="34" charset="-122"/>
                <a:cs typeface="Calibri" pitchFamily="34" charset="-120"/>
              </a:rPr>
              <a:t>Delta Electronics EMEA  ·  Graduation Internship  ·  2024–2025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94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87DC"/>
          </a:solidFill>
          <a:ln w="12700">
            <a:solidFill>
              <a:srgbClr val="0087DC"/>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COMPANY OVERVIEW</a:t>
            </a:r>
            <a:endParaRPr lang="en-US" sz="1000" dirty="0"/>
          </a:p>
        </p:txBody>
      </p:sp>
      <p:sp>
        <p:nvSpPr>
          <p:cNvPr id="4" name="Shape 2"/>
          <p:cNvSpPr/>
          <p:nvPr/>
        </p:nvSpPr>
        <p:spPr>
          <a:xfrm>
            <a:off x="365760" y="932688"/>
            <a:ext cx="5120640" cy="694944"/>
          </a:xfrm>
          <a:prstGeom prst="roundRect">
            <a:avLst>
              <a:gd name="adj" fmla="val 11842"/>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512064" y="1042416"/>
            <a:ext cx="475488" cy="475488"/>
          </a:xfrm>
          <a:prstGeom prst="oval">
            <a:avLst/>
          </a:prstGeom>
          <a:solidFill>
            <a:srgbClr val="0087DC"/>
          </a:solidFill>
          <a:ln w="12700">
            <a:solidFill>
              <a:srgbClr val="0087DC"/>
            </a:solidFill>
            <a:prstDash val="solid"/>
          </a:ln>
        </p:spPr>
      </p:sp>
      <p:pic>
        <p:nvPicPr>
          <p:cNvPr id="6" name="Image 0" descr="preencoded.png">    </p:cNvPr>
          <p:cNvPicPr>
            <a:picLocks noChangeAspect="1"/>
          </p:cNvPicPr>
          <p:nvPr/>
        </p:nvPicPr>
        <p:blipFill>
          <a:blip r:embed="rId1"/>
          <a:stretch>
            <a:fillRect/>
          </a:stretch>
        </p:blipFill>
        <p:spPr>
          <a:xfrm>
            <a:off x="612648" y="1143000"/>
            <a:ext cx="274320" cy="274320"/>
          </a:xfrm>
          <a:prstGeom prst="rect">
            <a:avLst/>
          </a:prstGeom>
        </p:spPr>
      </p:pic>
      <p:sp>
        <p:nvSpPr>
          <p:cNvPr id="7" name="Text 4"/>
          <p:cNvSpPr/>
          <p:nvPr/>
        </p:nvSpPr>
        <p:spPr>
          <a:xfrm>
            <a:off x="1115568" y="1005840"/>
            <a:ext cx="4224528"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Global Power Leader</a:t>
            </a:r>
            <a:endParaRPr lang="en-US" sz="1200" dirty="0"/>
          </a:p>
        </p:txBody>
      </p:sp>
      <p:sp>
        <p:nvSpPr>
          <p:cNvPr id="8" name="Text 5"/>
          <p:cNvSpPr/>
          <p:nvPr/>
        </p:nvSpPr>
        <p:spPr>
          <a:xfrm>
            <a:off x="1115568" y="1280160"/>
            <a:ext cx="4224528" cy="256032"/>
          </a:xfrm>
          <a:prstGeom prst="rect">
            <a:avLst/>
          </a:prstGeom>
          <a:noFill/>
          <a:ln/>
        </p:spPr>
        <p:txBody>
          <a:bodyPr wrap="square" lIns="0" tIns="0" rIns="0" bIns="0" rtlCol="0" anchor="ctr"/>
          <a:lstStyle/>
          <a:p>
            <a:pPr indent="0" marL="0">
              <a:buNone/>
            </a:pPr>
            <a:r>
              <a:rPr lang="en-US" sz="1050" dirty="0">
                <a:solidFill>
                  <a:srgbClr val="8BBCD8"/>
                </a:solidFill>
                <a:latin typeface="Calibri" pitchFamily="34" charset="0"/>
                <a:ea typeface="Calibri" pitchFamily="34" charset="-122"/>
                <a:cs typeface="Calibri" pitchFamily="34" charset="-120"/>
              </a:rPr>
              <a:t>One of the world's largest power management &amp; energy-saving solutions companies</a:t>
            </a:r>
            <a:endParaRPr lang="en-US" sz="1050" dirty="0"/>
          </a:p>
        </p:txBody>
      </p:sp>
      <p:sp>
        <p:nvSpPr>
          <p:cNvPr id="9" name="Shape 6"/>
          <p:cNvSpPr/>
          <p:nvPr/>
        </p:nvSpPr>
        <p:spPr>
          <a:xfrm>
            <a:off x="365760" y="1737360"/>
            <a:ext cx="5120640" cy="694944"/>
          </a:xfrm>
          <a:prstGeom prst="roundRect">
            <a:avLst>
              <a:gd name="adj" fmla="val 11842"/>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10" name="Shape 7"/>
          <p:cNvSpPr/>
          <p:nvPr/>
        </p:nvSpPr>
        <p:spPr>
          <a:xfrm>
            <a:off x="512064" y="1847088"/>
            <a:ext cx="475488" cy="475488"/>
          </a:xfrm>
          <a:prstGeom prst="oval">
            <a:avLst/>
          </a:prstGeom>
          <a:solidFill>
            <a:srgbClr val="0087DC"/>
          </a:solidFill>
          <a:ln w="12700">
            <a:solidFill>
              <a:srgbClr val="0087DC"/>
            </a:solidFill>
            <a:prstDash val="solid"/>
          </a:ln>
        </p:spPr>
      </p:sp>
      <p:pic>
        <p:nvPicPr>
          <p:cNvPr id="11" name="Image 1" descr="preencoded.png">    </p:cNvPr>
          <p:cNvPicPr>
            <a:picLocks noChangeAspect="1"/>
          </p:cNvPicPr>
          <p:nvPr/>
        </p:nvPicPr>
        <p:blipFill>
          <a:blip r:embed="rId2"/>
          <a:stretch>
            <a:fillRect/>
          </a:stretch>
        </p:blipFill>
        <p:spPr>
          <a:xfrm>
            <a:off x="612648" y="1947672"/>
            <a:ext cx="274320" cy="274320"/>
          </a:xfrm>
          <a:prstGeom prst="rect">
            <a:avLst/>
          </a:prstGeom>
        </p:spPr>
      </p:pic>
      <p:sp>
        <p:nvSpPr>
          <p:cNvPr id="12" name="Text 8"/>
          <p:cNvSpPr/>
          <p:nvPr/>
        </p:nvSpPr>
        <p:spPr>
          <a:xfrm>
            <a:off x="1115568" y="1810512"/>
            <a:ext cx="4224528"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Founded 1971</a:t>
            </a:r>
            <a:endParaRPr lang="en-US" sz="1200" dirty="0"/>
          </a:p>
        </p:txBody>
      </p:sp>
      <p:sp>
        <p:nvSpPr>
          <p:cNvPr id="13" name="Text 9"/>
          <p:cNvSpPr/>
          <p:nvPr/>
        </p:nvSpPr>
        <p:spPr>
          <a:xfrm>
            <a:off x="1115568" y="2084832"/>
            <a:ext cx="4224528" cy="256032"/>
          </a:xfrm>
          <a:prstGeom prst="rect">
            <a:avLst/>
          </a:prstGeom>
          <a:noFill/>
          <a:ln/>
        </p:spPr>
        <p:txBody>
          <a:bodyPr wrap="square" lIns="0" tIns="0" rIns="0" bIns="0" rtlCol="0" anchor="ctr"/>
          <a:lstStyle/>
          <a:p>
            <a:pPr indent="0" marL="0">
              <a:buNone/>
            </a:pPr>
            <a:r>
              <a:rPr lang="en-US" sz="1050" dirty="0">
                <a:solidFill>
                  <a:srgbClr val="8BBCD8"/>
                </a:solidFill>
                <a:latin typeface="Calibri" pitchFamily="34" charset="0"/>
                <a:ea typeface="Calibri" pitchFamily="34" charset="-122"/>
                <a:cs typeface="Calibri" pitchFamily="34" charset="-120"/>
              </a:rPr>
              <a:t>Headquartered in Tainan, Taiwan — now operating in 60+ countries worldwide</a:t>
            </a:r>
            <a:endParaRPr lang="en-US" sz="1050" dirty="0"/>
          </a:p>
        </p:txBody>
      </p:sp>
      <p:sp>
        <p:nvSpPr>
          <p:cNvPr id="14" name="Shape 10"/>
          <p:cNvSpPr/>
          <p:nvPr/>
        </p:nvSpPr>
        <p:spPr>
          <a:xfrm>
            <a:off x="365760" y="2542032"/>
            <a:ext cx="5120640" cy="694944"/>
          </a:xfrm>
          <a:prstGeom prst="roundRect">
            <a:avLst>
              <a:gd name="adj" fmla="val 11842"/>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15" name="Shape 11"/>
          <p:cNvSpPr/>
          <p:nvPr/>
        </p:nvSpPr>
        <p:spPr>
          <a:xfrm>
            <a:off x="512064" y="2651760"/>
            <a:ext cx="475488" cy="475488"/>
          </a:xfrm>
          <a:prstGeom prst="oval">
            <a:avLst/>
          </a:prstGeom>
          <a:solidFill>
            <a:srgbClr val="0087DC"/>
          </a:solidFill>
          <a:ln w="12700">
            <a:solidFill>
              <a:srgbClr val="0087DC"/>
            </a:solidFill>
            <a:prstDash val="solid"/>
          </a:ln>
        </p:spPr>
      </p:sp>
      <p:pic>
        <p:nvPicPr>
          <p:cNvPr id="16" name="Image 2" descr="preencoded.png">    </p:cNvPr>
          <p:cNvPicPr>
            <a:picLocks noChangeAspect="1"/>
          </p:cNvPicPr>
          <p:nvPr/>
        </p:nvPicPr>
        <p:blipFill>
          <a:blip r:embed="rId3"/>
          <a:stretch>
            <a:fillRect/>
          </a:stretch>
        </p:blipFill>
        <p:spPr>
          <a:xfrm>
            <a:off x="612648" y="2752344"/>
            <a:ext cx="274320" cy="274320"/>
          </a:xfrm>
          <a:prstGeom prst="rect">
            <a:avLst/>
          </a:prstGeom>
        </p:spPr>
      </p:pic>
      <p:sp>
        <p:nvSpPr>
          <p:cNvPr id="17" name="Text 12"/>
          <p:cNvSpPr/>
          <p:nvPr/>
        </p:nvSpPr>
        <p:spPr>
          <a:xfrm>
            <a:off x="1115568" y="2615184"/>
            <a:ext cx="4224528"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Core Products</a:t>
            </a:r>
            <a:endParaRPr lang="en-US" sz="1200" dirty="0"/>
          </a:p>
        </p:txBody>
      </p:sp>
      <p:sp>
        <p:nvSpPr>
          <p:cNvPr id="18" name="Text 13"/>
          <p:cNvSpPr/>
          <p:nvPr/>
        </p:nvSpPr>
        <p:spPr>
          <a:xfrm>
            <a:off x="1115568" y="2889504"/>
            <a:ext cx="4224528" cy="256032"/>
          </a:xfrm>
          <a:prstGeom prst="rect">
            <a:avLst/>
          </a:prstGeom>
          <a:noFill/>
          <a:ln/>
        </p:spPr>
        <p:txBody>
          <a:bodyPr wrap="square" lIns="0" tIns="0" rIns="0" bIns="0" rtlCol="0" anchor="ctr"/>
          <a:lstStyle/>
          <a:p>
            <a:pPr indent="0" marL="0">
              <a:buNone/>
            </a:pPr>
            <a:r>
              <a:rPr lang="en-US" sz="1050" dirty="0">
                <a:solidFill>
                  <a:srgbClr val="8BBCD8"/>
                </a:solidFill>
                <a:latin typeface="Calibri" pitchFamily="34" charset="0"/>
                <a:ea typeface="Calibri" pitchFamily="34" charset="-122"/>
                <a:cs typeface="Calibri" pitchFamily="34" charset="-120"/>
              </a:rPr>
              <a:t>Power supplies, UPS, EV charging infrastructure, smart energy &amp; industrial automation</a:t>
            </a:r>
            <a:endParaRPr lang="en-US" sz="1050" dirty="0"/>
          </a:p>
        </p:txBody>
      </p:sp>
      <p:sp>
        <p:nvSpPr>
          <p:cNvPr id="19" name="Shape 14"/>
          <p:cNvSpPr/>
          <p:nvPr/>
        </p:nvSpPr>
        <p:spPr>
          <a:xfrm>
            <a:off x="365760" y="3346704"/>
            <a:ext cx="5120640" cy="694944"/>
          </a:xfrm>
          <a:prstGeom prst="roundRect">
            <a:avLst>
              <a:gd name="adj" fmla="val 11842"/>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20" name="Shape 15"/>
          <p:cNvSpPr/>
          <p:nvPr/>
        </p:nvSpPr>
        <p:spPr>
          <a:xfrm>
            <a:off x="512064" y="3456432"/>
            <a:ext cx="475488" cy="475488"/>
          </a:xfrm>
          <a:prstGeom prst="oval">
            <a:avLst/>
          </a:prstGeom>
          <a:solidFill>
            <a:srgbClr val="0087DC"/>
          </a:solidFill>
          <a:ln w="12700">
            <a:solidFill>
              <a:srgbClr val="0087DC"/>
            </a:solidFill>
            <a:prstDash val="solid"/>
          </a:ln>
        </p:spPr>
      </p:sp>
      <p:pic>
        <p:nvPicPr>
          <p:cNvPr id="21" name="Image 3" descr="preencoded.png">    </p:cNvPr>
          <p:cNvPicPr>
            <a:picLocks noChangeAspect="1"/>
          </p:cNvPicPr>
          <p:nvPr/>
        </p:nvPicPr>
        <p:blipFill>
          <a:blip r:embed="rId4"/>
          <a:stretch>
            <a:fillRect/>
          </a:stretch>
        </p:blipFill>
        <p:spPr>
          <a:xfrm>
            <a:off x="612648" y="3557016"/>
            <a:ext cx="274320" cy="274320"/>
          </a:xfrm>
          <a:prstGeom prst="rect">
            <a:avLst/>
          </a:prstGeom>
        </p:spPr>
      </p:pic>
      <p:sp>
        <p:nvSpPr>
          <p:cNvPr id="22" name="Text 16"/>
          <p:cNvSpPr/>
          <p:nvPr/>
        </p:nvSpPr>
        <p:spPr>
          <a:xfrm>
            <a:off x="1115568" y="3419856"/>
            <a:ext cx="4224528"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EMEA Region</a:t>
            </a:r>
            <a:endParaRPr lang="en-US" sz="1200" dirty="0"/>
          </a:p>
        </p:txBody>
      </p:sp>
      <p:sp>
        <p:nvSpPr>
          <p:cNvPr id="23" name="Text 17"/>
          <p:cNvSpPr/>
          <p:nvPr/>
        </p:nvSpPr>
        <p:spPr>
          <a:xfrm>
            <a:off x="1115568" y="3694176"/>
            <a:ext cx="4224528" cy="256032"/>
          </a:xfrm>
          <a:prstGeom prst="rect">
            <a:avLst/>
          </a:prstGeom>
          <a:noFill/>
          <a:ln/>
        </p:spPr>
        <p:txBody>
          <a:bodyPr wrap="square" lIns="0" tIns="0" rIns="0" bIns="0" rtlCol="0" anchor="ctr"/>
          <a:lstStyle/>
          <a:p>
            <a:pPr indent="0" marL="0">
              <a:buNone/>
            </a:pPr>
            <a:r>
              <a:rPr lang="en-US" sz="1050" dirty="0">
                <a:solidFill>
                  <a:srgbClr val="8BBCD8"/>
                </a:solidFill>
                <a:latin typeface="Calibri" pitchFamily="34" charset="0"/>
                <a:ea typeface="Calibri" pitchFamily="34" charset="-122"/>
                <a:cs typeface="Calibri" pitchFamily="34" charset="-120"/>
              </a:rPr>
              <a:t>European headquarters driving B2B sales, marketing, and technical support</a:t>
            </a:r>
            <a:endParaRPr lang="en-US" sz="1050" dirty="0"/>
          </a:p>
        </p:txBody>
      </p:sp>
      <p:sp>
        <p:nvSpPr>
          <p:cNvPr id="24" name="Shape 18"/>
          <p:cNvSpPr/>
          <p:nvPr/>
        </p:nvSpPr>
        <p:spPr>
          <a:xfrm>
            <a:off x="365760" y="4151376"/>
            <a:ext cx="5120640" cy="694944"/>
          </a:xfrm>
          <a:prstGeom prst="roundRect">
            <a:avLst>
              <a:gd name="adj" fmla="val 11842"/>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25" name="Shape 19"/>
          <p:cNvSpPr/>
          <p:nvPr/>
        </p:nvSpPr>
        <p:spPr>
          <a:xfrm>
            <a:off x="512064" y="4261104"/>
            <a:ext cx="475488" cy="475488"/>
          </a:xfrm>
          <a:prstGeom prst="oval">
            <a:avLst/>
          </a:prstGeom>
          <a:solidFill>
            <a:srgbClr val="0087DC"/>
          </a:solidFill>
          <a:ln w="12700">
            <a:solidFill>
              <a:srgbClr val="0087DC"/>
            </a:solidFill>
            <a:prstDash val="solid"/>
          </a:ln>
        </p:spPr>
      </p:sp>
      <p:pic>
        <p:nvPicPr>
          <p:cNvPr id="26" name="Image 4" descr="preencoded.png">    </p:cNvPr>
          <p:cNvPicPr>
            <a:picLocks noChangeAspect="1"/>
          </p:cNvPicPr>
          <p:nvPr/>
        </p:nvPicPr>
        <p:blipFill>
          <a:blip r:embed="rId5"/>
          <a:stretch>
            <a:fillRect/>
          </a:stretch>
        </p:blipFill>
        <p:spPr>
          <a:xfrm>
            <a:off x="612648" y="4361688"/>
            <a:ext cx="274320" cy="274320"/>
          </a:xfrm>
          <a:prstGeom prst="rect">
            <a:avLst/>
          </a:prstGeom>
        </p:spPr>
      </p:pic>
      <p:sp>
        <p:nvSpPr>
          <p:cNvPr id="27" name="Text 20"/>
          <p:cNvSpPr/>
          <p:nvPr/>
        </p:nvSpPr>
        <p:spPr>
          <a:xfrm>
            <a:off x="1115568" y="4224528"/>
            <a:ext cx="4224528"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My Internship Context</a:t>
            </a:r>
            <a:endParaRPr lang="en-US" sz="1200" dirty="0"/>
          </a:p>
        </p:txBody>
      </p:sp>
      <p:sp>
        <p:nvSpPr>
          <p:cNvPr id="28" name="Text 21"/>
          <p:cNvSpPr/>
          <p:nvPr/>
        </p:nvSpPr>
        <p:spPr>
          <a:xfrm>
            <a:off x="1115568" y="4498848"/>
            <a:ext cx="4224528" cy="256032"/>
          </a:xfrm>
          <a:prstGeom prst="rect">
            <a:avLst/>
          </a:prstGeom>
          <a:noFill/>
          <a:ln/>
        </p:spPr>
        <p:txBody>
          <a:bodyPr wrap="square" lIns="0" tIns="0" rIns="0" bIns="0" rtlCol="0" anchor="ctr"/>
          <a:lstStyle/>
          <a:p>
            <a:pPr indent="0" marL="0">
              <a:buNone/>
            </a:pPr>
            <a:r>
              <a:rPr lang="en-US" sz="1050" dirty="0">
                <a:solidFill>
                  <a:srgbClr val="8BBCD8"/>
                </a:solidFill>
                <a:latin typeface="Calibri" pitchFamily="34" charset="0"/>
                <a:ea typeface="Calibri" pitchFamily="34" charset="-122"/>
                <a:cs typeface="Calibri" pitchFamily="34" charset="-120"/>
              </a:rPr>
              <a:t>Marketing team — improving the campaign landing page creation workflow in their custom CMS</a:t>
            </a:r>
            <a:endParaRPr lang="en-US" sz="1050" dirty="0"/>
          </a:p>
        </p:txBody>
      </p:sp>
      <p:sp>
        <p:nvSpPr>
          <p:cNvPr id="29" name="Shape 22"/>
          <p:cNvSpPr/>
          <p:nvPr/>
        </p:nvSpPr>
        <p:spPr>
          <a:xfrm>
            <a:off x="5669280" y="932688"/>
            <a:ext cx="3108960" cy="4023360"/>
          </a:xfrm>
          <a:prstGeom prst="roundRect">
            <a:avLst>
              <a:gd name="adj" fmla="val 2647"/>
            </a:avLst>
          </a:prstGeom>
          <a:solidFill>
            <a:srgbClr val="001E38"/>
          </a:solidFill>
          <a:ln w="12700">
            <a:solidFill>
              <a:srgbClr val="001E38"/>
            </a:solidFill>
            <a:prstDash val="solid"/>
          </a:ln>
          <a:effectLst>
            <a:outerShdw sx="100000" sy="100000" kx="0" ky="0" algn="bl" rotWithShape="0" blurRad="101600" dist="38100" dir="2700000">
              <a:srgbClr val="000000">
                <a:alpha val="13000"/>
              </a:srgbClr>
            </a:outerShdw>
          </a:effectLst>
        </p:spPr>
      </p:sp>
      <p:sp>
        <p:nvSpPr>
          <p:cNvPr id="30" name="Text 23"/>
          <p:cNvSpPr/>
          <p:nvPr/>
        </p:nvSpPr>
        <p:spPr>
          <a:xfrm>
            <a:off x="5806440" y="1005840"/>
            <a:ext cx="2834640" cy="347472"/>
          </a:xfrm>
          <a:prstGeom prst="rect">
            <a:avLst/>
          </a:prstGeom>
          <a:noFill/>
          <a:ln/>
        </p:spPr>
        <p:txBody>
          <a:bodyPr wrap="square" lIns="0" tIns="0" rIns="0" bIns="0" rtlCol="0" anchor="ctr"/>
          <a:lstStyle/>
          <a:p>
            <a:pPr indent="0" marL="0">
              <a:buNone/>
            </a:pPr>
            <a:r>
              <a:rPr lang="en-US" sz="1200" b="1" dirty="0">
                <a:solidFill>
                  <a:srgbClr val="67D7D2"/>
                </a:solidFill>
                <a:latin typeface="Cambria" pitchFamily="34" charset="0"/>
                <a:ea typeface="Cambria" pitchFamily="34" charset="-122"/>
                <a:cs typeface="Cambria" pitchFamily="34" charset="-120"/>
              </a:rPr>
              <a:t>Delta at a Glance</a:t>
            </a:r>
            <a:endParaRPr lang="en-US" sz="1200" dirty="0"/>
          </a:p>
        </p:txBody>
      </p:sp>
      <p:sp>
        <p:nvSpPr>
          <p:cNvPr id="31" name="Shape 24"/>
          <p:cNvSpPr/>
          <p:nvPr/>
        </p:nvSpPr>
        <p:spPr>
          <a:xfrm>
            <a:off x="5806440" y="1371600"/>
            <a:ext cx="2743200" cy="25603"/>
          </a:xfrm>
          <a:prstGeom prst="rect">
            <a:avLst/>
          </a:prstGeom>
          <a:solidFill>
            <a:srgbClr val="0087DC"/>
          </a:solidFill>
          <a:ln w="12700">
            <a:solidFill>
              <a:srgbClr val="0087DC"/>
            </a:solidFill>
            <a:prstDash val="solid"/>
          </a:ln>
        </p:spPr>
      </p:sp>
      <p:sp>
        <p:nvSpPr>
          <p:cNvPr id="32" name="Text 25"/>
          <p:cNvSpPr/>
          <p:nvPr/>
        </p:nvSpPr>
        <p:spPr>
          <a:xfrm>
            <a:off x="5806440" y="1508760"/>
            <a:ext cx="28346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60+</a:t>
            </a:r>
            <a:endParaRPr lang="en-US" sz="2800" dirty="0"/>
          </a:p>
        </p:txBody>
      </p:sp>
      <p:sp>
        <p:nvSpPr>
          <p:cNvPr id="33" name="Text 26"/>
          <p:cNvSpPr/>
          <p:nvPr/>
        </p:nvSpPr>
        <p:spPr>
          <a:xfrm>
            <a:off x="5806440" y="1947672"/>
            <a:ext cx="2834640" cy="256032"/>
          </a:xfrm>
          <a:prstGeom prst="rect">
            <a:avLst/>
          </a:prstGeom>
          <a:noFill/>
          <a:ln/>
        </p:spPr>
        <p:txBody>
          <a:bodyPr wrap="square" lIns="0" tIns="0" rIns="0" bIns="0" rtlCol="0" anchor="ctr"/>
          <a:lstStyle/>
          <a:p>
            <a:pPr algn="ctr" indent="0" marL="0">
              <a:buNone/>
            </a:pPr>
            <a:r>
              <a:rPr lang="en-US" sz="1000" dirty="0">
                <a:solidFill>
                  <a:srgbClr val="67D7D2"/>
                </a:solidFill>
                <a:latin typeface="Calibri" pitchFamily="34" charset="0"/>
                <a:ea typeface="Calibri" pitchFamily="34" charset="-122"/>
                <a:cs typeface="Calibri" pitchFamily="34" charset="-120"/>
              </a:rPr>
              <a:t>Countries</a:t>
            </a:r>
            <a:endParaRPr lang="en-US" sz="1000" dirty="0"/>
          </a:p>
        </p:txBody>
      </p:sp>
      <p:sp>
        <p:nvSpPr>
          <p:cNvPr id="34" name="Text 27"/>
          <p:cNvSpPr/>
          <p:nvPr/>
        </p:nvSpPr>
        <p:spPr>
          <a:xfrm>
            <a:off x="5806440" y="2331720"/>
            <a:ext cx="28346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~88K</a:t>
            </a:r>
            <a:endParaRPr lang="en-US" sz="2800" dirty="0"/>
          </a:p>
        </p:txBody>
      </p:sp>
      <p:sp>
        <p:nvSpPr>
          <p:cNvPr id="35" name="Text 28"/>
          <p:cNvSpPr/>
          <p:nvPr/>
        </p:nvSpPr>
        <p:spPr>
          <a:xfrm>
            <a:off x="5806440" y="2770632"/>
            <a:ext cx="2834640" cy="256032"/>
          </a:xfrm>
          <a:prstGeom prst="rect">
            <a:avLst/>
          </a:prstGeom>
          <a:noFill/>
          <a:ln/>
        </p:spPr>
        <p:txBody>
          <a:bodyPr wrap="square" lIns="0" tIns="0" rIns="0" bIns="0" rtlCol="0" anchor="ctr"/>
          <a:lstStyle/>
          <a:p>
            <a:pPr algn="ctr" indent="0" marL="0">
              <a:buNone/>
            </a:pPr>
            <a:r>
              <a:rPr lang="en-US" sz="1000" dirty="0">
                <a:solidFill>
                  <a:srgbClr val="67D7D2"/>
                </a:solidFill>
                <a:latin typeface="Calibri" pitchFamily="34" charset="0"/>
                <a:ea typeface="Calibri" pitchFamily="34" charset="-122"/>
                <a:cs typeface="Calibri" pitchFamily="34" charset="-120"/>
              </a:rPr>
              <a:t>Employees worldwide</a:t>
            </a:r>
            <a:endParaRPr lang="en-US" sz="1000" dirty="0"/>
          </a:p>
        </p:txBody>
      </p:sp>
      <p:sp>
        <p:nvSpPr>
          <p:cNvPr id="36" name="Text 29"/>
          <p:cNvSpPr/>
          <p:nvPr/>
        </p:nvSpPr>
        <p:spPr>
          <a:xfrm>
            <a:off x="5806440" y="3154680"/>
            <a:ext cx="28346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37" name="Text 30"/>
          <p:cNvSpPr/>
          <p:nvPr/>
        </p:nvSpPr>
        <p:spPr>
          <a:xfrm>
            <a:off x="5806440" y="3593592"/>
            <a:ext cx="2834640" cy="256032"/>
          </a:xfrm>
          <a:prstGeom prst="rect">
            <a:avLst/>
          </a:prstGeom>
          <a:noFill/>
          <a:ln/>
        </p:spPr>
        <p:txBody>
          <a:bodyPr wrap="square" lIns="0" tIns="0" rIns="0" bIns="0" rtlCol="0" anchor="ctr"/>
          <a:lstStyle/>
          <a:p>
            <a:pPr algn="ctr" indent="0" marL="0">
              <a:buNone/>
            </a:pPr>
            <a:r>
              <a:rPr lang="en-US" sz="1000" dirty="0">
                <a:solidFill>
                  <a:srgbClr val="67D7D2"/>
                </a:solidFill>
                <a:latin typeface="Calibri" pitchFamily="34" charset="0"/>
                <a:ea typeface="Calibri" pitchFamily="34" charset="-122"/>
                <a:cs typeface="Calibri" pitchFamily="34" charset="-120"/>
              </a:rPr>
              <a:t>Industrial power supplies</a:t>
            </a:r>
            <a:endParaRPr lang="en-US" sz="1000" dirty="0"/>
          </a:p>
        </p:txBody>
      </p:sp>
      <p:sp>
        <p:nvSpPr>
          <p:cNvPr id="38" name="Text 31"/>
          <p:cNvSpPr/>
          <p:nvPr/>
        </p:nvSpPr>
        <p:spPr>
          <a:xfrm>
            <a:off x="5806440" y="3977640"/>
            <a:ext cx="283464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B2B</a:t>
            </a:r>
            <a:endParaRPr lang="en-US" sz="2800" dirty="0"/>
          </a:p>
        </p:txBody>
      </p:sp>
      <p:sp>
        <p:nvSpPr>
          <p:cNvPr id="39" name="Text 32"/>
          <p:cNvSpPr/>
          <p:nvPr/>
        </p:nvSpPr>
        <p:spPr>
          <a:xfrm>
            <a:off x="5806440" y="4416552"/>
            <a:ext cx="2834640" cy="256032"/>
          </a:xfrm>
          <a:prstGeom prst="rect">
            <a:avLst/>
          </a:prstGeom>
          <a:noFill/>
          <a:ln/>
        </p:spPr>
        <p:txBody>
          <a:bodyPr wrap="square" lIns="0" tIns="0" rIns="0" bIns="0" rtlCol="0" anchor="ctr"/>
          <a:lstStyle/>
          <a:p>
            <a:pPr algn="ctr" indent="0" marL="0">
              <a:buNone/>
            </a:pPr>
            <a:r>
              <a:rPr lang="en-US" sz="1000" dirty="0">
                <a:solidFill>
                  <a:srgbClr val="67D7D2"/>
                </a:solidFill>
                <a:latin typeface="Calibri" pitchFamily="34" charset="0"/>
                <a:ea typeface="Calibri" pitchFamily="34" charset="-122"/>
                <a:cs typeface="Calibri" pitchFamily="34" charset="-120"/>
              </a:rPr>
              <a:t>Core market focus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OVERVIEW</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What You Will Hear Today</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365760" y="1298448"/>
            <a:ext cx="4133088" cy="1005840"/>
          </a:xfrm>
          <a:prstGeom prst="roundRect">
            <a:avLst>
              <a:gd name="adj" fmla="val 818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Shape 5"/>
          <p:cNvSpPr/>
          <p:nvPr/>
        </p:nvSpPr>
        <p:spPr>
          <a:xfrm>
            <a:off x="530352" y="1554480"/>
            <a:ext cx="475488" cy="475488"/>
          </a:xfrm>
          <a:prstGeom prst="oval">
            <a:avLst/>
          </a:prstGeom>
          <a:solidFill>
            <a:srgbClr val="0087DC"/>
          </a:solidFill>
          <a:ln w="12700">
            <a:solidFill>
              <a:srgbClr val="0087DC"/>
            </a:solidFill>
            <a:prstDash val="solid"/>
          </a:ln>
        </p:spPr>
      </p:sp>
      <p:sp>
        <p:nvSpPr>
          <p:cNvPr id="8" name="Text 6"/>
          <p:cNvSpPr/>
          <p:nvPr/>
        </p:nvSpPr>
        <p:spPr>
          <a:xfrm>
            <a:off x="530352" y="15544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152144" y="1463040"/>
            <a:ext cx="3182112" cy="347472"/>
          </a:xfrm>
          <a:prstGeom prst="rect">
            <a:avLst/>
          </a:prstGeom>
          <a:noFill/>
          <a:ln/>
        </p:spPr>
        <p:txBody>
          <a:bodyPr wrap="square" lIns="0" tIns="0" rIns="0" bIns="0" rtlCol="0" anchor="ctr"/>
          <a:lstStyle/>
          <a:p>
            <a:pPr indent="0" marL="0">
              <a:buNone/>
            </a:pPr>
            <a:r>
              <a:rPr lang="en-US" sz="1400" b="1" dirty="0">
                <a:solidFill>
                  <a:srgbClr val="00294D"/>
                </a:solidFill>
                <a:latin typeface="Cambria" pitchFamily="34" charset="0"/>
                <a:ea typeface="Cambria" pitchFamily="34" charset="-122"/>
                <a:cs typeface="Cambria" pitchFamily="34" charset="-120"/>
              </a:rPr>
              <a:t>Company &amp; Context</a:t>
            </a:r>
            <a:endParaRPr lang="en-US" sz="1400" dirty="0"/>
          </a:p>
        </p:txBody>
      </p:sp>
      <p:sp>
        <p:nvSpPr>
          <p:cNvPr id="10" name="Text 8"/>
          <p:cNvSpPr/>
          <p:nvPr/>
        </p:nvSpPr>
        <p:spPr>
          <a:xfrm>
            <a:off x="1152144" y="1828800"/>
            <a:ext cx="3182112" cy="34747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Delta Electronics EMEA + the problem</a:t>
            </a:r>
            <a:endParaRPr lang="en-US" sz="1100" dirty="0"/>
          </a:p>
        </p:txBody>
      </p:sp>
      <p:sp>
        <p:nvSpPr>
          <p:cNvPr id="11" name="Shape 9"/>
          <p:cNvSpPr/>
          <p:nvPr/>
        </p:nvSpPr>
        <p:spPr>
          <a:xfrm>
            <a:off x="365760" y="2468880"/>
            <a:ext cx="4133088" cy="1005840"/>
          </a:xfrm>
          <a:prstGeom prst="roundRect">
            <a:avLst>
              <a:gd name="adj" fmla="val 818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2" name="Shape 10"/>
          <p:cNvSpPr/>
          <p:nvPr/>
        </p:nvSpPr>
        <p:spPr>
          <a:xfrm>
            <a:off x="530352" y="2724912"/>
            <a:ext cx="475488" cy="475488"/>
          </a:xfrm>
          <a:prstGeom prst="oval">
            <a:avLst/>
          </a:prstGeom>
          <a:solidFill>
            <a:srgbClr val="0087DC"/>
          </a:solidFill>
          <a:ln w="12700">
            <a:solidFill>
              <a:srgbClr val="0087DC"/>
            </a:solidFill>
            <a:prstDash val="solid"/>
          </a:ln>
        </p:spPr>
      </p:sp>
      <p:sp>
        <p:nvSpPr>
          <p:cNvPr id="13" name="Text 11"/>
          <p:cNvSpPr/>
          <p:nvPr/>
        </p:nvSpPr>
        <p:spPr>
          <a:xfrm>
            <a:off x="530352" y="272491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1152144" y="2633472"/>
            <a:ext cx="3182112" cy="347472"/>
          </a:xfrm>
          <a:prstGeom prst="rect">
            <a:avLst/>
          </a:prstGeom>
          <a:noFill/>
          <a:ln/>
        </p:spPr>
        <p:txBody>
          <a:bodyPr wrap="square" lIns="0" tIns="0" rIns="0" bIns="0" rtlCol="0" anchor="ctr"/>
          <a:lstStyle/>
          <a:p>
            <a:pPr indent="0" marL="0">
              <a:buNone/>
            </a:pPr>
            <a:r>
              <a:rPr lang="en-US" sz="1400" b="1" dirty="0">
                <a:solidFill>
                  <a:srgbClr val="00294D"/>
                </a:solidFill>
                <a:latin typeface="Cambria" pitchFamily="34" charset="0"/>
                <a:ea typeface="Cambria" pitchFamily="34" charset="-122"/>
                <a:cs typeface="Cambria" pitchFamily="34" charset="-120"/>
              </a:rPr>
              <a:t>Research Approach</a:t>
            </a:r>
            <a:endParaRPr lang="en-US" sz="1400" dirty="0"/>
          </a:p>
        </p:txBody>
      </p:sp>
      <p:sp>
        <p:nvSpPr>
          <p:cNvPr id="15" name="Text 13"/>
          <p:cNvSpPr/>
          <p:nvPr/>
        </p:nvSpPr>
        <p:spPr>
          <a:xfrm>
            <a:off x="1152144" y="2999232"/>
            <a:ext cx="3182112" cy="34747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Design Thinking + ICT methods</a:t>
            </a:r>
            <a:endParaRPr lang="en-US" sz="1100" dirty="0"/>
          </a:p>
        </p:txBody>
      </p:sp>
      <p:sp>
        <p:nvSpPr>
          <p:cNvPr id="16" name="Shape 14"/>
          <p:cNvSpPr/>
          <p:nvPr/>
        </p:nvSpPr>
        <p:spPr>
          <a:xfrm>
            <a:off x="365760" y="3639312"/>
            <a:ext cx="4133088" cy="1005840"/>
          </a:xfrm>
          <a:prstGeom prst="roundRect">
            <a:avLst>
              <a:gd name="adj" fmla="val 818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Shape 15"/>
          <p:cNvSpPr/>
          <p:nvPr/>
        </p:nvSpPr>
        <p:spPr>
          <a:xfrm>
            <a:off x="530352" y="3895344"/>
            <a:ext cx="475488" cy="475488"/>
          </a:xfrm>
          <a:prstGeom prst="oval">
            <a:avLst/>
          </a:prstGeom>
          <a:solidFill>
            <a:srgbClr val="0087DC"/>
          </a:solidFill>
          <a:ln w="12700">
            <a:solidFill>
              <a:srgbClr val="0087DC"/>
            </a:solidFill>
            <a:prstDash val="solid"/>
          </a:ln>
        </p:spPr>
      </p:sp>
      <p:sp>
        <p:nvSpPr>
          <p:cNvPr id="18" name="Text 16"/>
          <p:cNvSpPr/>
          <p:nvPr/>
        </p:nvSpPr>
        <p:spPr>
          <a:xfrm>
            <a:off x="530352" y="389534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1152144" y="3803904"/>
            <a:ext cx="3182112" cy="347472"/>
          </a:xfrm>
          <a:prstGeom prst="rect">
            <a:avLst/>
          </a:prstGeom>
          <a:noFill/>
          <a:ln/>
        </p:spPr>
        <p:txBody>
          <a:bodyPr wrap="square" lIns="0" tIns="0" rIns="0" bIns="0" rtlCol="0" anchor="ctr"/>
          <a:lstStyle/>
          <a:p>
            <a:pPr indent="0" marL="0">
              <a:buNone/>
            </a:pPr>
            <a:r>
              <a:rPr lang="en-US" sz="1400" b="1" dirty="0">
                <a:solidFill>
                  <a:srgbClr val="00294D"/>
                </a:solidFill>
                <a:latin typeface="Cambria" pitchFamily="34" charset="0"/>
                <a:ea typeface="Cambria" pitchFamily="34" charset="-122"/>
                <a:cs typeface="Cambria" pitchFamily="34" charset="-120"/>
              </a:rPr>
              <a:t>Phase-by-Phase Findings</a:t>
            </a:r>
            <a:endParaRPr lang="en-US" sz="1400" dirty="0"/>
          </a:p>
        </p:txBody>
      </p:sp>
      <p:sp>
        <p:nvSpPr>
          <p:cNvPr id="20" name="Text 18"/>
          <p:cNvSpPr/>
          <p:nvPr/>
        </p:nvSpPr>
        <p:spPr>
          <a:xfrm>
            <a:off x="1152144" y="4169664"/>
            <a:ext cx="3182112" cy="34747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What I did and discovered in each phase</a:t>
            </a:r>
            <a:endParaRPr lang="en-US" sz="1100" dirty="0"/>
          </a:p>
        </p:txBody>
      </p:sp>
      <p:sp>
        <p:nvSpPr>
          <p:cNvPr id="21" name="Shape 19"/>
          <p:cNvSpPr/>
          <p:nvPr/>
        </p:nvSpPr>
        <p:spPr>
          <a:xfrm>
            <a:off x="4736592" y="1298448"/>
            <a:ext cx="4133088" cy="1005840"/>
          </a:xfrm>
          <a:prstGeom prst="roundRect">
            <a:avLst>
              <a:gd name="adj" fmla="val 818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2" name="Shape 20"/>
          <p:cNvSpPr/>
          <p:nvPr/>
        </p:nvSpPr>
        <p:spPr>
          <a:xfrm>
            <a:off x="4901184" y="1554480"/>
            <a:ext cx="475488" cy="475488"/>
          </a:xfrm>
          <a:prstGeom prst="oval">
            <a:avLst/>
          </a:prstGeom>
          <a:solidFill>
            <a:srgbClr val="0087DC"/>
          </a:solidFill>
          <a:ln w="12700">
            <a:solidFill>
              <a:srgbClr val="0087DC"/>
            </a:solidFill>
            <a:prstDash val="solid"/>
          </a:ln>
        </p:spPr>
      </p:sp>
      <p:sp>
        <p:nvSpPr>
          <p:cNvPr id="23" name="Text 21"/>
          <p:cNvSpPr/>
          <p:nvPr/>
        </p:nvSpPr>
        <p:spPr>
          <a:xfrm>
            <a:off x="4901184" y="15544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p:nvPr/>
        </p:nvSpPr>
        <p:spPr>
          <a:xfrm>
            <a:off x="5522976" y="1463040"/>
            <a:ext cx="3182112" cy="347472"/>
          </a:xfrm>
          <a:prstGeom prst="rect">
            <a:avLst/>
          </a:prstGeom>
          <a:noFill/>
          <a:ln/>
        </p:spPr>
        <p:txBody>
          <a:bodyPr wrap="square" lIns="0" tIns="0" rIns="0" bIns="0" rtlCol="0" anchor="ctr"/>
          <a:lstStyle/>
          <a:p>
            <a:pPr indent="0" marL="0">
              <a:buNone/>
            </a:pPr>
            <a:r>
              <a:rPr lang="en-US" sz="1400" b="1" dirty="0">
                <a:solidFill>
                  <a:srgbClr val="00294D"/>
                </a:solidFill>
                <a:latin typeface="Cambria" pitchFamily="34" charset="0"/>
                <a:ea typeface="Cambria" pitchFamily="34" charset="-122"/>
                <a:cs typeface="Cambria" pitchFamily="34" charset="-120"/>
              </a:rPr>
              <a:t>Demo</a:t>
            </a:r>
            <a:endParaRPr lang="en-US" sz="1400" dirty="0"/>
          </a:p>
        </p:txBody>
      </p:sp>
      <p:sp>
        <p:nvSpPr>
          <p:cNvPr id="25" name="Text 23"/>
          <p:cNvSpPr/>
          <p:nvPr/>
        </p:nvSpPr>
        <p:spPr>
          <a:xfrm>
            <a:off x="5522976" y="1828800"/>
            <a:ext cx="3182112" cy="34747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Live walkthrough of the template system</a:t>
            </a:r>
            <a:endParaRPr lang="en-US" sz="1100" dirty="0"/>
          </a:p>
        </p:txBody>
      </p:sp>
      <p:sp>
        <p:nvSpPr>
          <p:cNvPr id="26" name="Shape 24"/>
          <p:cNvSpPr/>
          <p:nvPr/>
        </p:nvSpPr>
        <p:spPr>
          <a:xfrm>
            <a:off x="4736592" y="2468880"/>
            <a:ext cx="4133088" cy="1005840"/>
          </a:xfrm>
          <a:prstGeom prst="roundRect">
            <a:avLst>
              <a:gd name="adj" fmla="val 818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7" name="Shape 25"/>
          <p:cNvSpPr/>
          <p:nvPr/>
        </p:nvSpPr>
        <p:spPr>
          <a:xfrm>
            <a:off x="4901184" y="2724912"/>
            <a:ext cx="475488" cy="475488"/>
          </a:xfrm>
          <a:prstGeom prst="oval">
            <a:avLst/>
          </a:prstGeom>
          <a:solidFill>
            <a:srgbClr val="0087DC"/>
          </a:solidFill>
          <a:ln w="12700">
            <a:solidFill>
              <a:srgbClr val="0087DC"/>
            </a:solidFill>
            <a:prstDash val="solid"/>
          </a:ln>
        </p:spPr>
      </p:sp>
      <p:sp>
        <p:nvSpPr>
          <p:cNvPr id="28" name="Text 26"/>
          <p:cNvSpPr/>
          <p:nvPr/>
        </p:nvSpPr>
        <p:spPr>
          <a:xfrm>
            <a:off x="4901184" y="272491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9" name="Text 27"/>
          <p:cNvSpPr/>
          <p:nvPr/>
        </p:nvSpPr>
        <p:spPr>
          <a:xfrm>
            <a:off x="5522976" y="2633472"/>
            <a:ext cx="3182112" cy="347472"/>
          </a:xfrm>
          <a:prstGeom prst="rect">
            <a:avLst/>
          </a:prstGeom>
          <a:noFill/>
          <a:ln/>
        </p:spPr>
        <p:txBody>
          <a:bodyPr wrap="square" lIns="0" tIns="0" rIns="0" bIns="0" rtlCol="0" anchor="ctr"/>
          <a:lstStyle/>
          <a:p>
            <a:pPr indent="0" marL="0">
              <a:buNone/>
            </a:pPr>
            <a:r>
              <a:rPr lang="en-US" sz="1400" b="1" dirty="0">
                <a:solidFill>
                  <a:srgbClr val="00294D"/>
                </a:solidFill>
                <a:latin typeface="Cambria" pitchFamily="34" charset="0"/>
                <a:ea typeface="Cambria" pitchFamily="34" charset="-122"/>
                <a:cs typeface="Cambria" pitchFamily="34" charset="-120"/>
              </a:rPr>
              <a:t>Results &amp; Evidence</a:t>
            </a:r>
            <a:endParaRPr lang="en-US" sz="1400" dirty="0"/>
          </a:p>
        </p:txBody>
      </p:sp>
      <p:sp>
        <p:nvSpPr>
          <p:cNvPr id="30" name="Text 28"/>
          <p:cNvSpPr/>
          <p:nvPr/>
        </p:nvSpPr>
        <p:spPr>
          <a:xfrm>
            <a:off x="5522976" y="2999232"/>
            <a:ext cx="3182112" cy="34747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Before/after time and satisfaction metrics</a:t>
            </a:r>
            <a:endParaRPr lang="en-US" sz="1100" dirty="0"/>
          </a:p>
        </p:txBody>
      </p:sp>
      <p:sp>
        <p:nvSpPr>
          <p:cNvPr id="31" name="Shape 29"/>
          <p:cNvSpPr/>
          <p:nvPr/>
        </p:nvSpPr>
        <p:spPr>
          <a:xfrm>
            <a:off x="4736592" y="3639312"/>
            <a:ext cx="4133088" cy="1005840"/>
          </a:xfrm>
          <a:prstGeom prst="roundRect">
            <a:avLst>
              <a:gd name="adj" fmla="val 818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32" name="Shape 30"/>
          <p:cNvSpPr/>
          <p:nvPr/>
        </p:nvSpPr>
        <p:spPr>
          <a:xfrm>
            <a:off x="4901184" y="3895344"/>
            <a:ext cx="475488" cy="475488"/>
          </a:xfrm>
          <a:prstGeom prst="oval">
            <a:avLst/>
          </a:prstGeom>
          <a:solidFill>
            <a:srgbClr val="0087DC"/>
          </a:solidFill>
          <a:ln w="12700">
            <a:solidFill>
              <a:srgbClr val="0087DC"/>
            </a:solidFill>
            <a:prstDash val="solid"/>
          </a:ln>
        </p:spPr>
      </p:sp>
      <p:sp>
        <p:nvSpPr>
          <p:cNvPr id="33" name="Text 31"/>
          <p:cNvSpPr/>
          <p:nvPr/>
        </p:nvSpPr>
        <p:spPr>
          <a:xfrm>
            <a:off x="4901184" y="389534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4" name="Text 32"/>
          <p:cNvSpPr/>
          <p:nvPr/>
        </p:nvSpPr>
        <p:spPr>
          <a:xfrm>
            <a:off x="5522976" y="3803904"/>
            <a:ext cx="3182112" cy="347472"/>
          </a:xfrm>
          <a:prstGeom prst="rect">
            <a:avLst/>
          </a:prstGeom>
          <a:noFill/>
          <a:ln/>
        </p:spPr>
        <p:txBody>
          <a:bodyPr wrap="square" lIns="0" tIns="0" rIns="0" bIns="0" rtlCol="0" anchor="ctr"/>
          <a:lstStyle/>
          <a:p>
            <a:pPr indent="0" marL="0">
              <a:buNone/>
            </a:pPr>
            <a:r>
              <a:rPr lang="en-US" sz="1400" b="1" dirty="0">
                <a:solidFill>
                  <a:srgbClr val="00294D"/>
                </a:solidFill>
                <a:latin typeface="Cambria" pitchFamily="34" charset="0"/>
                <a:ea typeface="Cambria" pitchFamily="34" charset="-122"/>
                <a:cs typeface="Cambria" pitchFamily="34" charset="-120"/>
              </a:rPr>
              <a:t>Conclusion &amp; Reflection</a:t>
            </a:r>
            <a:endParaRPr lang="en-US" sz="1400" dirty="0"/>
          </a:p>
        </p:txBody>
      </p:sp>
      <p:sp>
        <p:nvSpPr>
          <p:cNvPr id="35" name="Text 33"/>
          <p:cNvSpPr/>
          <p:nvPr/>
        </p:nvSpPr>
        <p:spPr>
          <a:xfrm>
            <a:off x="5522976" y="4169664"/>
            <a:ext cx="3182112" cy="34747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Value delivered + personal growth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PROBLEM</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The Starting Point: A Broken Workflow</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365760" y="1298448"/>
            <a:ext cx="5257800" cy="548640"/>
          </a:xfrm>
          <a:prstGeom prst="roundRect">
            <a:avLst>
              <a:gd name="adj" fmla="val 15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493776" y="1298448"/>
            <a:ext cx="420624"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8" name="Text 6"/>
          <p:cNvSpPr/>
          <p:nvPr/>
        </p:nvSpPr>
        <p:spPr>
          <a:xfrm>
            <a:off x="1005840" y="1298448"/>
            <a:ext cx="448056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No reusable template — every campaign page was built from scratch</a:t>
            </a:r>
            <a:endParaRPr lang="en-US" sz="1250" dirty="0"/>
          </a:p>
        </p:txBody>
      </p:sp>
      <p:sp>
        <p:nvSpPr>
          <p:cNvPr id="9" name="Shape 7"/>
          <p:cNvSpPr/>
          <p:nvPr/>
        </p:nvSpPr>
        <p:spPr>
          <a:xfrm>
            <a:off x="365760" y="1947672"/>
            <a:ext cx="5257800" cy="548640"/>
          </a:xfrm>
          <a:prstGeom prst="roundRect">
            <a:avLst>
              <a:gd name="adj" fmla="val 15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493776" y="1947672"/>
            <a:ext cx="420624"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Text 9"/>
          <p:cNvSpPr/>
          <p:nvPr/>
        </p:nvSpPr>
        <p:spPr>
          <a:xfrm>
            <a:off x="1005840" y="1947672"/>
            <a:ext cx="448056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Layout and design decisions had to be re-discussed for every new campaign</a:t>
            </a:r>
            <a:endParaRPr lang="en-US" sz="1250" dirty="0"/>
          </a:p>
        </p:txBody>
      </p:sp>
      <p:sp>
        <p:nvSpPr>
          <p:cNvPr id="12" name="Shape 10"/>
          <p:cNvSpPr/>
          <p:nvPr/>
        </p:nvSpPr>
        <p:spPr>
          <a:xfrm>
            <a:off x="365760" y="2596896"/>
            <a:ext cx="5257800" cy="548640"/>
          </a:xfrm>
          <a:prstGeom prst="roundRect">
            <a:avLst>
              <a:gd name="adj" fmla="val 15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493776" y="2596896"/>
            <a:ext cx="420624"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1005840" y="2596896"/>
            <a:ext cx="448056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Marketers depended entirely on developers for every CMS change</a:t>
            </a:r>
            <a:endParaRPr lang="en-US" sz="1250" dirty="0"/>
          </a:p>
        </p:txBody>
      </p:sp>
      <p:sp>
        <p:nvSpPr>
          <p:cNvPr id="15" name="Shape 13"/>
          <p:cNvSpPr/>
          <p:nvPr/>
        </p:nvSpPr>
        <p:spPr>
          <a:xfrm>
            <a:off x="365760" y="3246120"/>
            <a:ext cx="5257800" cy="548640"/>
          </a:xfrm>
          <a:prstGeom prst="roundRect">
            <a:avLst>
              <a:gd name="adj" fmla="val 15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6" name="Text 14"/>
          <p:cNvSpPr/>
          <p:nvPr/>
        </p:nvSpPr>
        <p:spPr>
          <a:xfrm>
            <a:off x="493776" y="3246120"/>
            <a:ext cx="420624"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1005840" y="3246120"/>
            <a:ext cx="448056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Pages were visually inconsistent across campaigns — no shared structure</a:t>
            </a:r>
            <a:endParaRPr lang="en-US" sz="1250" dirty="0"/>
          </a:p>
        </p:txBody>
      </p:sp>
      <p:sp>
        <p:nvSpPr>
          <p:cNvPr id="18" name="Shape 16"/>
          <p:cNvSpPr/>
          <p:nvPr/>
        </p:nvSpPr>
        <p:spPr>
          <a:xfrm>
            <a:off x="365760" y="3895344"/>
            <a:ext cx="5257800" cy="548640"/>
          </a:xfrm>
          <a:prstGeom prst="roundRect">
            <a:avLst>
              <a:gd name="adj" fmla="val 15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9" name="Text 17"/>
          <p:cNvSpPr/>
          <p:nvPr/>
        </p:nvSpPr>
        <p:spPr>
          <a:xfrm>
            <a:off x="493776" y="3895344"/>
            <a:ext cx="420624"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ext 18"/>
          <p:cNvSpPr/>
          <p:nvPr/>
        </p:nvSpPr>
        <p:spPr>
          <a:xfrm>
            <a:off x="1005840" y="3895344"/>
            <a:ext cx="448056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Creating one landing page took 3–4 weeks from brief to launch</a:t>
            </a:r>
            <a:endParaRPr lang="en-US" sz="1250" dirty="0"/>
          </a:p>
        </p:txBody>
      </p:sp>
      <p:sp>
        <p:nvSpPr>
          <p:cNvPr id="21" name="Shape 19"/>
          <p:cNvSpPr/>
          <p:nvPr/>
        </p:nvSpPr>
        <p:spPr>
          <a:xfrm>
            <a:off x="5806440" y="1298448"/>
            <a:ext cx="2944368" cy="3547872"/>
          </a:xfrm>
          <a:prstGeom prst="roundRect">
            <a:avLst>
              <a:gd name="adj" fmla="val 2795"/>
            </a:avLst>
          </a:prstGeom>
          <a:solidFill>
            <a:srgbClr val="FFF3C4"/>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2" name="Text 20"/>
          <p:cNvSpPr/>
          <p:nvPr/>
        </p:nvSpPr>
        <p:spPr>
          <a:xfrm>
            <a:off x="5907024" y="1316736"/>
            <a:ext cx="457200" cy="566928"/>
          </a:xfrm>
          <a:prstGeom prst="rect">
            <a:avLst/>
          </a:prstGeom>
          <a:noFill/>
          <a:ln/>
        </p:spPr>
        <p:txBody>
          <a:bodyPr wrap="square" lIns="0" tIns="0" rIns="0" bIns="0" rtlCol="0" anchor="ctr"/>
          <a:lstStyle/>
          <a:p>
            <a:pPr indent="0" marL="0">
              <a:buNone/>
            </a:pPr>
            <a:r>
              <a:rPr lang="en-US" sz="4400" b="1" dirty="0">
                <a:solidFill>
                  <a:srgbClr val="D4A017"/>
                </a:solidFill>
                <a:latin typeface="Cambria" pitchFamily="34" charset="0"/>
                <a:ea typeface="Cambria" pitchFamily="34" charset="-122"/>
                <a:cs typeface="Cambria" pitchFamily="34" charset="-120"/>
              </a:rPr>
              <a:t>“</a:t>
            </a:r>
            <a:endParaRPr lang="en-US" sz="4400" dirty="0"/>
          </a:p>
        </p:txBody>
      </p:sp>
      <p:sp>
        <p:nvSpPr>
          <p:cNvPr id="23" name="Text 21"/>
          <p:cNvSpPr/>
          <p:nvPr/>
        </p:nvSpPr>
        <p:spPr>
          <a:xfrm>
            <a:off x="5961888" y="1783080"/>
            <a:ext cx="2670048" cy="18288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Every time we needed a new campaign page, we basically started over. There was no template, no checklist — we just figured it out as we went.</a:t>
            </a:r>
            <a:endParaRPr lang="en-US" sz="1200" dirty="0"/>
          </a:p>
        </p:txBody>
      </p:sp>
      <p:sp>
        <p:nvSpPr>
          <p:cNvPr id="24" name="Text 22"/>
          <p:cNvSpPr/>
          <p:nvPr/>
        </p:nvSpPr>
        <p:spPr>
          <a:xfrm>
            <a:off x="5961888" y="3639312"/>
            <a:ext cx="2670048"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 Marketing stakeholder, semi-structured interview</a:t>
            </a:r>
            <a:endParaRPr lang="en-US" sz="950" dirty="0"/>
          </a:p>
        </p:txBody>
      </p:sp>
      <p:sp>
        <p:nvSpPr>
          <p:cNvPr id="25" name="Text 23"/>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Sources: case study analysis (n=5 landing pages), semi-structured interviews, CMS observation &amp; shadowing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94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87DC"/>
          </a:solidFill>
          <a:ln w="12700">
            <a:solidFill>
              <a:srgbClr val="0087DC"/>
            </a:solidFill>
            <a:prstDash val="solid"/>
          </a:ln>
        </p:spPr>
      </p:sp>
      <p:sp>
        <p:nvSpPr>
          <p:cNvPr id="3" name="Shape 1"/>
          <p:cNvSpPr/>
          <p:nvPr/>
        </p:nvSpPr>
        <p:spPr>
          <a:xfrm>
            <a:off x="0" y="822960"/>
            <a:ext cx="9144000" cy="54864"/>
          </a:xfrm>
          <a:prstGeom prst="rect">
            <a:avLst/>
          </a:prstGeom>
          <a:solidFill>
            <a:srgbClr val="67D7D2"/>
          </a:solidFill>
          <a:ln w="12700">
            <a:solidFill>
              <a:srgbClr val="67D7D2"/>
            </a:solidFill>
            <a:prstDash val="solid"/>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RESEARCH OBJECTIVE &amp; MAIN QUESTION</a:t>
            </a:r>
            <a:endParaRPr lang="en-US" sz="1000" dirty="0"/>
          </a:p>
        </p:txBody>
      </p:sp>
      <p:sp>
        <p:nvSpPr>
          <p:cNvPr id="5" name="Shape 3"/>
          <p:cNvSpPr/>
          <p:nvPr/>
        </p:nvSpPr>
        <p:spPr>
          <a:xfrm>
            <a:off x="411480" y="1005840"/>
            <a:ext cx="8321040" cy="896112"/>
          </a:xfrm>
          <a:prstGeom prst="roundRect">
            <a:avLst>
              <a:gd name="adj" fmla="val 9184"/>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6" name="Text 4"/>
          <p:cNvSpPr/>
          <p:nvPr/>
        </p:nvSpPr>
        <p:spPr>
          <a:xfrm>
            <a:off x="621792" y="1042416"/>
            <a:ext cx="2286000" cy="347472"/>
          </a:xfrm>
          <a:prstGeom prst="rect">
            <a:avLst/>
          </a:prstGeom>
          <a:noFill/>
          <a:ln/>
        </p:spPr>
        <p:txBody>
          <a:bodyPr wrap="square" lIns="0" tIns="0" rIns="0" bIns="0" rtlCol="0" anchor="ctr"/>
          <a:lstStyle/>
          <a:p>
            <a:pPr indent="0" marL="0">
              <a:buNone/>
            </a:pPr>
            <a:r>
              <a:rPr lang="en-US" sz="1000" b="1" dirty="0">
                <a:solidFill>
                  <a:srgbClr val="67D7D2"/>
                </a:solidFill>
                <a:latin typeface="Calibri" pitchFamily="34" charset="0"/>
                <a:ea typeface="Calibri" pitchFamily="34" charset="-122"/>
                <a:cs typeface="Calibri" pitchFamily="34" charset="-120"/>
              </a:rPr>
              <a:t>Research Objective</a:t>
            </a:r>
            <a:endParaRPr lang="en-US" sz="1000" dirty="0"/>
          </a:p>
        </p:txBody>
      </p:sp>
      <p:sp>
        <p:nvSpPr>
          <p:cNvPr id="7" name="Text 5"/>
          <p:cNvSpPr/>
          <p:nvPr/>
        </p:nvSpPr>
        <p:spPr>
          <a:xfrm>
            <a:off x="621792" y="1371600"/>
            <a:ext cx="7909560" cy="457200"/>
          </a:xfrm>
          <a:prstGeom prst="rect">
            <a:avLst/>
          </a:prstGeom>
          <a:noFill/>
          <a:ln/>
        </p:spPr>
        <p:txBody>
          <a:bodyPr wrap="square" lIns="0" tIns="0" rIns="0" bIns="0" rtlCol="0" anchor="ctr"/>
          <a:lstStyle/>
          <a:p>
            <a:pPr indent="0" marL="0">
              <a:buNone/>
            </a:pPr>
            <a:r>
              <a:rPr lang="en-US" sz="1200" dirty="0">
                <a:solidFill>
                  <a:srgbClr val="C8DCF0"/>
                </a:solidFill>
                <a:latin typeface="Calibri" pitchFamily="34" charset="0"/>
                <a:ea typeface="Calibri" pitchFamily="34" charset="-122"/>
                <a:cs typeface="Calibri" pitchFamily="34" charset="-120"/>
              </a:rPr>
              <a:t>To design and evaluate a user-friendly template system in Delta's custom CMS that enables marketing teams to create consistent, well-structured campaign landing pages with significantly less developer support.</a:t>
            </a:r>
            <a:endParaRPr lang="en-US" sz="1200" dirty="0"/>
          </a:p>
        </p:txBody>
      </p:sp>
      <p:sp>
        <p:nvSpPr>
          <p:cNvPr id="8" name="Text 6"/>
          <p:cNvSpPr/>
          <p:nvPr/>
        </p:nvSpPr>
        <p:spPr>
          <a:xfrm>
            <a:off x="438912" y="2029968"/>
            <a:ext cx="8229600" cy="347472"/>
          </a:xfrm>
          <a:prstGeom prst="rect">
            <a:avLst/>
          </a:prstGeom>
          <a:noFill/>
          <a:ln/>
        </p:spPr>
        <p:txBody>
          <a:bodyPr wrap="square" lIns="0" tIns="0" rIns="0" bIns="0" rtlCol="0" anchor="ctr"/>
          <a:lstStyle/>
          <a:p>
            <a:pPr indent="0" marL="0">
              <a:buNone/>
            </a:pPr>
            <a:r>
              <a:rPr lang="en-US" sz="1100" b="1" dirty="0">
                <a:solidFill>
                  <a:srgbClr val="67D7D2"/>
                </a:solidFill>
                <a:latin typeface="Calibri" pitchFamily="34" charset="0"/>
                <a:ea typeface="Calibri" pitchFamily="34" charset="-122"/>
                <a:cs typeface="Calibri" pitchFamily="34" charset="-120"/>
              </a:rPr>
              <a:t>Main Research Question</a:t>
            </a:r>
            <a:endParaRPr lang="en-US" sz="1100" dirty="0"/>
          </a:p>
        </p:txBody>
      </p:sp>
      <p:sp>
        <p:nvSpPr>
          <p:cNvPr id="9" name="Shape 7"/>
          <p:cNvSpPr/>
          <p:nvPr/>
        </p:nvSpPr>
        <p:spPr>
          <a:xfrm>
            <a:off x="411480" y="2377440"/>
            <a:ext cx="8321040" cy="987552"/>
          </a:xfrm>
          <a:prstGeom prst="roundRect">
            <a:avLst>
              <a:gd name="adj" fmla="val 8333"/>
            </a:avLst>
          </a:prstGeom>
          <a:solidFill>
            <a:srgbClr val="001E38"/>
          </a:solidFill>
          <a:ln w="12700">
            <a:solidFill>
              <a:srgbClr val="001E38"/>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621792" y="2432304"/>
            <a:ext cx="7909560" cy="8229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How can a user-friendly template system in Delta's custom CMS be designed to better support marketing teams in creating consistent, well-structured campaign landing pages?</a:t>
            </a:r>
            <a:endParaRPr lang="en-US" sz="1600" dirty="0"/>
          </a:p>
        </p:txBody>
      </p:sp>
      <p:sp>
        <p:nvSpPr>
          <p:cNvPr id="11" name="Shape 9"/>
          <p:cNvSpPr/>
          <p:nvPr/>
        </p:nvSpPr>
        <p:spPr>
          <a:xfrm>
            <a:off x="365760" y="3529584"/>
            <a:ext cx="1298448" cy="1353312"/>
          </a:xfrm>
          <a:prstGeom prst="roundRect">
            <a:avLst>
              <a:gd name="adj" fmla="val 5634"/>
            </a:avLst>
          </a:prstGeom>
          <a:solidFill>
            <a:srgbClr val="0A2A47"/>
          </a:solidFill>
          <a:ln w="12700">
            <a:solidFill>
              <a:srgbClr val="0087DC"/>
            </a:solidFill>
            <a:prstDash val="solid"/>
          </a:ln>
        </p:spPr>
      </p:sp>
      <p:sp>
        <p:nvSpPr>
          <p:cNvPr id="12" name="Text 10"/>
          <p:cNvSpPr/>
          <p:nvPr/>
        </p:nvSpPr>
        <p:spPr>
          <a:xfrm>
            <a:off x="365760" y="3566160"/>
            <a:ext cx="1298448" cy="411480"/>
          </a:xfrm>
          <a:prstGeom prst="rect">
            <a:avLst/>
          </a:prstGeom>
          <a:noFill/>
          <a:ln/>
        </p:spPr>
        <p:txBody>
          <a:bodyPr wrap="square" lIns="0" tIns="0" rIns="0" bIns="0" rtlCol="0" anchor="ctr"/>
          <a:lstStyle/>
          <a:p>
            <a:pPr algn="ctr" indent="0" marL="0">
              <a:buNone/>
            </a:pPr>
            <a:r>
              <a:rPr lang="en-US" sz="1800" b="1" dirty="0">
                <a:solidFill>
                  <a:srgbClr val="67D7D2"/>
                </a:solidFill>
                <a:latin typeface="Cambria" pitchFamily="34" charset="0"/>
                <a:ea typeface="Cambria" pitchFamily="34" charset="-122"/>
                <a:cs typeface="Cambria" pitchFamily="34" charset="-120"/>
              </a:rPr>
              <a:t>1</a:t>
            </a:r>
            <a:endParaRPr lang="en-US" sz="1800" dirty="0"/>
          </a:p>
        </p:txBody>
      </p:sp>
      <p:sp>
        <p:nvSpPr>
          <p:cNvPr id="13" name="Text 11"/>
          <p:cNvSpPr/>
          <p:nvPr/>
        </p:nvSpPr>
        <p:spPr>
          <a:xfrm>
            <a:off x="365760" y="3977640"/>
            <a:ext cx="1298448" cy="749808"/>
          </a:xfrm>
          <a:prstGeom prst="rect">
            <a:avLst/>
          </a:prstGeom>
          <a:noFill/>
          <a:ln/>
        </p:spPr>
        <p:txBody>
          <a:bodyPr wrap="square" lIns="0" tIns="0" rIns="0" bIns="0" rtlCol="0" anchor="ctr"/>
          <a:lstStyle/>
          <a:p>
            <a:pPr algn="ctr" indent="0" marL="0">
              <a:buNone/>
            </a:pPr>
            <a:r>
              <a:rPr lang="en-US" sz="900" dirty="0">
                <a:solidFill>
                  <a:srgbClr val="8BBCD8"/>
                </a:solidFill>
                <a:latin typeface="Calibri" pitchFamily="34" charset="0"/>
                <a:ea typeface="Calibri" pitchFamily="34" charset="-122"/>
                <a:cs typeface="Calibri" pitchFamily="34" charset="-120"/>
              </a:rPr>
              <a:t>SQ1</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Current situation</a:t>
            </a:r>
            <a:endParaRPr lang="en-US" sz="900" dirty="0"/>
          </a:p>
        </p:txBody>
      </p:sp>
      <p:sp>
        <p:nvSpPr>
          <p:cNvPr id="14" name="Shape 12"/>
          <p:cNvSpPr/>
          <p:nvPr/>
        </p:nvSpPr>
        <p:spPr>
          <a:xfrm>
            <a:off x="1792224" y="3529584"/>
            <a:ext cx="1298448" cy="1353312"/>
          </a:xfrm>
          <a:prstGeom prst="roundRect">
            <a:avLst>
              <a:gd name="adj" fmla="val 5634"/>
            </a:avLst>
          </a:prstGeom>
          <a:solidFill>
            <a:srgbClr val="0A2A47"/>
          </a:solidFill>
          <a:ln w="12700">
            <a:solidFill>
              <a:srgbClr val="0087DC"/>
            </a:solidFill>
            <a:prstDash val="solid"/>
          </a:ln>
        </p:spPr>
      </p:sp>
      <p:sp>
        <p:nvSpPr>
          <p:cNvPr id="15" name="Text 13"/>
          <p:cNvSpPr/>
          <p:nvPr/>
        </p:nvSpPr>
        <p:spPr>
          <a:xfrm>
            <a:off x="1792224" y="3566160"/>
            <a:ext cx="1298448" cy="411480"/>
          </a:xfrm>
          <a:prstGeom prst="rect">
            <a:avLst/>
          </a:prstGeom>
          <a:noFill/>
          <a:ln/>
        </p:spPr>
        <p:txBody>
          <a:bodyPr wrap="square" lIns="0" tIns="0" rIns="0" bIns="0" rtlCol="0" anchor="ctr"/>
          <a:lstStyle/>
          <a:p>
            <a:pPr algn="ctr" indent="0" marL="0">
              <a:buNone/>
            </a:pPr>
            <a:r>
              <a:rPr lang="en-US" sz="1800" b="1" dirty="0">
                <a:solidFill>
                  <a:srgbClr val="67D7D2"/>
                </a:solidFill>
                <a:latin typeface="Cambria" pitchFamily="34" charset="0"/>
                <a:ea typeface="Cambria" pitchFamily="34" charset="-122"/>
                <a:cs typeface="Cambria" pitchFamily="34" charset="-120"/>
              </a:rPr>
              <a:t>2</a:t>
            </a:r>
            <a:endParaRPr lang="en-US" sz="1800" dirty="0"/>
          </a:p>
        </p:txBody>
      </p:sp>
      <p:sp>
        <p:nvSpPr>
          <p:cNvPr id="16" name="Text 14"/>
          <p:cNvSpPr/>
          <p:nvPr/>
        </p:nvSpPr>
        <p:spPr>
          <a:xfrm>
            <a:off x="1792224" y="3977640"/>
            <a:ext cx="1298448" cy="749808"/>
          </a:xfrm>
          <a:prstGeom prst="rect">
            <a:avLst/>
          </a:prstGeom>
          <a:noFill/>
          <a:ln/>
        </p:spPr>
        <p:txBody>
          <a:bodyPr wrap="square" lIns="0" tIns="0" rIns="0" bIns="0" rtlCol="0" anchor="ctr"/>
          <a:lstStyle/>
          <a:p>
            <a:pPr algn="ctr" indent="0" marL="0">
              <a:buNone/>
            </a:pPr>
            <a:r>
              <a:rPr lang="en-US" sz="900" dirty="0">
                <a:solidFill>
                  <a:srgbClr val="8BBCD8"/>
                </a:solidFill>
                <a:latin typeface="Calibri" pitchFamily="34" charset="0"/>
                <a:ea typeface="Calibri" pitchFamily="34" charset="-122"/>
                <a:cs typeface="Calibri" pitchFamily="34" charset="-120"/>
              </a:rPr>
              <a:t>SQ2</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Goals, constraints</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&amp; requirements</a:t>
            </a:r>
            <a:endParaRPr lang="en-US" sz="900" dirty="0"/>
          </a:p>
        </p:txBody>
      </p:sp>
      <p:sp>
        <p:nvSpPr>
          <p:cNvPr id="17" name="Shape 15"/>
          <p:cNvSpPr/>
          <p:nvPr/>
        </p:nvSpPr>
        <p:spPr>
          <a:xfrm>
            <a:off x="3218688" y="3529584"/>
            <a:ext cx="1298448" cy="1353312"/>
          </a:xfrm>
          <a:prstGeom prst="roundRect">
            <a:avLst>
              <a:gd name="adj" fmla="val 5634"/>
            </a:avLst>
          </a:prstGeom>
          <a:solidFill>
            <a:srgbClr val="0A2A47"/>
          </a:solidFill>
          <a:ln w="12700">
            <a:solidFill>
              <a:srgbClr val="0087DC"/>
            </a:solidFill>
            <a:prstDash val="solid"/>
          </a:ln>
        </p:spPr>
      </p:sp>
      <p:sp>
        <p:nvSpPr>
          <p:cNvPr id="18" name="Text 16"/>
          <p:cNvSpPr/>
          <p:nvPr/>
        </p:nvSpPr>
        <p:spPr>
          <a:xfrm>
            <a:off x="3218688" y="3566160"/>
            <a:ext cx="1298448" cy="411480"/>
          </a:xfrm>
          <a:prstGeom prst="rect">
            <a:avLst/>
          </a:prstGeom>
          <a:noFill/>
          <a:ln/>
        </p:spPr>
        <p:txBody>
          <a:bodyPr wrap="square" lIns="0" tIns="0" rIns="0" bIns="0" rtlCol="0" anchor="ctr"/>
          <a:lstStyle/>
          <a:p>
            <a:pPr algn="ctr" indent="0" marL="0">
              <a:buNone/>
            </a:pPr>
            <a:r>
              <a:rPr lang="en-US" sz="1800" b="1" dirty="0">
                <a:solidFill>
                  <a:srgbClr val="67D7D2"/>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3218688" y="3977640"/>
            <a:ext cx="1298448" cy="749808"/>
          </a:xfrm>
          <a:prstGeom prst="rect">
            <a:avLst/>
          </a:prstGeom>
          <a:noFill/>
          <a:ln/>
        </p:spPr>
        <p:txBody>
          <a:bodyPr wrap="square" lIns="0" tIns="0" rIns="0" bIns="0" rtlCol="0" anchor="ctr"/>
          <a:lstStyle/>
          <a:p>
            <a:pPr algn="ctr" indent="0" marL="0">
              <a:buNone/>
            </a:pPr>
            <a:r>
              <a:rPr lang="en-US" sz="900" dirty="0">
                <a:solidFill>
                  <a:srgbClr val="8BBCD8"/>
                </a:solidFill>
                <a:latin typeface="Calibri" pitchFamily="34" charset="0"/>
                <a:ea typeface="Calibri" pitchFamily="34" charset="-122"/>
                <a:cs typeface="Calibri" pitchFamily="34" charset="-120"/>
              </a:rPr>
              <a:t>SQ3</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Concept &amp;</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design</a:t>
            </a:r>
            <a:endParaRPr lang="en-US" sz="900" dirty="0"/>
          </a:p>
        </p:txBody>
      </p:sp>
      <p:sp>
        <p:nvSpPr>
          <p:cNvPr id="20" name="Shape 18"/>
          <p:cNvSpPr/>
          <p:nvPr/>
        </p:nvSpPr>
        <p:spPr>
          <a:xfrm>
            <a:off x="4645152" y="3529584"/>
            <a:ext cx="1298448" cy="1353312"/>
          </a:xfrm>
          <a:prstGeom prst="roundRect">
            <a:avLst>
              <a:gd name="adj" fmla="val 5634"/>
            </a:avLst>
          </a:prstGeom>
          <a:solidFill>
            <a:srgbClr val="0A2A47"/>
          </a:solidFill>
          <a:ln w="12700">
            <a:solidFill>
              <a:srgbClr val="0087DC"/>
            </a:solidFill>
            <a:prstDash val="solid"/>
          </a:ln>
        </p:spPr>
      </p:sp>
      <p:sp>
        <p:nvSpPr>
          <p:cNvPr id="21" name="Text 19"/>
          <p:cNvSpPr/>
          <p:nvPr/>
        </p:nvSpPr>
        <p:spPr>
          <a:xfrm>
            <a:off x="4645152" y="3566160"/>
            <a:ext cx="1298448" cy="411480"/>
          </a:xfrm>
          <a:prstGeom prst="rect">
            <a:avLst/>
          </a:prstGeom>
          <a:noFill/>
          <a:ln/>
        </p:spPr>
        <p:txBody>
          <a:bodyPr wrap="square" lIns="0" tIns="0" rIns="0" bIns="0" rtlCol="0" anchor="ctr"/>
          <a:lstStyle/>
          <a:p>
            <a:pPr algn="ctr" indent="0" marL="0">
              <a:buNone/>
            </a:pPr>
            <a:r>
              <a:rPr lang="en-US" sz="1800" b="1" dirty="0">
                <a:solidFill>
                  <a:srgbClr val="67D7D2"/>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4645152" y="3977640"/>
            <a:ext cx="1298448" cy="749808"/>
          </a:xfrm>
          <a:prstGeom prst="rect">
            <a:avLst/>
          </a:prstGeom>
          <a:noFill/>
          <a:ln/>
        </p:spPr>
        <p:txBody>
          <a:bodyPr wrap="square" lIns="0" tIns="0" rIns="0" bIns="0" rtlCol="0" anchor="ctr"/>
          <a:lstStyle/>
          <a:p>
            <a:pPr algn="ctr" indent="0" marL="0">
              <a:buNone/>
            </a:pPr>
            <a:r>
              <a:rPr lang="en-US" sz="900" dirty="0">
                <a:solidFill>
                  <a:srgbClr val="8BBCD8"/>
                </a:solidFill>
                <a:latin typeface="Calibri" pitchFamily="34" charset="0"/>
                <a:ea typeface="Calibri" pitchFamily="34" charset="-122"/>
                <a:cs typeface="Calibri" pitchFamily="34" charset="-120"/>
              </a:rPr>
              <a:t>SQ4</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Implementation</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&amp; refinement</a:t>
            </a:r>
            <a:endParaRPr lang="en-US" sz="900" dirty="0"/>
          </a:p>
        </p:txBody>
      </p:sp>
      <p:sp>
        <p:nvSpPr>
          <p:cNvPr id="23" name="Shape 21"/>
          <p:cNvSpPr/>
          <p:nvPr/>
        </p:nvSpPr>
        <p:spPr>
          <a:xfrm>
            <a:off x="6071616" y="3529584"/>
            <a:ext cx="1298448" cy="1353312"/>
          </a:xfrm>
          <a:prstGeom prst="roundRect">
            <a:avLst>
              <a:gd name="adj" fmla="val 5634"/>
            </a:avLst>
          </a:prstGeom>
          <a:solidFill>
            <a:srgbClr val="0A2A47"/>
          </a:solidFill>
          <a:ln w="12700">
            <a:solidFill>
              <a:srgbClr val="0087DC"/>
            </a:solidFill>
            <a:prstDash val="solid"/>
          </a:ln>
        </p:spPr>
      </p:sp>
      <p:sp>
        <p:nvSpPr>
          <p:cNvPr id="24" name="Text 22"/>
          <p:cNvSpPr/>
          <p:nvPr/>
        </p:nvSpPr>
        <p:spPr>
          <a:xfrm>
            <a:off x="6071616" y="3566160"/>
            <a:ext cx="1298448" cy="411480"/>
          </a:xfrm>
          <a:prstGeom prst="rect">
            <a:avLst/>
          </a:prstGeom>
          <a:noFill/>
          <a:ln/>
        </p:spPr>
        <p:txBody>
          <a:bodyPr wrap="square" lIns="0" tIns="0" rIns="0" bIns="0" rtlCol="0" anchor="ctr"/>
          <a:lstStyle/>
          <a:p>
            <a:pPr algn="ctr" indent="0" marL="0">
              <a:buNone/>
            </a:pPr>
            <a:r>
              <a:rPr lang="en-US" sz="1800" b="1" dirty="0">
                <a:solidFill>
                  <a:srgbClr val="67D7D2"/>
                </a:solidFill>
                <a:latin typeface="Cambria" pitchFamily="34" charset="0"/>
                <a:ea typeface="Cambria" pitchFamily="34" charset="-122"/>
                <a:cs typeface="Cambria" pitchFamily="34" charset="-120"/>
              </a:rPr>
              <a:t>5</a:t>
            </a:r>
            <a:endParaRPr lang="en-US" sz="1800" dirty="0"/>
          </a:p>
        </p:txBody>
      </p:sp>
      <p:sp>
        <p:nvSpPr>
          <p:cNvPr id="25" name="Text 23"/>
          <p:cNvSpPr/>
          <p:nvPr/>
        </p:nvSpPr>
        <p:spPr>
          <a:xfrm>
            <a:off x="6071616" y="3977640"/>
            <a:ext cx="1298448" cy="749808"/>
          </a:xfrm>
          <a:prstGeom prst="rect">
            <a:avLst/>
          </a:prstGeom>
          <a:noFill/>
          <a:ln/>
        </p:spPr>
        <p:txBody>
          <a:bodyPr wrap="square" lIns="0" tIns="0" rIns="0" bIns="0" rtlCol="0" anchor="ctr"/>
          <a:lstStyle/>
          <a:p>
            <a:pPr algn="ctr" indent="0" marL="0">
              <a:buNone/>
            </a:pPr>
            <a:r>
              <a:rPr lang="en-US" sz="900" dirty="0">
                <a:solidFill>
                  <a:srgbClr val="8BBCD8"/>
                </a:solidFill>
                <a:latin typeface="Calibri" pitchFamily="34" charset="0"/>
                <a:ea typeface="Calibri" pitchFamily="34" charset="-122"/>
                <a:cs typeface="Calibri" pitchFamily="34" charset="-120"/>
              </a:rPr>
              <a:t>SQ5</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Ease of use &amp;</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consistency</a:t>
            </a:r>
            <a:endParaRPr lang="en-US" sz="900" dirty="0"/>
          </a:p>
        </p:txBody>
      </p:sp>
      <p:sp>
        <p:nvSpPr>
          <p:cNvPr id="26" name="Shape 24"/>
          <p:cNvSpPr/>
          <p:nvPr/>
        </p:nvSpPr>
        <p:spPr>
          <a:xfrm>
            <a:off x="7498080" y="3529584"/>
            <a:ext cx="1298448" cy="1353312"/>
          </a:xfrm>
          <a:prstGeom prst="roundRect">
            <a:avLst>
              <a:gd name="adj" fmla="val 5634"/>
            </a:avLst>
          </a:prstGeom>
          <a:solidFill>
            <a:srgbClr val="0A2A47"/>
          </a:solidFill>
          <a:ln w="12700">
            <a:solidFill>
              <a:srgbClr val="0087DC"/>
            </a:solidFill>
            <a:prstDash val="solid"/>
          </a:ln>
        </p:spPr>
      </p:sp>
      <p:sp>
        <p:nvSpPr>
          <p:cNvPr id="27" name="Text 25"/>
          <p:cNvSpPr/>
          <p:nvPr/>
        </p:nvSpPr>
        <p:spPr>
          <a:xfrm>
            <a:off x="7498080" y="3566160"/>
            <a:ext cx="1298448" cy="411480"/>
          </a:xfrm>
          <a:prstGeom prst="rect">
            <a:avLst/>
          </a:prstGeom>
          <a:noFill/>
          <a:ln/>
        </p:spPr>
        <p:txBody>
          <a:bodyPr wrap="square" lIns="0" tIns="0" rIns="0" bIns="0" rtlCol="0" anchor="ctr"/>
          <a:lstStyle/>
          <a:p>
            <a:pPr algn="ctr" indent="0" marL="0">
              <a:buNone/>
            </a:pPr>
            <a:r>
              <a:rPr lang="en-US" sz="1800" b="1" dirty="0">
                <a:solidFill>
                  <a:srgbClr val="67D7D2"/>
                </a:solidFill>
                <a:latin typeface="Cambria" pitchFamily="34" charset="0"/>
                <a:ea typeface="Cambria" pitchFamily="34" charset="-122"/>
                <a:cs typeface="Cambria" pitchFamily="34" charset="-120"/>
              </a:rPr>
              <a:t>6</a:t>
            </a:r>
            <a:endParaRPr lang="en-US" sz="1800" dirty="0"/>
          </a:p>
        </p:txBody>
      </p:sp>
      <p:sp>
        <p:nvSpPr>
          <p:cNvPr id="28" name="Text 26"/>
          <p:cNvSpPr/>
          <p:nvPr/>
        </p:nvSpPr>
        <p:spPr>
          <a:xfrm>
            <a:off x="7498080" y="3977640"/>
            <a:ext cx="1298448" cy="749808"/>
          </a:xfrm>
          <a:prstGeom prst="rect">
            <a:avLst/>
          </a:prstGeom>
          <a:noFill/>
          <a:ln/>
        </p:spPr>
        <p:txBody>
          <a:bodyPr wrap="square" lIns="0" tIns="0" rIns="0" bIns="0" rtlCol="0" anchor="ctr"/>
          <a:lstStyle/>
          <a:p>
            <a:pPr algn="ctr" indent="0" marL="0">
              <a:buNone/>
            </a:pPr>
            <a:r>
              <a:rPr lang="en-US" sz="900" dirty="0">
                <a:solidFill>
                  <a:srgbClr val="8BBCD8"/>
                </a:solidFill>
                <a:latin typeface="Calibri" pitchFamily="34" charset="0"/>
                <a:ea typeface="Calibri" pitchFamily="34" charset="-122"/>
                <a:cs typeface="Calibri" pitchFamily="34" charset="-120"/>
              </a:rPr>
              <a:t>SQ6</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AI support</a:t>
            </a:r>
            <a:endParaRPr lang="en-US" sz="900" dirty="0"/>
          </a:p>
          <a:p>
            <a:pPr algn="ctr" indent="0" marL="0">
              <a:buNone/>
            </a:pPr>
            <a:r>
              <a:rPr lang="en-US" sz="900" dirty="0">
                <a:solidFill>
                  <a:srgbClr val="8BBCD8"/>
                </a:solidFill>
                <a:latin typeface="Calibri" pitchFamily="34" charset="0"/>
                <a:ea typeface="Calibri" pitchFamily="34" charset="-122"/>
                <a:cs typeface="Calibri" pitchFamily="34" charset="-120"/>
              </a:rPr>
              <a:t>potential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RESEARCH APPROACH</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A Structured Design Thinking Process</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347472" y="1298448"/>
            <a:ext cx="1298448" cy="3337560"/>
          </a:xfrm>
          <a:prstGeom prst="roundRect">
            <a:avLst>
              <a:gd name="adj" fmla="val 7042"/>
            </a:avLst>
          </a:prstGeom>
          <a:solidFill>
            <a:srgbClr val="00294D"/>
          </a:solidFill>
          <a:ln w="12700">
            <a:solidFill>
              <a:srgbClr val="00294D"/>
            </a:solidFill>
            <a:prstDash val="solid"/>
          </a:ln>
        </p:spPr>
      </p:sp>
      <p:sp>
        <p:nvSpPr>
          <p:cNvPr id="7" name="Text 5"/>
          <p:cNvSpPr/>
          <p:nvPr/>
        </p:nvSpPr>
        <p:spPr>
          <a:xfrm>
            <a:off x="347472" y="1389888"/>
            <a:ext cx="1298448" cy="47548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347472" y="1847088"/>
            <a:ext cx="1298448" cy="420624"/>
          </a:xfrm>
          <a:prstGeom prst="rect">
            <a:avLst/>
          </a:prstGeom>
          <a:noFill/>
          <a:ln/>
        </p:spPr>
        <p:txBody>
          <a:bodyPr wrap="square" lIns="0" tIns="0" rIns="0" bIns="0" rtlCol="0" anchor="ctr"/>
          <a:lstStyle/>
          <a:p>
            <a:pPr algn="ctr" indent="0" marL="0">
              <a:buNone/>
            </a:pPr>
            <a:r>
              <a:rPr lang="en-US" sz="1200" b="1" dirty="0">
                <a:solidFill>
                  <a:srgbClr val="67D7D2"/>
                </a:solidFill>
                <a:latin typeface="Cambria" pitchFamily="34" charset="0"/>
                <a:ea typeface="Cambria" pitchFamily="34" charset="-122"/>
                <a:cs typeface="Cambria" pitchFamily="34" charset="-120"/>
              </a:rPr>
              <a:t>Empathize</a:t>
            </a:r>
            <a:endParaRPr lang="en-US" sz="1200" dirty="0"/>
          </a:p>
        </p:txBody>
      </p:sp>
      <p:sp>
        <p:nvSpPr>
          <p:cNvPr id="9" name="Shape 7"/>
          <p:cNvSpPr/>
          <p:nvPr/>
        </p:nvSpPr>
        <p:spPr>
          <a:xfrm>
            <a:off x="438912" y="2304288"/>
            <a:ext cx="1115568" cy="23774"/>
          </a:xfrm>
          <a:prstGeom prst="rect">
            <a:avLst/>
          </a:prstGeom>
          <a:solidFill>
            <a:srgbClr val="FFFFFF">
              <a:alpha val="40000"/>
            </a:srgbClr>
          </a:solidFill>
          <a:ln w="12700">
            <a:solidFill>
              <a:srgbClr val="FFFFFF">
                <a:alpha val="40000"/>
              </a:srgbClr>
            </a:solidFill>
            <a:prstDash val="solid"/>
          </a:ln>
        </p:spPr>
      </p:sp>
      <p:sp>
        <p:nvSpPr>
          <p:cNvPr id="10" name="Text 8"/>
          <p:cNvSpPr/>
          <p:nvPr/>
        </p:nvSpPr>
        <p:spPr>
          <a:xfrm>
            <a:off x="402336" y="2450592"/>
            <a:ext cx="1188720" cy="2084832"/>
          </a:xfrm>
          <a:prstGeom prst="rect">
            <a:avLst/>
          </a:prstGeom>
          <a:noFill/>
          <a:ln/>
        </p:spPr>
        <p:txBody>
          <a:bodyPr wrap="square" lIns="25400" tIns="25400" rIns="25400" bIns="25400" rtlCol="0" anchor="ctr"/>
          <a:lstStyle/>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Case studies (n=5)</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Interviews (n=6)</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CMS &amp; artefact analysis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Observation/shadowing</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Empathy map + survey</a:t>
            </a:r>
            <a:endParaRPr lang="en-US" sz="900" dirty="0"/>
          </a:p>
        </p:txBody>
      </p:sp>
      <p:sp>
        <p:nvSpPr>
          <p:cNvPr id="11" name="Shape 9"/>
          <p:cNvSpPr/>
          <p:nvPr/>
        </p:nvSpPr>
        <p:spPr>
          <a:xfrm>
            <a:off x="1783080" y="1298448"/>
            <a:ext cx="1298448" cy="3337560"/>
          </a:xfrm>
          <a:prstGeom prst="roundRect">
            <a:avLst>
              <a:gd name="adj" fmla="val 7042"/>
            </a:avLst>
          </a:prstGeom>
          <a:solidFill>
            <a:srgbClr val="0087DC"/>
          </a:solidFill>
          <a:ln w="12700">
            <a:solidFill>
              <a:srgbClr val="0087DC"/>
            </a:solidFill>
            <a:prstDash val="solid"/>
          </a:ln>
        </p:spPr>
      </p:sp>
      <p:sp>
        <p:nvSpPr>
          <p:cNvPr id="12" name="Text 10"/>
          <p:cNvSpPr/>
          <p:nvPr/>
        </p:nvSpPr>
        <p:spPr>
          <a:xfrm>
            <a:off x="1783080" y="1389888"/>
            <a:ext cx="1298448" cy="47548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Text 11"/>
          <p:cNvSpPr/>
          <p:nvPr/>
        </p:nvSpPr>
        <p:spPr>
          <a:xfrm>
            <a:off x="1783080" y="1847088"/>
            <a:ext cx="129844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Define</a:t>
            </a:r>
            <a:endParaRPr lang="en-US" sz="1200" dirty="0"/>
          </a:p>
        </p:txBody>
      </p:sp>
      <p:sp>
        <p:nvSpPr>
          <p:cNvPr id="14" name="Shape 12"/>
          <p:cNvSpPr/>
          <p:nvPr/>
        </p:nvSpPr>
        <p:spPr>
          <a:xfrm>
            <a:off x="1874520" y="2304288"/>
            <a:ext cx="1115568" cy="23774"/>
          </a:xfrm>
          <a:prstGeom prst="rect">
            <a:avLst/>
          </a:prstGeom>
          <a:solidFill>
            <a:srgbClr val="FFFFFF">
              <a:alpha val="40000"/>
            </a:srgbClr>
          </a:solidFill>
          <a:ln w="12700">
            <a:solidFill>
              <a:srgbClr val="FFFFFF">
                <a:alpha val="40000"/>
              </a:srgbClr>
            </a:solidFill>
            <a:prstDash val="solid"/>
          </a:ln>
        </p:spPr>
      </p:sp>
      <p:sp>
        <p:nvSpPr>
          <p:cNvPr id="15" name="Text 13"/>
          <p:cNvSpPr/>
          <p:nvPr/>
        </p:nvSpPr>
        <p:spPr>
          <a:xfrm>
            <a:off x="1837944" y="2450592"/>
            <a:ext cx="1188720" cy="2084832"/>
          </a:xfrm>
          <a:prstGeom prst="rect">
            <a:avLst/>
          </a:prstGeom>
          <a:noFill/>
          <a:ln/>
        </p:spPr>
        <p:txBody>
          <a:bodyPr wrap="square" lIns="25400" tIns="25400" rIns="25400" bIns="25400" rtlCol="0" anchor="ctr"/>
          <a:lstStyle/>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Requirements analysis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Heuristic evaluation</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Empathy map + personas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MoSCoW prioritisation</a:t>
            </a:r>
            <a:endParaRPr lang="en-US" sz="900" dirty="0"/>
          </a:p>
        </p:txBody>
      </p:sp>
      <p:sp>
        <p:nvSpPr>
          <p:cNvPr id="16" name="Shape 14"/>
          <p:cNvSpPr/>
          <p:nvPr/>
        </p:nvSpPr>
        <p:spPr>
          <a:xfrm>
            <a:off x="3218688" y="1298448"/>
            <a:ext cx="1298448" cy="3337560"/>
          </a:xfrm>
          <a:prstGeom prst="roundRect">
            <a:avLst>
              <a:gd name="adj" fmla="val 7042"/>
            </a:avLst>
          </a:prstGeom>
          <a:solidFill>
            <a:srgbClr val="0087DC"/>
          </a:solidFill>
          <a:ln w="12700">
            <a:solidFill>
              <a:srgbClr val="0087DC"/>
            </a:solidFill>
            <a:prstDash val="solid"/>
          </a:ln>
        </p:spPr>
      </p:sp>
      <p:sp>
        <p:nvSpPr>
          <p:cNvPr id="17" name="Text 15"/>
          <p:cNvSpPr/>
          <p:nvPr/>
        </p:nvSpPr>
        <p:spPr>
          <a:xfrm>
            <a:off x="3218688" y="1389888"/>
            <a:ext cx="1298448" cy="47548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Text 16"/>
          <p:cNvSpPr/>
          <p:nvPr/>
        </p:nvSpPr>
        <p:spPr>
          <a:xfrm>
            <a:off x="3218688" y="1847088"/>
            <a:ext cx="129844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Ideate</a:t>
            </a:r>
            <a:endParaRPr lang="en-US" sz="1200" dirty="0"/>
          </a:p>
        </p:txBody>
      </p:sp>
      <p:sp>
        <p:nvSpPr>
          <p:cNvPr id="19" name="Shape 17"/>
          <p:cNvSpPr/>
          <p:nvPr/>
        </p:nvSpPr>
        <p:spPr>
          <a:xfrm>
            <a:off x="3310128" y="2304288"/>
            <a:ext cx="1115568" cy="23774"/>
          </a:xfrm>
          <a:prstGeom prst="rect">
            <a:avLst/>
          </a:prstGeom>
          <a:solidFill>
            <a:srgbClr val="FFFFFF">
              <a:alpha val="40000"/>
            </a:srgbClr>
          </a:solidFill>
          <a:ln w="12700">
            <a:solidFill>
              <a:srgbClr val="FFFFFF">
                <a:alpha val="40000"/>
              </a:srgbClr>
            </a:solidFill>
            <a:prstDash val="solid"/>
          </a:ln>
        </p:spPr>
      </p:sp>
      <p:sp>
        <p:nvSpPr>
          <p:cNvPr id="20" name="Text 18"/>
          <p:cNvSpPr/>
          <p:nvPr/>
        </p:nvSpPr>
        <p:spPr>
          <a:xfrm>
            <a:off x="3273552" y="2450592"/>
            <a:ext cx="1188720" cy="2084832"/>
          </a:xfrm>
          <a:prstGeom prst="rect">
            <a:avLst/>
          </a:prstGeom>
          <a:noFill/>
          <a:ln/>
        </p:spPr>
        <p:txBody>
          <a:bodyPr wrap="square" lIns="25400" tIns="25400" rIns="25400" bIns="25400" rtlCol="0" anchor="ctr"/>
          <a:lstStyle/>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Benchmark analysis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Storage/sharing analysis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Sidebar analysis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AI concept exploration</a:t>
            </a:r>
            <a:endParaRPr lang="en-US" sz="900" dirty="0"/>
          </a:p>
        </p:txBody>
      </p:sp>
      <p:sp>
        <p:nvSpPr>
          <p:cNvPr id="21" name="Shape 19"/>
          <p:cNvSpPr/>
          <p:nvPr/>
        </p:nvSpPr>
        <p:spPr>
          <a:xfrm>
            <a:off x="4654296" y="1298448"/>
            <a:ext cx="1298448" cy="3337560"/>
          </a:xfrm>
          <a:prstGeom prst="roundRect">
            <a:avLst>
              <a:gd name="adj" fmla="val 7042"/>
            </a:avLst>
          </a:prstGeom>
          <a:solidFill>
            <a:srgbClr val="00294D"/>
          </a:solidFill>
          <a:ln w="12700">
            <a:solidFill>
              <a:srgbClr val="00294D"/>
            </a:solidFill>
            <a:prstDash val="solid"/>
          </a:ln>
        </p:spPr>
      </p:sp>
      <p:sp>
        <p:nvSpPr>
          <p:cNvPr id="22" name="Text 20"/>
          <p:cNvSpPr/>
          <p:nvPr/>
        </p:nvSpPr>
        <p:spPr>
          <a:xfrm>
            <a:off x="4654296" y="1389888"/>
            <a:ext cx="1298448" cy="47548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3" name="Text 21"/>
          <p:cNvSpPr/>
          <p:nvPr/>
        </p:nvSpPr>
        <p:spPr>
          <a:xfrm>
            <a:off x="4654296" y="1847088"/>
            <a:ext cx="1298448" cy="420624"/>
          </a:xfrm>
          <a:prstGeom prst="rect">
            <a:avLst/>
          </a:prstGeom>
          <a:noFill/>
          <a:ln/>
        </p:spPr>
        <p:txBody>
          <a:bodyPr wrap="square" lIns="0" tIns="0" rIns="0" bIns="0" rtlCol="0" anchor="ctr"/>
          <a:lstStyle/>
          <a:p>
            <a:pPr algn="ctr" indent="0" marL="0">
              <a:buNone/>
            </a:pPr>
            <a:r>
              <a:rPr lang="en-US" sz="1200" b="1" dirty="0">
                <a:solidFill>
                  <a:srgbClr val="67D7D2"/>
                </a:solidFill>
                <a:latin typeface="Cambria" pitchFamily="34" charset="0"/>
                <a:ea typeface="Cambria" pitchFamily="34" charset="-122"/>
                <a:cs typeface="Cambria" pitchFamily="34" charset="-120"/>
              </a:rPr>
              <a:t>Prototype</a:t>
            </a:r>
            <a:endParaRPr lang="en-US" sz="1200" dirty="0"/>
          </a:p>
        </p:txBody>
      </p:sp>
      <p:sp>
        <p:nvSpPr>
          <p:cNvPr id="24" name="Shape 22"/>
          <p:cNvSpPr/>
          <p:nvPr/>
        </p:nvSpPr>
        <p:spPr>
          <a:xfrm>
            <a:off x="4745736" y="2304288"/>
            <a:ext cx="1115568" cy="23774"/>
          </a:xfrm>
          <a:prstGeom prst="rect">
            <a:avLst/>
          </a:prstGeom>
          <a:solidFill>
            <a:srgbClr val="FFFFFF">
              <a:alpha val="40000"/>
            </a:srgbClr>
          </a:solidFill>
          <a:ln w="12700">
            <a:solidFill>
              <a:srgbClr val="FFFFFF">
                <a:alpha val="40000"/>
              </a:srgbClr>
            </a:solidFill>
            <a:prstDash val="solid"/>
          </a:ln>
        </p:spPr>
      </p:sp>
      <p:sp>
        <p:nvSpPr>
          <p:cNvPr id="25" name="Text 23"/>
          <p:cNvSpPr/>
          <p:nvPr/>
        </p:nvSpPr>
        <p:spPr>
          <a:xfrm>
            <a:off x="4709160" y="2450592"/>
            <a:ext cx="1188720" cy="2084832"/>
          </a:xfrm>
          <a:prstGeom prst="rect">
            <a:avLst/>
          </a:prstGeom>
          <a:noFill/>
          <a:ln/>
        </p:spPr>
        <p:txBody>
          <a:bodyPr wrap="square" lIns="25400" tIns="25400" rIns="25400" bIns="25400" rtlCol="0" anchor="ctr"/>
          <a:lstStyle/>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Lo-fi → mid-fi → hi-fi</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CMS implementation</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Component specs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AI concept prototype</a:t>
            </a:r>
            <a:endParaRPr lang="en-US" sz="900" dirty="0"/>
          </a:p>
        </p:txBody>
      </p:sp>
      <p:sp>
        <p:nvSpPr>
          <p:cNvPr id="26" name="Shape 24"/>
          <p:cNvSpPr/>
          <p:nvPr/>
        </p:nvSpPr>
        <p:spPr>
          <a:xfrm>
            <a:off x="6089904" y="1298448"/>
            <a:ext cx="1298448" cy="3337560"/>
          </a:xfrm>
          <a:prstGeom prst="roundRect">
            <a:avLst>
              <a:gd name="adj" fmla="val 7042"/>
            </a:avLst>
          </a:prstGeom>
          <a:solidFill>
            <a:srgbClr val="006FA6"/>
          </a:solidFill>
          <a:ln w="12700">
            <a:solidFill>
              <a:srgbClr val="006FA6"/>
            </a:solidFill>
            <a:prstDash val="solid"/>
          </a:ln>
        </p:spPr>
      </p:sp>
      <p:sp>
        <p:nvSpPr>
          <p:cNvPr id="27" name="Text 25"/>
          <p:cNvSpPr/>
          <p:nvPr/>
        </p:nvSpPr>
        <p:spPr>
          <a:xfrm>
            <a:off x="6089904" y="1389888"/>
            <a:ext cx="1298448" cy="47548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28" name="Text 26"/>
          <p:cNvSpPr/>
          <p:nvPr/>
        </p:nvSpPr>
        <p:spPr>
          <a:xfrm>
            <a:off x="6089904" y="1847088"/>
            <a:ext cx="129844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Test</a:t>
            </a:r>
            <a:endParaRPr lang="en-US" sz="1200" dirty="0"/>
          </a:p>
        </p:txBody>
      </p:sp>
      <p:sp>
        <p:nvSpPr>
          <p:cNvPr id="29" name="Shape 27"/>
          <p:cNvSpPr/>
          <p:nvPr/>
        </p:nvSpPr>
        <p:spPr>
          <a:xfrm>
            <a:off x="6181344" y="2304288"/>
            <a:ext cx="1115568" cy="23774"/>
          </a:xfrm>
          <a:prstGeom prst="rect">
            <a:avLst/>
          </a:prstGeom>
          <a:solidFill>
            <a:srgbClr val="FFFFFF">
              <a:alpha val="40000"/>
            </a:srgbClr>
          </a:solidFill>
          <a:ln w="12700">
            <a:solidFill>
              <a:srgbClr val="FFFFFF">
                <a:alpha val="40000"/>
              </a:srgbClr>
            </a:solidFill>
            <a:prstDash val="solid"/>
          </a:ln>
        </p:spPr>
      </p:sp>
      <p:sp>
        <p:nvSpPr>
          <p:cNvPr id="30" name="Text 28"/>
          <p:cNvSpPr/>
          <p:nvPr/>
        </p:nvSpPr>
        <p:spPr>
          <a:xfrm>
            <a:off x="6144768" y="2450592"/>
            <a:ext cx="1188720" cy="2084832"/>
          </a:xfrm>
          <a:prstGeom prst="rect">
            <a:avLst/>
          </a:prstGeom>
          <a:noFill/>
          <a:ln/>
        </p:spPr>
        <p:txBody>
          <a:bodyPr wrap="square" lIns="25400" tIns="25400" rIns="25400" bIns="25400" rtlCol="0" anchor="ctr"/>
          <a:lstStyle/>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Usability testing (n=9)</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Before/after survey</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Consolidated report</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Descriptive statistics</a:t>
            </a:r>
            <a:endParaRPr lang="en-US" sz="900" dirty="0"/>
          </a:p>
        </p:txBody>
      </p:sp>
      <p:sp>
        <p:nvSpPr>
          <p:cNvPr id="31" name="Shape 29"/>
          <p:cNvSpPr/>
          <p:nvPr/>
        </p:nvSpPr>
        <p:spPr>
          <a:xfrm>
            <a:off x="7525512" y="1298448"/>
            <a:ext cx="1298448" cy="3337560"/>
          </a:xfrm>
          <a:prstGeom prst="roundRect">
            <a:avLst>
              <a:gd name="adj" fmla="val 7042"/>
            </a:avLst>
          </a:prstGeom>
          <a:solidFill>
            <a:srgbClr val="00294D"/>
          </a:solidFill>
          <a:ln w="12700">
            <a:solidFill>
              <a:srgbClr val="00294D"/>
            </a:solidFill>
            <a:prstDash val="solid"/>
          </a:ln>
        </p:spPr>
      </p:sp>
      <p:sp>
        <p:nvSpPr>
          <p:cNvPr id="32" name="Text 30"/>
          <p:cNvSpPr/>
          <p:nvPr/>
        </p:nvSpPr>
        <p:spPr>
          <a:xfrm>
            <a:off x="7525512" y="1389888"/>
            <a:ext cx="1298448" cy="47548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
        <p:nvSpPr>
          <p:cNvPr id="33" name="Text 31"/>
          <p:cNvSpPr/>
          <p:nvPr/>
        </p:nvSpPr>
        <p:spPr>
          <a:xfrm>
            <a:off x="7525512" y="1847088"/>
            <a:ext cx="1298448" cy="420624"/>
          </a:xfrm>
          <a:prstGeom prst="rect">
            <a:avLst/>
          </a:prstGeom>
          <a:noFill/>
          <a:ln/>
        </p:spPr>
        <p:txBody>
          <a:bodyPr wrap="square" lIns="0" tIns="0" rIns="0" bIns="0" rtlCol="0" anchor="ctr"/>
          <a:lstStyle/>
          <a:p>
            <a:pPr algn="ctr" indent="0" marL="0">
              <a:buNone/>
            </a:pPr>
            <a:r>
              <a:rPr lang="en-US" sz="1200" b="1" dirty="0">
                <a:solidFill>
                  <a:srgbClr val="67D7D2"/>
                </a:solidFill>
                <a:latin typeface="Cambria" pitchFamily="34" charset="0"/>
                <a:ea typeface="Cambria" pitchFamily="34" charset="-122"/>
                <a:cs typeface="Cambria" pitchFamily="34" charset="-120"/>
              </a:rPr>
              <a:t>Implement</a:t>
            </a:r>
            <a:endParaRPr lang="en-US" sz="1200" dirty="0"/>
          </a:p>
        </p:txBody>
      </p:sp>
      <p:sp>
        <p:nvSpPr>
          <p:cNvPr id="34" name="Shape 32"/>
          <p:cNvSpPr/>
          <p:nvPr/>
        </p:nvSpPr>
        <p:spPr>
          <a:xfrm>
            <a:off x="7616952" y="2304288"/>
            <a:ext cx="1115568" cy="23774"/>
          </a:xfrm>
          <a:prstGeom prst="rect">
            <a:avLst/>
          </a:prstGeom>
          <a:solidFill>
            <a:srgbClr val="FFFFFF">
              <a:alpha val="40000"/>
            </a:srgbClr>
          </a:solidFill>
          <a:ln w="12700">
            <a:solidFill>
              <a:srgbClr val="FFFFFF">
                <a:alpha val="40000"/>
              </a:srgbClr>
            </a:solidFill>
            <a:prstDash val="solid"/>
          </a:ln>
        </p:spPr>
      </p:sp>
      <p:sp>
        <p:nvSpPr>
          <p:cNvPr id="35" name="Text 33"/>
          <p:cNvSpPr/>
          <p:nvPr/>
        </p:nvSpPr>
        <p:spPr>
          <a:xfrm>
            <a:off x="7580376" y="2450592"/>
            <a:ext cx="1188720" cy="2084832"/>
          </a:xfrm>
          <a:prstGeom prst="rect">
            <a:avLst/>
          </a:prstGeom>
          <a:noFill/>
          <a:ln/>
        </p:spPr>
        <p:txBody>
          <a:bodyPr wrap="square" lIns="25400" tIns="25400" rIns="25400" bIns="25400" rtlCol="0" anchor="ctr"/>
          <a:lstStyle/>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Implementation log</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Design artefacts</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Change log</a:t>
            </a:r>
            <a:endParaRPr lang="en-US" sz="900" dirty="0"/>
          </a:p>
          <a:p>
            <a:pPr marL="342900" indent="-342900">
              <a:buSzPct val="100000"/>
              <a:buChar char="•"/>
            </a:pPr>
            <a:r>
              <a:rPr lang="en-US" sz="900" dirty="0">
                <a:solidFill>
                  <a:srgbClr val="D0E4F4"/>
                </a:solidFill>
                <a:latin typeface="Calibri" pitchFamily="34" charset="0"/>
                <a:ea typeface="Calibri" pitchFamily="34" charset="-122"/>
                <a:cs typeface="Calibri" pitchFamily="34" charset="-120"/>
              </a:rPr>
              <a:t>Iterative refinement</a:t>
            </a:r>
            <a:endParaRPr lang="en-US" sz="900" dirty="0"/>
          </a:p>
        </p:txBody>
      </p:sp>
      <p:sp>
        <p:nvSpPr>
          <p:cNvPr id="36" name="Text 34"/>
          <p:cNvSpPr/>
          <p:nvPr/>
        </p:nvSpPr>
        <p:spPr>
          <a:xfrm>
            <a:off x="365760" y="4736592"/>
            <a:ext cx="841248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Each phase answered one or more sub-questions using validated ICT research methods — making this a research-driven design project, not just a design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1 · EMPATHIZE</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Understanding the Real Situation</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7516368" y="411480"/>
            <a:ext cx="1261872" cy="960120"/>
          </a:xfrm>
          <a:prstGeom prst="roundRect">
            <a:avLst>
              <a:gd name="adj" fmla="val 9524"/>
            </a:avLst>
          </a:prstGeom>
          <a:solidFill>
            <a:srgbClr val="00294D"/>
          </a:solidFill>
          <a:ln w="12700">
            <a:solidFill>
              <a:srgbClr val="00294D"/>
            </a:solidFill>
            <a:prstDash val="solid"/>
          </a:ln>
          <a:effectLst>
            <a:outerShdw sx="100000" sy="100000" kx="0" ky="0" algn="bl" rotWithShape="0" blurRad="152400" dist="50800" dir="2700000">
              <a:srgbClr val="000000">
                <a:alpha val="18000"/>
              </a:srgbClr>
            </a:outerShdw>
          </a:effectLst>
        </p:spPr>
      </p:sp>
      <p:sp>
        <p:nvSpPr>
          <p:cNvPr id="7" name="Text 5"/>
          <p:cNvSpPr/>
          <p:nvPr/>
        </p:nvSpPr>
        <p:spPr>
          <a:xfrm>
            <a:off x="7516368" y="438912"/>
            <a:ext cx="1261872" cy="53035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8" name="Text 6"/>
          <p:cNvSpPr/>
          <p:nvPr/>
        </p:nvSpPr>
        <p:spPr>
          <a:xfrm>
            <a:off x="7516368" y="914400"/>
            <a:ext cx="1261872"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Empathize</a:t>
            </a:r>
            <a:endParaRPr lang="en-US" sz="900" dirty="0"/>
          </a:p>
        </p:txBody>
      </p:sp>
      <p:sp>
        <p:nvSpPr>
          <p:cNvPr id="9" name="Shape 7"/>
          <p:cNvSpPr/>
          <p:nvPr/>
        </p:nvSpPr>
        <p:spPr>
          <a:xfrm>
            <a:off x="365760" y="1261872"/>
            <a:ext cx="2788920" cy="2212848"/>
          </a:xfrm>
          <a:prstGeom prst="roundRect">
            <a:avLst>
              <a:gd name="adj" fmla="val 3719"/>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502920" y="1335024"/>
            <a:ext cx="251460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Methods Used</a:t>
            </a:r>
            <a:endParaRPr lang="en-US" sz="1200" dirty="0"/>
          </a:p>
        </p:txBody>
      </p:sp>
      <p:sp>
        <p:nvSpPr>
          <p:cNvPr id="11" name="Shape 9"/>
          <p:cNvSpPr/>
          <p:nvPr/>
        </p:nvSpPr>
        <p:spPr>
          <a:xfrm>
            <a:off x="502920" y="1682496"/>
            <a:ext cx="2514600" cy="25603"/>
          </a:xfrm>
          <a:prstGeom prst="rect">
            <a:avLst/>
          </a:prstGeom>
          <a:solidFill>
            <a:srgbClr val="0087DC"/>
          </a:solidFill>
          <a:ln w="12700">
            <a:solidFill>
              <a:srgbClr val="0087DC"/>
            </a:solidFill>
            <a:prstDash val="solid"/>
          </a:ln>
        </p:spPr>
      </p:sp>
      <p:sp>
        <p:nvSpPr>
          <p:cNvPr id="12" name="Text 10"/>
          <p:cNvSpPr/>
          <p:nvPr/>
        </p:nvSpPr>
        <p:spPr>
          <a:xfrm>
            <a:off x="502920" y="1773936"/>
            <a:ext cx="2514600" cy="1572768"/>
          </a:xfrm>
          <a:prstGeom prst="rect">
            <a:avLst/>
          </a:prstGeom>
          <a:noFill/>
          <a:ln/>
        </p:spPr>
        <p:txBody>
          <a:bodyPr wrap="square" lIns="25400" tIns="25400" rIns="25400" bIns="2540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CMS &amp; artefact analysis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Case studies (n=5 pages)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Semi-structured interviews (n=6)</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Observation &amp; shadowing</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Satisfaction survey (baseline)</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Empathy map + stakeholder analysis</a:t>
            </a:r>
            <a:endParaRPr lang="en-US" sz="1100" dirty="0"/>
          </a:p>
        </p:txBody>
      </p:sp>
      <p:sp>
        <p:nvSpPr>
          <p:cNvPr id="13" name="Shape 11"/>
          <p:cNvSpPr/>
          <p:nvPr/>
        </p:nvSpPr>
        <p:spPr>
          <a:xfrm>
            <a:off x="365760" y="3547872"/>
            <a:ext cx="2788920" cy="1234440"/>
          </a:xfrm>
          <a:prstGeom prst="roundRect">
            <a:avLst>
              <a:gd name="adj" fmla="val 6667"/>
            </a:avLst>
          </a:prstGeom>
          <a:solidFill>
            <a:srgbClr val="E8F5FE"/>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502920" y="3621024"/>
            <a:ext cx="2514600"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Key Baseline Numbers</a:t>
            </a:r>
            <a:endParaRPr lang="en-US" sz="1100" dirty="0"/>
          </a:p>
        </p:txBody>
      </p:sp>
      <p:sp>
        <p:nvSpPr>
          <p:cNvPr id="15" name="Text 13"/>
          <p:cNvSpPr/>
          <p:nvPr/>
        </p:nvSpPr>
        <p:spPr>
          <a:xfrm>
            <a:off x="530352" y="3931920"/>
            <a:ext cx="1737360" cy="23774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Overall satisfaction</a:t>
            </a:r>
            <a:endParaRPr lang="en-US" sz="1000" dirty="0"/>
          </a:p>
        </p:txBody>
      </p:sp>
      <p:sp>
        <p:nvSpPr>
          <p:cNvPr id="16" name="Text 14"/>
          <p:cNvSpPr/>
          <p:nvPr/>
        </p:nvSpPr>
        <p:spPr>
          <a:xfrm>
            <a:off x="2286000" y="3931920"/>
            <a:ext cx="777240" cy="237744"/>
          </a:xfrm>
          <a:prstGeom prst="rect">
            <a:avLst/>
          </a:prstGeom>
          <a:noFill/>
          <a:ln/>
        </p:spPr>
        <p:txBody>
          <a:bodyPr wrap="square" lIns="0" tIns="0" rIns="0" bIns="0" rtlCol="0" anchor="ctr"/>
          <a:lstStyle/>
          <a:p>
            <a:pPr indent="0" marL="0">
              <a:buNone/>
            </a:pPr>
            <a:r>
              <a:rPr lang="en-US" sz="1000" b="1" dirty="0">
                <a:solidFill>
                  <a:srgbClr val="C0392B"/>
                </a:solidFill>
                <a:latin typeface="Cambria" pitchFamily="34" charset="0"/>
                <a:ea typeface="Cambria" pitchFamily="34" charset="-122"/>
                <a:cs typeface="Cambria" pitchFamily="34" charset="-120"/>
              </a:rPr>
              <a:t>2.1 / 5</a:t>
            </a:r>
            <a:endParaRPr lang="en-US" sz="1000" dirty="0"/>
          </a:p>
        </p:txBody>
      </p:sp>
      <p:sp>
        <p:nvSpPr>
          <p:cNvPr id="17" name="Text 15"/>
          <p:cNvSpPr/>
          <p:nvPr/>
        </p:nvSpPr>
        <p:spPr>
          <a:xfrm>
            <a:off x="530352" y="4206240"/>
            <a:ext cx="1737360" cy="23774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Ease of use</a:t>
            </a:r>
            <a:endParaRPr lang="en-US" sz="1000" dirty="0"/>
          </a:p>
        </p:txBody>
      </p:sp>
      <p:sp>
        <p:nvSpPr>
          <p:cNvPr id="18" name="Text 16"/>
          <p:cNvSpPr/>
          <p:nvPr/>
        </p:nvSpPr>
        <p:spPr>
          <a:xfrm>
            <a:off x="2286000" y="4206240"/>
            <a:ext cx="777240" cy="237744"/>
          </a:xfrm>
          <a:prstGeom prst="rect">
            <a:avLst/>
          </a:prstGeom>
          <a:noFill/>
          <a:ln/>
        </p:spPr>
        <p:txBody>
          <a:bodyPr wrap="square" lIns="0" tIns="0" rIns="0" bIns="0" rtlCol="0" anchor="ctr"/>
          <a:lstStyle/>
          <a:p>
            <a:pPr indent="0" marL="0">
              <a:buNone/>
            </a:pPr>
            <a:r>
              <a:rPr lang="en-US" sz="1000" b="1" dirty="0">
                <a:solidFill>
                  <a:srgbClr val="C0392B"/>
                </a:solidFill>
                <a:latin typeface="Cambria" pitchFamily="34" charset="0"/>
                <a:ea typeface="Cambria" pitchFamily="34" charset="-122"/>
                <a:cs typeface="Cambria" pitchFamily="34" charset="-120"/>
              </a:rPr>
              <a:t>2.8 / 5</a:t>
            </a:r>
            <a:endParaRPr lang="en-US" sz="1000" dirty="0"/>
          </a:p>
        </p:txBody>
      </p:sp>
      <p:sp>
        <p:nvSpPr>
          <p:cNvPr id="19" name="Text 17"/>
          <p:cNvSpPr/>
          <p:nvPr/>
        </p:nvSpPr>
        <p:spPr>
          <a:xfrm>
            <a:off x="530352" y="4480560"/>
            <a:ext cx="1737360" cy="237744"/>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Self-sufficiency</a:t>
            </a:r>
            <a:endParaRPr lang="en-US" sz="1000" dirty="0"/>
          </a:p>
        </p:txBody>
      </p:sp>
      <p:sp>
        <p:nvSpPr>
          <p:cNvPr id="20" name="Text 18"/>
          <p:cNvSpPr/>
          <p:nvPr/>
        </p:nvSpPr>
        <p:spPr>
          <a:xfrm>
            <a:off x="2286000" y="4480560"/>
            <a:ext cx="777240" cy="237744"/>
          </a:xfrm>
          <a:prstGeom prst="rect">
            <a:avLst/>
          </a:prstGeom>
          <a:noFill/>
          <a:ln/>
        </p:spPr>
        <p:txBody>
          <a:bodyPr wrap="square" lIns="0" tIns="0" rIns="0" bIns="0" rtlCol="0" anchor="ctr"/>
          <a:lstStyle/>
          <a:p>
            <a:pPr indent="0" marL="0">
              <a:buNone/>
            </a:pPr>
            <a:r>
              <a:rPr lang="en-US" sz="1000" b="1" dirty="0">
                <a:solidFill>
                  <a:srgbClr val="C0392B"/>
                </a:solidFill>
                <a:latin typeface="Cambria" pitchFamily="34" charset="0"/>
                <a:ea typeface="Cambria" pitchFamily="34" charset="-122"/>
                <a:cs typeface="Cambria" pitchFamily="34" charset="-120"/>
              </a:rPr>
              <a:t>2.2 / 5</a:t>
            </a:r>
            <a:endParaRPr lang="en-US" sz="1000" dirty="0"/>
          </a:p>
        </p:txBody>
      </p:sp>
      <p:sp>
        <p:nvSpPr>
          <p:cNvPr id="21" name="Shape 19"/>
          <p:cNvSpPr/>
          <p:nvPr/>
        </p:nvSpPr>
        <p:spPr>
          <a:xfrm>
            <a:off x="3310128" y="1298448"/>
            <a:ext cx="5486400" cy="1078992"/>
          </a:xfrm>
          <a:prstGeom prst="roundRect">
            <a:avLst>
              <a:gd name="adj" fmla="val 7627"/>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2" name="Shape 20"/>
          <p:cNvSpPr/>
          <p:nvPr/>
        </p:nvSpPr>
        <p:spPr>
          <a:xfrm>
            <a:off x="3438144" y="1417320"/>
            <a:ext cx="457200" cy="457200"/>
          </a:xfrm>
          <a:prstGeom prst="oval">
            <a:avLst/>
          </a:prstGeom>
          <a:solidFill>
            <a:srgbClr val="0087DC"/>
          </a:solidFill>
          <a:ln w="12700">
            <a:solidFill>
              <a:srgbClr val="0087DC"/>
            </a:solidFill>
            <a:prstDash val="solid"/>
          </a:ln>
        </p:spPr>
      </p:sp>
      <p:sp>
        <p:nvSpPr>
          <p:cNvPr id="23" name="Text 21"/>
          <p:cNvSpPr/>
          <p:nvPr/>
        </p:nvSpPr>
        <p:spPr>
          <a:xfrm>
            <a:off x="3438144" y="1417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p:nvPr/>
        </p:nvSpPr>
        <p:spPr>
          <a:xfrm>
            <a:off x="4005072" y="1389888"/>
            <a:ext cx="4663440" cy="329184"/>
          </a:xfrm>
          <a:prstGeom prst="rect">
            <a:avLst/>
          </a:prstGeom>
          <a:noFill/>
          <a:ln/>
        </p:spPr>
        <p:txBody>
          <a:bodyPr wrap="square" lIns="0" tIns="0" rIns="0" bIns="0" rtlCol="0" anchor="ctr"/>
          <a:lstStyle/>
          <a:p>
            <a:pPr indent="0" marL="0">
              <a:buNone/>
            </a:pPr>
            <a:r>
              <a:rPr lang="en-US" sz="1250" b="1" dirty="0">
                <a:solidFill>
                  <a:srgbClr val="00294D"/>
                </a:solidFill>
                <a:latin typeface="Cambria" pitchFamily="34" charset="0"/>
                <a:ea typeface="Cambria" pitchFamily="34" charset="-122"/>
                <a:cs typeface="Cambria" pitchFamily="34" charset="-120"/>
              </a:rPr>
              <a:t>No predictable, shared workflow</a:t>
            </a:r>
            <a:endParaRPr lang="en-US" sz="1250" dirty="0"/>
          </a:p>
        </p:txBody>
      </p:sp>
      <p:sp>
        <p:nvSpPr>
          <p:cNvPr id="25" name="Text 23"/>
          <p:cNvSpPr/>
          <p:nvPr/>
        </p:nvSpPr>
        <p:spPr>
          <a:xfrm>
            <a:off x="4005072" y="1737360"/>
            <a:ext cx="4663440" cy="5486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Each of the 5 pages (HM26, Smarter E, MCE, Power &amp; Cooling, Advanced Factories) followed a different informal process — no shared template, no checklist, no reusable CMS structure.</a:t>
            </a:r>
            <a:endParaRPr lang="en-US" sz="1050" dirty="0"/>
          </a:p>
        </p:txBody>
      </p:sp>
      <p:sp>
        <p:nvSpPr>
          <p:cNvPr id="26" name="Shape 24"/>
          <p:cNvSpPr/>
          <p:nvPr/>
        </p:nvSpPr>
        <p:spPr>
          <a:xfrm>
            <a:off x="3310128" y="2468880"/>
            <a:ext cx="5486400" cy="1078992"/>
          </a:xfrm>
          <a:prstGeom prst="roundRect">
            <a:avLst>
              <a:gd name="adj" fmla="val 7627"/>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7" name="Shape 25"/>
          <p:cNvSpPr/>
          <p:nvPr/>
        </p:nvSpPr>
        <p:spPr>
          <a:xfrm>
            <a:off x="3438144" y="2587752"/>
            <a:ext cx="457200" cy="457200"/>
          </a:xfrm>
          <a:prstGeom prst="oval">
            <a:avLst/>
          </a:prstGeom>
          <a:solidFill>
            <a:srgbClr val="0087DC"/>
          </a:solidFill>
          <a:ln w="12700">
            <a:solidFill>
              <a:srgbClr val="0087DC"/>
            </a:solidFill>
            <a:prstDash val="solid"/>
          </a:ln>
        </p:spPr>
      </p:sp>
      <p:sp>
        <p:nvSpPr>
          <p:cNvPr id="28" name="Text 26"/>
          <p:cNvSpPr/>
          <p:nvPr/>
        </p:nvSpPr>
        <p:spPr>
          <a:xfrm>
            <a:off x="3438144" y="25877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9" name="Text 27"/>
          <p:cNvSpPr/>
          <p:nvPr/>
        </p:nvSpPr>
        <p:spPr>
          <a:xfrm>
            <a:off x="4005072" y="2560320"/>
            <a:ext cx="4663440" cy="329184"/>
          </a:xfrm>
          <a:prstGeom prst="rect">
            <a:avLst/>
          </a:prstGeom>
          <a:noFill/>
          <a:ln/>
        </p:spPr>
        <p:txBody>
          <a:bodyPr wrap="square" lIns="0" tIns="0" rIns="0" bIns="0" rtlCol="0" anchor="ctr"/>
          <a:lstStyle/>
          <a:p>
            <a:pPr indent="0" marL="0">
              <a:buNone/>
            </a:pPr>
            <a:r>
              <a:rPr lang="en-US" sz="1250" b="1" dirty="0">
                <a:solidFill>
                  <a:srgbClr val="00294D"/>
                </a:solidFill>
                <a:latin typeface="Cambria" pitchFamily="34" charset="0"/>
                <a:ea typeface="Cambria" pitchFamily="34" charset="-122"/>
                <a:cs typeface="Cambria" pitchFamily="34" charset="-120"/>
              </a:rPr>
              <a:t>High developer dependency</a:t>
            </a:r>
            <a:endParaRPr lang="en-US" sz="1250" dirty="0"/>
          </a:p>
        </p:txBody>
      </p:sp>
      <p:sp>
        <p:nvSpPr>
          <p:cNvPr id="30" name="Text 28"/>
          <p:cNvSpPr/>
          <p:nvPr/>
        </p:nvSpPr>
        <p:spPr>
          <a:xfrm>
            <a:off x="4005072" y="2907792"/>
            <a:ext cx="4663440" cy="5486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Marketers initiated every change but could not act on it themselves. Every layout or content update required intervention from the digital/front-end team.</a:t>
            </a:r>
            <a:endParaRPr lang="en-US" sz="1050" dirty="0"/>
          </a:p>
        </p:txBody>
      </p:sp>
      <p:sp>
        <p:nvSpPr>
          <p:cNvPr id="31" name="Shape 29"/>
          <p:cNvSpPr/>
          <p:nvPr/>
        </p:nvSpPr>
        <p:spPr>
          <a:xfrm>
            <a:off x="3310128" y="3639312"/>
            <a:ext cx="5486400" cy="1078992"/>
          </a:xfrm>
          <a:prstGeom prst="roundRect">
            <a:avLst>
              <a:gd name="adj" fmla="val 7627"/>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32" name="Shape 30"/>
          <p:cNvSpPr/>
          <p:nvPr/>
        </p:nvSpPr>
        <p:spPr>
          <a:xfrm>
            <a:off x="3438144" y="3758184"/>
            <a:ext cx="457200" cy="457200"/>
          </a:xfrm>
          <a:prstGeom prst="oval">
            <a:avLst/>
          </a:prstGeom>
          <a:solidFill>
            <a:srgbClr val="0087DC"/>
          </a:solidFill>
          <a:ln w="12700">
            <a:solidFill>
              <a:srgbClr val="0087DC"/>
            </a:solidFill>
            <a:prstDash val="solid"/>
          </a:ln>
        </p:spPr>
      </p:sp>
      <p:sp>
        <p:nvSpPr>
          <p:cNvPr id="33" name="Text 31"/>
          <p:cNvSpPr/>
          <p:nvPr/>
        </p:nvSpPr>
        <p:spPr>
          <a:xfrm>
            <a:off x="3438144" y="37581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4" name="Text 32"/>
          <p:cNvSpPr/>
          <p:nvPr/>
        </p:nvSpPr>
        <p:spPr>
          <a:xfrm>
            <a:off x="4005072" y="3730752"/>
            <a:ext cx="4663440" cy="329184"/>
          </a:xfrm>
          <a:prstGeom prst="rect">
            <a:avLst/>
          </a:prstGeom>
          <a:noFill/>
          <a:ln/>
        </p:spPr>
        <p:txBody>
          <a:bodyPr wrap="square" lIns="0" tIns="0" rIns="0" bIns="0" rtlCol="0" anchor="ctr"/>
          <a:lstStyle/>
          <a:p>
            <a:pPr indent="0" marL="0">
              <a:buNone/>
            </a:pPr>
            <a:r>
              <a:rPr lang="en-US" sz="1250" b="1" dirty="0">
                <a:solidFill>
                  <a:srgbClr val="00294D"/>
                </a:solidFill>
                <a:latin typeface="Cambria" pitchFamily="34" charset="0"/>
                <a:ea typeface="Cambria" pitchFamily="34" charset="-122"/>
                <a:cs typeface="Cambria" pitchFamily="34" charset="-120"/>
              </a:rPr>
              <a:t>Inconsistency and rework</a:t>
            </a:r>
            <a:endParaRPr lang="en-US" sz="1250" dirty="0"/>
          </a:p>
        </p:txBody>
      </p:sp>
      <p:sp>
        <p:nvSpPr>
          <p:cNvPr id="35" name="Text 33"/>
          <p:cNvSpPr/>
          <p:nvPr/>
        </p:nvSpPr>
        <p:spPr>
          <a:xfrm>
            <a:off x="4005072" y="4078224"/>
            <a:ext cx="4663440" cy="5486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Pages differed in structure, layout patterns and component usage between campaigns. Last-minute changes frequently required manual fixes, creating extra effort for developers.</a:t>
            </a:r>
            <a:endParaRPr lang="en-US" sz="1050" dirty="0"/>
          </a:p>
        </p:txBody>
      </p:sp>
      <p:sp>
        <p:nvSpPr>
          <p:cNvPr id="36" name="Text 34"/>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SQ1 answered · Findings directly shaped the requirements in Phase 2  |  ➜ See next slide for case study &amp; usability testing photos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6FA6"/>
          </a:solidFill>
          <a:ln w="12700">
            <a:solidFill>
              <a:srgbClr val="006FA6"/>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1 · EVIDENCE</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Case Studies &amp; Usability Testing in Action</a:t>
            </a:r>
            <a:endParaRPr lang="en-US" sz="2600" dirty="0"/>
          </a:p>
        </p:txBody>
      </p:sp>
      <p:sp>
        <p:nvSpPr>
          <p:cNvPr id="5" name="Shape 3"/>
          <p:cNvSpPr/>
          <p:nvPr/>
        </p:nvSpPr>
        <p:spPr>
          <a:xfrm>
            <a:off x="365760" y="1143000"/>
            <a:ext cx="8412480" cy="25603"/>
          </a:xfrm>
          <a:prstGeom prst="rect">
            <a:avLst/>
          </a:prstGeom>
          <a:solidFill>
            <a:srgbClr val="006FA6"/>
          </a:solidFill>
          <a:ln w="12700">
            <a:solidFill>
              <a:srgbClr val="006FA6"/>
            </a:solidFill>
            <a:prstDash val="solid"/>
          </a:ln>
        </p:spPr>
      </p:sp>
      <p:sp>
        <p:nvSpPr>
          <p:cNvPr id="6" name="Text 4"/>
          <p:cNvSpPr/>
          <p:nvPr/>
        </p:nvSpPr>
        <p:spPr>
          <a:xfrm>
            <a:off x="365760" y="1261872"/>
            <a:ext cx="8412480" cy="274320"/>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5 Campaign Landing Pages — Case Studies</a:t>
            </a:r>
            <a:endParaRPr lang="en-US" sz="1100" dirty="0"/>
          </a:p>
        </p:txBody>
      </p:sp>
      <p:sp>
        <p:nvSpPr>
          <p:cNvPr id="7" name="Shape 5"/>
          <p:cNvSpPr/>
          <p:nvPr/>
        </p:nvSpPr>
        <p:spPr>
          <a:xfrm>
            <a:off x="347472" y="1572768"/>
            <a:ext cx="1572768" cy="1261872"/>
          </a:xfrm>
          <a:prstGeom prst="roundRect">
            <a:avLst>
              <a:gd name="adj" fmla="val 5797"/>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8" name="Shape 6"/>
          <p:cNvSpPr/>
          <p:nvPr/>
        </p:nvSpPr>
        <p:spPr>
          <a:xfrm>
            <a:off x="877824" y="1792224"/>
            <a:ext cx="512064" cy="512064"/>
          </a:xfrm>
          <a:prstGeom prst="oval">
            <a:avLst/>
          </a:prstGeom>
          <a:solidFill>
            <a:srgbClr val="A8CCE8"/>
          </a:solidFill>
          <a:ln w="12700">
            <a:solidFill>
              <a:srgbClr val="A8CCE8"/>
            </a:solidFill>
            <a:prstDash val="solid"/>
          </a:ln>
        </p:spPr>
      </p:sp>
      <p:sp>
        <p:nvSpPr>
          <p:cNvPr id="9" name="Text 7"/>
          <p:cNvSpPr/>
          <p:nvPr/>
        </p:nvSpPr>
        <p:spPr>
          <a:xfrm>
            <a:off x="877824" y="1792224"/>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393192" y="2505456"/>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HM26</a:t>
            </a:r>
            <a:endParaRPr lang="en-US" sz="900" dirty="0"/>
          </a:p>
        </p:txBody>
      </p:sp>
      <p:sp>
        <p:nvSpPr>
          <p:cNvPr id="11" name="Shape 9"/>
          <p:cNvSpPr/>
          <p:nvPr/>
        </p:nvSpPr>
        <p:spPr>
          <a:xfrm>
            <a:off x="2066544" y="1572768"/>
            <a:ext cx="1572768" cy="1261872"/>
          </a:xfrm>
          <a:prstGeom prst="roundRect">
            <a:avLst>
              <a:gd name="adj" fmla="val 5797"/>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12" name="Shape 10"/>
          <p:cNvSpPr/>
          <p:nvPr/>
        </p:nvSpPr>
        <p:spPr>
          <a:xfrm>
            <a:off x="2596896" y="1792224"/>
            <a:ext cx="512064" cy="512064"/>
          </a:xfrm>
          <a:prstGeom prst="oval">
            <a:avLst/>
          </a:prstGeom>
          <a:solidFill>
            <a:srgbClr val="A8CCE8"/>
          </a:solidFill>
          <a:ln w="12700">
            <a:solidFill>
              <a:srgbClr val="A8CCE8"/>
            </a:solidFill>
            <a:prstDash val="solid"/>
          </a:ln>
        </p:spPr>
      </p:sp>
      <p:sp>
        <p:nvSpPr>
          <p:cNvPr id="13" name="Text 11"/>
          <p:cNvSpPr/>
          <p:nvPr/>
        </p:nvSpPr>
        <p:spPr>
          <a:xfrm>
            <a:off x="2596896" y="1792224"/>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2112264" y="2505456"/>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Smarter E</a:t>
            </a:r>
            <a:endParaRPr lang="en-US" sz="900" dirty="0"/>
          </a:p>
        </p:txBody>
      </p:sp>
      <p:sp>
        <p:nvSpPr>
          <p:cNvPr id="15" name="Shape 13"/>
          <p:cNvSpPr/>
          <p:nvPr/>
        </p:nvSpPr>
        <p:spPr>
          <a:xfrm>
            <a:off x="3785616" y="1572768"/>
            <a:ext cx="1572768" cy="1261872"/>
          </a:xfrm>
          <a:prstGeom prst="roundRect">
            <a:avLst>
              <a:gd name="adj" fmla="val 5797"/>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16" name="Shape 14"/>
          <p:cNvSpPr/>
          <p:nvPr/>
        </p:nvSpPr>
        <p:spPr>
          <a:xfrm>
            <a:off x="4315968" y="1792224"/>
            <a:ext cx="512064" cy="512064"/>
          </a:xfrm>
          <a:prstGeom prst="oval">
            <a:avLst/>
          </a:prstGeom>
          <a:solidFill>
            <a:srgbClr val="A8CCE8"/>
          </a:solidFill>
          <a:ln w="12700">
            <a:solidFill>
              <a:srgbClr val="A8CCE8"/>
            </a:solidFill>
            <a:prstDash val="solid"/>
          </a:ln>
        </p:spPr>
      </p:sp>
      <p:sp>
        <p:nvSpPr>
          <p:cNvPr id="17" name="Text 15"/>
          <p:cNvSpPr/>
          <p:nvPr/>
        </p:nvSpPr>
        <p:spPr>
          <a:xfrm>
            <a:off x="4315968" y="1792224"/>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ext 16"/>
          <p:cNvSpPr/>
          <p:nvPr/>
        </p:nvSpPr>
        <p:spPr>
          <a:xfrm>
            <a:off x="3831336" y="2505456"/>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MCE</a:t>
            </a:r>
            <a:endParaRPr lang="en-US" sz="900" dirty="0"/>
          </a:p>
        </p:txBody>
      </p:sp>
      <p:sp>
        <p:nvSpPr>
          <p:cNvPr id="19" name="Shape 17"/>
          <p:cNvSpPr/>
          <p:nvPr/>
        </p:nvSpPr>
        <p:spPr>
          <a:xfrm>
            <a:off x="5504688" y="1572768"/>
            <a:ext cx="1572768" cy="1261872"/>
          </a:xfrm>
          <a:prstGeom prst="roundRect">
            <a:avLst>
              <a:gd name="adj" fmla="val 5797"/>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20" name="Shape 18"/>
          <p:cNvSpPr/>
          <p:nvPr/>
        </p:nvSpPr>
        <p:spPr>
          <a:xfrm>
            <a:off x="6035040" y="1792224"/>
            <a:ext cx="512064" cy="512064"/>
          </a:xfrm>
          <a:prstGeom prst="oval">
            <a:avLst/>
          </a:prstGeom>
          <a:solidFill>
            <a:srgbClr val="A8CCE8"/>
          </a:solidFill>
          <a:ln w="12700">
            <a:solidFill>
              <a:srgbClr val="A8CCE8"/>
            </a:solidFill>
            <a:prstDash val="solid"/>
          </a:ln>
        </p:spPr>
      </p:sp>
      <p:sp>
        <p:nvSpPr>
          <p:cNvPr id="21" name="Text 19"/>
          <p:cNvSpPr/>
          <p:nvPr/>
        </p:nvSpPr>
        <p:spPr>
          <a:xfrm>
            <a:off x="6035040" y="1792224"/>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5550408" y="2505456"/>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Power &amp; Cooling</a:t>
            </a:r>
            <a:endParaRPr lang="en-US" sz="900" dirty="0"/>
          </a:p>
        </p:txBody>
      </p:sp>
      <p:sp>
        <p:nvSpPr>
          <p:cNvPr id="23" name="Shape 21"/>
          <p:cNvSpPr/>
          <p:nvPr/>
        </p:nvSpPr>
        <p:spPr>
          <a:xfrm>
            <a:off x="7223760" y="1572768"/>
            <a:ext cx="1572768" cy="1261872"/>
          </a:xfrm>
          <a:prstGeom prst="roundRect">
            <a:avLst>
              <a:gd name="adj" fmla="val 5797"/>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24" name="Shape 22"/>
          <p:cNvSpPr/>
          <p:nvPr/>
        </p:nvSpPr>
        <p:spPr>
          <a:xfrm>
            <a:off x="7754112" y="1792224"/>
            <a:ext cx="512064" cy="512064"/>
          </a:xfrm>
          <a:prstGeom prst="oval">
            <a:avLst/>
          </a:prstGeom>
          <a:solidFill>
            <a:srgbClr val="A8CCE8"/>
          </a:solidFill>
          <a:ln w="12700">
            <a:solidFill>
              <a:srgbClr val="A8CCE8"/>
            </a:solidFill>
            <a:prstDash val="solid"/>
          </a:ln>
        </p:spPr>
      </p:sp>
      <p:sp>
        <p:nvSpPr>
          <p:cNvPr id="25" name="Text 23"/>
          <p:cNvSpPr/>
          <p:nvPr/>
        </p:nvSpPr>
        <p:spPr>
          <a:xfrm>
            <a:off x="7754112" y="1792224"/>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ext 24"/>
          <p:cNvSpPr/>
          <p:nvPr/>
        </p:nvSpPr>
        <p:spPr>
          <a:xfrm>
            <a:off x="7269480" y="2505456"/>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Adv. Factories</a:t>
            </a:r>
            <a:endParaRPr lang="en-US" sz="900" dirty="0"/>
          </a:p>
        </p:txBody>
      </p:sp>
      <p:sp>
        <p:nvSpPr>
          <p:cNvPr id="27" name="Text 25"/>
          <p:cNvSpPr/>
          <p:nvPr/>
        </p:nvSpPr>
        <p:spPr>
          <a:xfrm>
            <a:off x="365760" y="2944368"/>
            <a:ext cx="8412480" cy="274320"/>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Usability Testing — 9 Participants: Andrea · Bilyana · Rose · Christina · Nadine · Fiona · Wil · Thy · Fidan</a:t>
            </a:r>
            <a:endParaRPr lang="en-US" sz="1100" dirty="0"/>
          </a:p>
        </p:txBody>
      </p:sp>
      <p:sp>
        <p:nvSpPr>
          <p:cNvPr id="28" name="Shape 26"/>
          <p:cNvSpPr/>
          <p:nvPr/>
        </p:nvSpPr>
        <p:spPr>
          <a:xfrm>
            <a:off x="347472" y="3255264"/>
            <a:ext cx="1572768" cy="1481328"/>
          </a:xfrm>
          <a:prstGeom prst="roundRect">
            <a:avLst>
              <a:gd name="adj" fmla="val 4938"/>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29" name="Shape 27"/>
          <p:cNvSpPr/>
          <p:nvPr/>
        </p:nvSpPr>
        <p:spPr>
          <a:xfrm>
            <a:off x="877824" y="3584448"/>
            <a:ext cx="512064" cy="512064"/>
          </a:xfrm>
          <a:prstGeom prst="oval">
            <a:avLst/>
          </a:prstGeom>
          <a:solidFill>
            <a:srgbClr val="A8CCE8"/>
          </a:solidFill>
          <a:ln w="12700">
            <a:solidFill>
              <a:srgbClr val="A8CCE8"/>
            </a:solidFill>
            <a:prstDash val="solid"/>
          </a:ln>
        </p:spPr>
      </p:sp>
      <p:sp>
        <p:nvSpPr>
          <p:cNvPr id="30" name="Text 28"/>
          <p:cNvSpPr/>
          <p:nvPr/>
        </p:nvSpPr>
        <p:spPr>
          <a:xfrm>
            <a:off x="877824" y="3584448"/>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1" name="Text 29"/>
          <p:cNvSpPr/>
          <p:nvPr/>
        </p:nvSpPr>
        <p:spPr>
          <a:xfrm>
            <a:off x="393192" y="4407408"/>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Andrea</a:t>
            </a:r>
            <a:endParaRPr lang="en-US" sz="900" dirty="0"/>
          </a:p>
        </p:txBody>
      </p:sp>
      <p:sp>
        <p:nvSpPr>
          <p:cNvPr id="32" name="Shape 30"/>
          <p:cNvSpPr/>
          <p:nvPr/>
        </p:nvSpPr>
        <p:spPr>
          <a:xfrm>
            <a:off x="2066544" y="3255264"/>
            <a:ext cx="1572768" cy="1481328"/>
          </a:xfrm>
          <a:prstGeom prst="roundRect">
            <a:avLst>
              <a:gd name="adj" fmla="val 4938"/>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33" name="Shape 31"/>
          <p:cNvSpPr/>
          <p:nvPr/>
        </p:nvSpPr>
        <p:spPr>
          <a:xfrm>
            <a:off x="2596896" y="3584448"/>
            <a:ext cx="512064" cy="512064"/>
          </a:xfrm>
          <a:prstGeom prst="oval">
            <a:avLst/>
          </a:prstGeom>
          <a:solidFill>
            <a:srgbClr val="A8CCE8"/>
          </a:solidFill>
          <a:ln w="12700">
            <a:solidFill>
              <a:srgbClr val="A8CCE8"/>
            </a:solidFill>
            <a:prstDash val="solid"/>
          </a:ln>
        </p:spPr>
      </p:sp>
      <p:sp>
        <p:nvSpPr>
          <p:cNvPr id="34" name="Text 32"/>
          <p:cNvSpPr/>
          <p:nvPr/>
        </p:nvSpPr>
        <p:spPr>
          <a:xfrm>
            <a:off x="2596896" y="3584448"/>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5" name="Text 33"/>
          <p:cNvSpPr/>
          <p:nvPr/>
        </p:nvSpPr>
        <p:spPr>
          <a:xfrm>
            <a:off x="2112264" y="4407408"/>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Bilyana</a:t>
            </a:r>
            <a:endParaRPr lang="en-US" sz="900" dirty="0"/>
          </a:p>
        </p:txBody>
      </p:sp>
      <p:sp>
        <p:nvSpPr>
          <p:cNvPr id="36" name="Shape 34"/>
          <p:cNvSpPr/>
          <p:nvPr/>
        </p:nvSpPr>
        <p:spPr>
          <a:xfrm>
            <a:off x="3785616" y="3255264"/>
            <a:ext cx="1572768" cy="1481328"/>
          </a:xfrm>
          <a:prstGeom prst="roundRect">
            <a:avLst>
              <a:gd name="adj" fmla="val 4938"/>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37" name="Shape 35"/>
          <p:cNvSpPr/>
          <p:nvPr/>
        </p:nvSpPr>
        <p:spPr>
          <a:xfrm>
            <a:off x="4315968" y="3584448"/>
            <a:ext cx="512064" cy="512064"/>
          </a:xfrm>
          <a:prstGeom prst="oval">
            <a:avLst/>
          </a:prstGeom>
          <a:solidFill>
            <a:srgbClr val="A8CCE8"/>
          </a:solidFill>
          <a:ln w="12700">
            <a:solidFill>
              <a:srgbClr val="A8CCE8"/>
            </a:solidFill>
            <a:prstDash val="solid"/>
          </a:ln>
        </p:spPr>
      </p:sp>
      <p:sp>
        <p:nvSpPr>
          <p:cNvPr id="38" name="Text 36"/>
          <p:cNvSpPr/>
          <p:nvPr/>
        </p:nvSpPr>
        <p:spPr>
          <a:xfrm>
            <a:off x="4315968" y="3584448"/>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9" name="Text 37"/>
          <p:cNvSpPr/>
          <p:nvPr/>
        </p:nvSpPr>
        <p:spPr>
          <a:xfrm>
            <a:off x="3831336" y="4407408"/>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Rose</a:t>
            </a:r>
            <a:endParaRPr lang="en-US" sz="900" dirty="0"/>
          </a:p>
        </p:txBody>
      </p:sp>
      <p:sp>
        <p:nvSpPr>
          <p:cNvPr id="40" name="Shape 38"/>
          <p:cNvSpPr/>
          <p:nvPr/>
        </p:nvSpPr>
        <p:spPr>
          <a:xfrm>
            <a:off x="5504688" y="3255264"/>
            <a:ext cx="1572768" cy="1481328"/>
          </a:xfrm>
          <a:prstGeom prst="roundRect">
            <a:avLst>
              <a:gd name="adj" fmla="val 4938"/>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41" name="Shape 39"/>
          <p:cNvSpPr/>
          <p:nvPr/>
        </p:nvSpPr>
        <p:spPr>
          <a:xfrm>
            <a:off x="6035040" y="3584448"/>
            <a:ext cx="512064" cy="512064"/>
          </a:xfrm>
          <a:prstGeom prst="oval">
            <a:avLst/>
          </a:prstGeom>
          <a:solidFill>
            <a:srgbClr val="A8CCE8"/>
          </a:solidFill>
          <a:ln w="12700">
            <a:solidFill>
              <a:srgbClr val="A8CCE8"/>
            </a:solidFill>
            <a:prstDash val="solid"/>
          </a:ln>
        </p:spPr>
      </p:sp>
      <p:sp>
        <p:nvSpPr>
          <p:cNvPr id="42" name="Text 40"/>
          <p:cNvSpPr/>
          <p:nvPr/>
        </p:nvSpPr>
        <p:spPr>
          <a:xfrm>
            <a:off x="6035040" y="3584448"/>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3" name="Text 41"/>
          <p:cNvSpPr/>
          <p:nvPr/>
        </p:nvSpPr>
        <p:spPr>
          <a:xfrm>
            <a:off x="5550408" y="4407408"/>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Christina</a:t>
            </a:r>
            <a:endParaRPr lang="en-US" sz="900" dirty="0"/>
          </a:p>
        </p:txBody>
      </p:sp>
      <p:sp>
        <p:nvSpPr>
          <p:cNvPr id="44" name="Shape 42"/>
          <p:cNvSpPr/>
          <p:nvPr/>
        </p:nvSpPr>
        <p:spPr>
          <a:xfrm>
            <a:off x="7223760" y="3255264"/>
            <a:ext cx="1572768" cy="1481328"/>
          </a:xfrm>
          <a:prstGeom prst="roundRect">
            <a:avLst>
              <a:gd name="adj" fmla="val 4938"/>
            </a:avLst>
          </a:prstGeom>
          <a:solidFill>
            <a:srgbClr val="D0E8F5"/>
          </a:solidFill>
          <a:ln w="19050">
            <a:solidFill>
              <a:srgbClr val="A8CCE8"/>
            </a:solidFill>
            <a:prstDash val="solid"/>
          </a:ln>
          <a:effectLst>
            <a:outerShdw sx="100000" sy="100000" kx="0" ky="0" algn="bl" rotWithShape="0" blurRad="101600" dist="38100" dir="2700000">
              <a:srgbClr val="000000">
                <a:alpha val="13000"/>
              </a:srgbClr>
            </a:outerShdw>
          </a:effectLst>
        </p:spPr>
      </p:sp>
      <p:sp>
        <p:nvSpPr>
          <p:cNvPr id="45" name="Shape 43"/>
          <p:cNvSpPr/>
          <p:nvPr/>
        </p:nvSpPr>
        <p:spPr>
          <a:xfrm>
            <a:off x="7754112" y="3584448"/>
            <a:ext cx="512064" cy="512064"/>
          </a:xfrm>
          <a:prstGeom prst="oval">
            <a:avLst/>
          </a:prstGeom>
          <a:solidFill>
            <a:srgbClr val="A8CCE8"/>
          </a:solidFill>
          <a:ln w="12700">
            <a:solidFill>
              <a:srgbClr val="A8CCE8"/>
            </a:solidFill>
            <a:prstDash val="solid"/>
          </a:ln>
        </p:spPr>
      </p:sp>
      <p:sp>
        <p:nvSpPr>
          <p:cNvPr id="46" name="Text 44"/>
          <p:cNvSpPr/>
          <p:nvPr/>
        </p:nvSpPr>
        <p:spPr>
          <a:xfrm>
            <a:off x="7754112" y="3584448"/>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7" name="Text 45"/>
          <p:cNvSpPr/>
          <p:nvPr/>
        </p:nvSpPr>
        <p:spPr>
          <a:xfrm>
            <a:off x="7269480" y="4407408"/>
            <a:ext cx="1481328" cy="274320"/>
          </a:xfrm>
          <a:prstGeom prst="rect">
            <a:avLst/>
          </a:prstGeom>
          <a:noFill/>
          <a:ln/>
        </p:spPr>
        <p:txBody>
          <a:bodyPr wrap="square" lIns="0" tIns="0" rIns="0" bIns="0" rtlCol="0" anchor="ctr"/>
          <a:lstStyle/>
          <a:p>
            <a:pPr algn="ctr" indent="0" marL="0">
              <a:buNone/>
            </a:pPr>
            <a:r>
              <a:rPr lang="en-US" sz="900" b="1" dirty="0">
                <a:solidFill>
                  <a:srgbClr val="3A6A8A"/>
                </a:solidFill>
                <a:latin typeface="Calibri" pitchFamily="34" charset="0"/>
                <a:ea typeface="Calibri" pitchFamily="34" charset="-122"/>
                <a:cs typeface="Calibri" pitchFamily="34" charset="-120"/>
              </a:rPr>
              <a:t>Nadine</a:t>
            </a:r>
            <a:endParaRPr lang="en-US" sz="900" dirty="0"/>
          </a:p>
        </p:txBody>
      </p:sp>
      <p:sp>
        <p:nvSpPr>
          <p:cNvPr id="48" name="Text 46"/>
          <p:cNvSpPr/>
          <p:nvPr/>
        </p:nvSpPr>
        <p:spPr>
          <a:xfrm>
            <a:off x="365760" y="4754880"/>
            <a:ext cx="8412480" cy="256032"/>
          </a:xfrm>
          <a:prstGeom prst="rect">
            <a:avLst/>
          </a:prstGeom>
          <a:noFill/>
          <a:ln/>
        </p:spPr>
        <p:txBody>
          <a:bodyPr wrap="square" lIns="0" tIns="0" rIns="0" bIns="0" rtlCol="0" anchor="ctr"/>
          <a:lstStyle/>
          <a:p>
            <a:pPr indent="0" marL="0">
              <a:buNone/>
            </a:pPr>
            <a:r>
              <a:rPr lang="en-US" sz="900" b="1" dirty="0">
                <a:solidFill>
                  <a:srgbClr val="0087DC"/>
                </a:solidFill>
                <a:latin typeface="Calibri" pitchFamily="34" charset="0"/>
                <a:ea typeface="Calibri" pitchFamily="34" charset="-122"/>
                <a:cs typeface="Calibri" pitchFamily="34" charset="-120"/>
              </a:rPr>
              <a:t>📌  Replace these placeholders with your actual screenshots and session photos before the defense.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2 · DEFINE</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Translating Findings into Requirements</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7516368" y="411480"/>
            <a:ext cx="1261872" cy="960120"/>
          </a:xfrm>
          <a:prstGeom prst="roundRect">
            <a:avLst>
              <a:gd name="adj" fmla="val 9524"/>
            </a:avLst>
          </a:prstGeom>
          <a:solidFill>
            <a:srgbClr val="0087DC"/>
          </a:solidFill>
          <a:ln w="12700">
            <a:solidFill>
              <a:srgbClr val="0087DC"/>
            </a:solidFill>
            <a:prstDash val="solid"/>
          </a:ln>
          <a:effectLst>
            <a:outerShdw sx="100000" sy="100000" kx="0" ky="0" algn="bl" rotWithShape="0" blurRad="152400" dist="50800" dir="2700000">
              <a:srgbClr val="000000">
                <a:alpha val="18000"/>
              </a:srgbClr>
            </a:outerShdw>
          </a:effectLst>
        </p:spPr>
      </p:sp>
      <p:sp>
        <p:nvSpPr>
          <p:cNvPr id="7" name="Text 5"/>
          <p:cNvSpPr/>
          <p:nvPr/>
        </p:nvSpPr>
        <p:spPr>
          <a:xfrm>
            <a:off x="7516368" y="438912"/>
            <a:ext cx="1261872" cy="53035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8" name="Text 6"/>
          <p:cNvSpPr/>
          <p:nvPr/>
        </p:nvSpPr>
        <p:spPr>
          <a:xfrm>
            <a:off x="7516368" y="914400"/>
            <a:ext cx="1261872"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Define</a:t>
            </a:r>
            <a:endParaRPr lang="en-US" sz="900" dirty="0"/>
          </a:p>
        </p:txBody>
      </p:sp>
      <p:sp>
        <p:nvSpPr>
          <p:cNvPr id="9" name="Shape 7"/>
          <p:cNvSpPr/>
          <p:nvPr/>
        </p:nvSpPr>
        <p:spPr>
          <a:xfrm>
            <a:off x="365760" y="1261872"/>
            <a:ext cx="2788920" cy="2212848"/>
          </a:xfrm>
          <a:prstGeom prst="roundRect">
            <a:avLst>
              <a:gd name="adj" fmla="val 3719"/>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502920" y="1335024"/>
            <a:ext cx="251460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Methods Used</a:t>
            </a:r>
            <a:endParaRPr lang="en-US" sz="1200" dirty="0"/>
          </a:p>
        </p:txBody>
      </p:sp>
      <p:sp>
        <p:nvSpPr>
          <p:cNvPr id="11" name="Shape 9"/>
          <p:cNvSpPr/>
          <p:nvPr/>
        </p:nvSpPr>
        <p:spPr>
          <a:xfrm>
            <a:off x="502920" y="1682496"/>
            <a:ext cx="2514600" cy="25603"/>
          </a:xfrm>
          <a:prstGeom prst="rect">
            <a:avLst/>
          </a:prstGeom>
          <a:solidFill>
            <a:srgbClr val="0087DC"/>
          </a:solidFill>
          <a:ln w="12700">
            <a:solidFill>
              <a:srgbClr val="0087DC"/>
            </a:solidFill>
            <a:prstDash val="solid"/>
          </a:ln>
        </p:spPr>
      </p:sp>
      <p:sp>
        <p:nvSpPr>
          <p:cNvPr id="12" name="Text 10"/>
          <p:cNvSpPr/>
          <p:nvPr/>
        </p:nvSpPr>
        <p:spPr>
          <a:xfrm>
            <a:off x="502920" y="1773936"/>
            <a:ext cx="2514600" cy="1572768"/>
          </a:xfrm>
          <a:prstGeom prst="rect">
            <a:avLst/>
          </a:prstGeom>
          <a:noFill/>
          <a:ln/>
        </p:spPr>
        <p:txBody>
          <a:bodyPr wrap="square" lIns="25400" tIns="25400" rIns="25400" bIns="2540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Requirements analysis (MoSCoW)</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Heuristic evaluation</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Empathy map (refined)</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Personas (3 types)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Delta landing page artefacts</a:t>
            </a:r>
            <a:endParaRPr lang="en-US" sz="1100" dirty="0"/>
          </a:p>
        </p:txBody>
      </p:sp>
      <p:sp>
        <p:nvSpPr>
          <p:cNvPr id="13" name="Shape 11"/>
          <p:cNvSpPr/>
          <p:nvPr/>
        </p:nvSpPr>
        <p:spPr>
          <a:xfrm>
            <a:off x="365760" y="3547872"/>
            <a:ext cx="2788920" cy="1234440"/>
          </a:xfrm>
          <a:prstGeom prst="roundRect">
            <a:avLst>
              <a:gd name="adj" fmla="val 6667"/>
            </a:avLst>
          </a:prstGeom>
          <a:solidFill>
            <a:srgbClr val="E6FAFA"/>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502920" y="3621024"/>
            <a:ext cx="2514600"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Heuristic Evaluation — Key Gaps</a:t>
            </a:r>
            <a:endParaRPr lang="en-US" sz="1100" dirty="0"/>
          </a:p>
        </p:txBody>
      </p:sp>
      <p:sp>
        <p:nvSpPr>
          <p:cNvPr id="15" name="Text 13"/>
          <p:cNvSpPr/>
          <p:nvPr/>
        </p:nvSpPr>
        <p:spPr>
          <a:xfrm>
            <a:off x="502920" y="3931920"/>
            <a:ext cx="2514600" cy="914400"/>
          </a:xfrm>
          <a:prstGeom prst="rect">
            <a:avLst/>
          </a:prstGeom>
          <a:noFill/>
          <a:ln/>
        </p:spPr>
        <p:txBody>
          <a:bodyPr wrap="square" lIns="25400" tIns="25400" rIns="25400" bIns="25400" rtlCol="0" anchor="ctr"/>
          <a:lstStyle/>
          <a:p>
            <a:pPr marL="342900" indent="-342900">
              <a:spcAft>
                <a:spcPts val="200"/>
              </a:spcAft>
              <a:buSzPct val="100000"/>
              <a:buChar char="•"/>
            </a:pPr>
            <a:r>
              <a:rPr lang="en-US" sz="1000" dirty="0">
                <a:solidFill>
                  <a:srgbClr val="334155"/>
                </a:solidFill>
                <a:latin typeface="Calibri" pitchFamily="34" charset="0"/>
                <a:ea typeface="Calibri" pitchFamily="34" charset="-122"/>
                <a:cs typeface="Calibri" pitchFamily="34" charset="-120"/>
              </a:rPr>
              <a:t>No clear visual hierarchy in CTAs</a:t>
            </a:r>
            <a:endParaRPr lang="en-US" sz="1000" dirty="0"/>
          </a:p>
          <a:p>
            <a:pPr marL="342900" indent="-342900">
              <a:spcAft>
                <a:spcPts val="200"/>
              </a:spcAft>
              <a:buSzPct val="100000"/>
              <a:buChar char="•"/>
            </a:pPr>
            <a:r>
              <a:rPr lang="en-US" sz="1000" dirty="0">
                <a:solidFill>
                  <a:srgbClr val="334155"/>
                </a:solidFill>
                <a:latin typeface="Calibri" pitchFamily="34" charset="0"/>
                <a:ea typeface="Calibri" pitchFamily="34" charset="-122"/>
                <a:cs typeface="Calibri" pitchFamily="34" charset="-120"/>
              </a:rPr>
              <a:t>Inconsistent component behaviour</a:t>
            </a:r>
            <a:endParaRPr lang="en-US" sz="1000" dirty="0"/>
          </a:p>
          <a:p>
            <a:pPr marL="342900" indent="-342900">
              <a:spcAft>
                <a:spcPts val="200"/>
              </a:spcAft>
              <a:buSzPct val="100000"/>
              <a:buChar char="•"/>
            </a:pPr>
            <a:r>
              <a:rPr lang="en-US" sz="1000" dirty="0">
                <a:solidFill>
                  <a:srgbClr val="334155"/>
                </a:solidFill>
                <a:latin typeface="Calibri" pitchFamily="34" charset="0"/>
                <a:ea typeface="Calibri" pitchFamily="34" charset="-122"/>
                <a:cs typeface="Calibri" pitchFamily="34" charset="-120"/>
              </a:rPr>
              <a:t>No in-built guidance or help text</a:t>
            </a:r>
            <a:endParaRPr lang="en-US" sz="1000" dirty="0"/>
          </a:p>
          <a:p>
            <a:pPr marL="342900" indent="-342900">
              <a:spcAft>
                <a:spcPts val="200"/>
              </a:spcAft>
              <a:buSzPct val="100000"/>
              <a:buChar char="•"/>
            </a:pPr>
            <a:r>
              <a:rPr lang="en-US" sz="1000" dirty="0">
                <a:solidFill>
                  <a:srgbClr val="334155"/>
                </a:solidFill>
                <a:latin typeface="Calibri" pitchFamily="34" charset="0"/>
                <a:ea typeface="Calibri" pitchFamily="34" charset="-122"/>
                <a:cs typeface="Calibri" pitchFamily="34" charset="-120"/>
              </a:rPr>
              <a:t>Poor mobile/responsive flexibility</a:t>
            </a:r>
            <a:endParaRPr lang="en-US" sz="1000" dirty="0"/>
          </a:p>
        </p:txBody>
      </p:sp>
      <p:sp>
        <p:nvSpPr>
          <p:cNvPr id="16" name="Shape 14"/>
          <p:cNvSpPr/>
          <p:nvPr/>
        </p:nvSpPr>
        <p:spPr>
          <a:xfrm>
            <a:off x="3310128" y="1298448"/>
            <a:ext cx="5486400" cy="3483864"/>
          </a:xfrm>
          <a:prstGeom prst="roundRect">
            <a:avLst>
              <a:gd name="adj" fmla="val 236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3456432" y="1371600"/>
            <a:ext cx="521208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Requirements Derived from Research</a:t>
            </a:r>
            <a:endParaRPr lang="en-US" sz="1200" dirty="0"/>
          </a:p>
        </p:txBody>
      </p:sp>
      <p:sp>
        <p:nvSpPr>
          <p:cNvPr id="18" name="Shape 16"/>
          <p:cNvSpPr/>
          <p:nvPr/>
        </p:nvSpPr>
        <p:spPr>
          <a:xfrm>
            <a:off x="3456432" y="1719072"/>
            <a:ext cx="5212080" cy="25603"/>
          </a:xfrm>
          <a:prstGeom prst="rect">
            <a:avLst/>
          </a:prstGeom>
          <a:solidFill>
            <a:srgbClr val="0087DC"/>
          </a:solidFill>
          <a:ln w="12700">
            <a:solidFill>
              <a:srgbClr val="0087DC"/>
            </a:solidFill>
            <a:prstDash val="solid"/>
          </a:ln>
        </p:spPr>
      </p:sp>
      <p:sp>
        <p:nvSpPr>
          <p:cNvPr id="19" name="Shape 17"/>
          <p:cNvSpPr/>
          <p:nvPr/>
        </p:nvSpPr>
        <p:spPr>
          <a:xfrm>
            <a:off x="3456432" y="1847088"/>
            <a:ext cx="512064" cy="329184"/>
          </a:xfrm>
          <a:prstGeom prst="roundRect">
            <a:avLst>
              <a:gd name="adj" fmla="val 13889"/>
            </a:avLst>
          </a:prstGeom>
          <a:solidFill>
            <a:srgbClr val="00294D"/>
          </a:solidFill>
          <a:ln w="12700">
            <a:solidFill>
              <a:srgbClr val="00294D"/>
            </a:solidFill>
            <a:prstDash val="solid"/>
          </a:ln>
        </p:spPr>
      </p:sp>
      <p:sp>
        <p:nvSpPr>
          <p:cNvPr id="20" name="Text 18"/>
          <p:cNvSpPr/>
          <p:nvPr/>
        </p:nvSpPr>
        <p:spPr>
          <a:xfrm>
            <a:off x="3456432" y="1847088"/>
            <a:ext cx="512064" cy="329184"/>
          </a:xfrm>
          <a:prstGeom prst="rect">
            <a:avLst/>
          </a:prstGeom>
          <a:noFill/>
          <a:ln/>
        </p:spPr>
        <p:txBody>
          <a:bodyPr wrap="square" lIns="0" tIns="0" rIns="0" bIns="0" rtlCol="0" anchor="ctr"/>
          <a:lstStyle/>
          <a:p>
            <a:pPr algn="ctr" indent="0" marL="0">
              <a:buNone/>
            </a:pPr>
            <a:r>
              <a:rPr lang="en-US" sz="850" b="1" dirty="0">
                <a:solidFill>
                  <a:srgbClr val="FFFFFF"/>
                </a:solidFill>
              </a:rPr>
              <a:t>MR1</a:t>
            </a:r>
            <a:endParaRPr lang="en-US" sz="850" dirty="0"/>
          </a:p>
        </p:txBody>
      </p:sp>
      <p:sp>
        <p:nvSpPr>
          <p:cNvPr id="21" name="Text 19"/>
          <p:cNvSpPr/>
          <p:nvPr/>
        </p:nvSpPr>
        <p:spPr>
          <a:xfrm>
            <a:off x="4059936" y="1847088"/>
            <a:ext cx="4572000" cy="329184"/>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Reusable, pre-structured page sections — no coding required</a:t>
            </a:r>
            <a:endParaRPr lang="en-US" sz="1100" dirty="0"/>
          </a:p>
        </p:txBody>
      </p:sp>
      <p:sp>
        <p:nvSpPr>
          <p:cNvPr id="22" name="Shape 20"/>
          <p:cNvSpPr/>
          <p:nvPr/>
        </p:nvSpPr>
        <p:spPr>
          <a:xfrm>
            <a:off x="3456432" y="2322576"/>
            <a:ext cx="512064" cy="329184"/>
          </a:xfrm>
          <a:prstGeom prst="roundRect">
            <a:avLst>
              <a:gd name="adj" fmla="val 13889"/>
            </a:avLst>
          </a:prstGeom>
          <a:solidFill>
            <a:srgbClr val="00294D"/>
          </a:solidFill>
          <a:ln w="12700">
            <a:solidFill>
              <a:srgbClr val="00294D"/>
            </a:solidFill>
            <a:prstDash val="solid"/>
          </a:ln>
        </p:spPr>
      </p:sp>
      <p:sp>
        <p:nvSpPr>
          <p:cNvPr id="23" name="Text 21"/>
          <p:cNvSpPr/>
          <p:nvPr/>
        </p:nvSpPr>
        <p:spPr>
          <a:xfrm>
            <a:off x="3456432" y="2322576"/>
            <a:ext cx="512064" cy="329184"/>
          </a:xfrm>
          <a:prstGeom prst="rect">
            <a:avLst/>
          </a:prstGeom>
          <a:noFill/>
          <a:ln/>
        </p:spPr>
        <p:txBody>
          <a:bodyPr wrap="square" lIns="0" tIns="0" rIns="0" bIns="0" rtlCol="0" anchor="ctr"/>
          <a:lstStyle/>
          <a:p>
            <a:pPr algn="ctr" indent="0" marL="0">
              <a:buNone/>
            </a:pPr>
            <a:r>
              <a:rPr lang="en-US" sz="850" b="1" dirty="0">
                <a:solidFill>
                  <a:srgbClr val="FFFFFF"/>
                </a:solidFill>
              </a:rPr>
              <a:t>MR2</a:t>
            </a:r>
            <a:endParaRPr lang="en-US" sz="850" dirty="0"/>
          </a:p>
        </p:txBody>
      </p:sp>
      <p:sp>
        <p:nvSpPr>
          <p:cNvPr id="24" name="Text 22"/>
          <p:cNvSpPr/>
          <p:nvPr/>
        </p:nvSpPr>
        <p:spPr>
          <a:xfrm>
            <a:off x="4059936" y="2322576"/>
            <a:ext cx="4572000" cy="329184"/>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Immediate live preview of page as it is configured</a:t>
            </a:r>
            <a:endParaRPr lang="en-US" sz="1100" dirty="0"/>
          </a:p>
        </p:txBody>
      </p:sp>
      <p:sp>
        <p:nvSpPr>
          <p:cNvPr id="25" name="Shape 23"/>
          <p:cNvSpPr/>
          <p:nvPr/>
        </p:nvSpPr>
        <p:spPr>
          <a:xfrm>
            <a:off x="3456432" y="2798064"/>
            <a:ext cx="512064" cy="329184"/>
          </a:xfrm>
          <a:prstGeom prst="roundRect">
            <a:avLst>
              <a:gd name="adj" fmla="val 13889"/>
            </a:avLst>
          </a:prstGeom>
          <a:solidFill>
            <a:srgbClr val="00294D"/>
          </a:solidFill>
          <a:ln w="12700">
            <a:solidFill>
              <a:srgbClr val="00294D"/>
            </a:solidFill>
            <a:prstDash val="solid"/>
          </a:ln>
        </p:spPr>
      </p:sp>
      <p:sp>
        <p:nvSpPr>
          <p:cNvPr id="26" name="Text 24"/>
          <p:cNvSpPr/>
          <p:nvPr/>
        </p:nvSpPr>
        <p:spPr>
          <a:xfrm>
            <a:off x="3456432" y="2798064"/>
            <a:ext cx="512064" cy="329184"/>
          </a:xfrm>
          <a:prstGeom prst="rect">
            <a:avLst/>
          </a:prstGeom>
          <a:noFill/>
          <a:ln/>
        </p:spPr>
        <p:txBody>
          <a:bodyPr wrap="square" lIns="0" tIns="0" rIns="0" bIns="0" rtlCol="0" anchor="ctr"/>
          <a:lstStyle/>
          <a:p>
            <a:pPr algn="ctr" indent="0" marL="0">
              <a:buNone/>
            </a:pPr>
            <a:r>
              <a:rPr lang="en-US" sz="850" b="1" dirty="0">
                <a:solidFill>
                  <a:srgbClr val="FFFFFF"/>
                </a:solidFill>
              </a:rPr>
              <a:t>MR3</a:t>
            </a:r>
            <a:endParaRPr lang="en-US" sz="850" dirty="0"/>
          </a:p>
        </p:txBody>
      </p:sp>
      <p:sp>
        <p:nvSpPr>
          <p:cNvPr id="27" name="Text 25"/>
          <p:cNvSpPr/>
          <p:nvPr/>
        </p:nvSpPr>
        <p:spPr>
          <a:xfrm>
            <a:off x="4059936" y="2798064"/>
            <a:ext cx="4572000" cy="329184"/>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Guided configuration with clear field labels and help text</a:t>
            </a:r>
            <a:endParaRPr lang="en-US" sz="1100" dirty="0"/>
          </a:p>
        </p:txBody>
      </p:sp>
      <p:sp>
        <p:nvSpPr>
          <p:cNvPr id="28" name="Shape 26"/>
          <p:cNvSpPr/>
          <p:nvPr/>
        </p:nvSpPr>
        <p:spPr>
          <a:xfrm>
            <a:off x="3456432" y="3273552"/>
            <a:ext cx="512064" cy="329184"/>
          </a:xfrm>
          <a:prstGeom prst="roundRect">
            <a:avLst>
              <a:gd name="adj" fmla="val 13889"/>
            </a:avLst>
          </a:prstGeom>
          <a:solidFill>
            <a:srgbClr val="00294D"/>
          </a:solidFill>
          <a:ln w="12700">
            <a:solidFill>
              <a:srgbClr val="00294D"/>
            </a:solidFill>
            <a:prstDash val="solid"/>
          </a:ln>
        </p:spPr>
      </p:sp>
      <p:sp>
        <p:nvSpPr>
          <p:cNvPr id="29" name="Text 27"/>
          <p:cNvSpPr/>
          <p:nvPr/>
        </p:nvSpPr>
        <p:spPr>
          <a:xfrm>
            <a:off x="3456432" y="3273552"/>
            <a:ext cx="512064" cy="329184"/>
          </a:xfrm>
          <a:prstGeom prst="rect">
            <a:avLst/>
          </a:prstGeom>
          <a:noFill/>
          <a:ln/>
        </p:spPr>
        <p:txBody>
          <a:bodyPr wrap="square" lIns="0" tIns="0" rIns="0" bIns="0" rtlCol="0" anchor="ctr"/>
          <a:lstStyle/>
          <a:p>
            <a:pPr algn="ctr" indent="0" marL="0">
              <a:buNone/>
            </a:pPr>
            <a:r>
              <a:rPr lang="en-US" sz="850" b="1" dirty="0">
                <a:solidFill>
                  <a:srgbClr val="FFFFFF"/>
                </a:solidFill>
              </a:rPr>
              <a:t>MR4</a:t>
            </a:r>
            <a:endParaRPr lang="en-US" sz="850" dirty="0"/>
          </a:p>
        </p:txBody>
      </p:sp>
      <p:sp>
        <p:nvSpPr>
          <p:cNvPr id="30" name="Text 28"/>
          <p:cNvSpPr/>
          <p:nvPr/>
        </p:nvSpPr>
        <p:spPr>
          <a:xfrm>
            <a:off x="4059936" y="3273552"/>
            <a:ext cx="4572000" cy="329184"/>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Consistent layout enforced across all campaign pages</a:t>
            </a:r>
            <a:endParaRPr lang="en-US" sz="1100" dirty="0"/>
          </a:p>
        </p:txBody>
      </p:sp>
      <p:sp>
        <p:nvSpPr>
          <p:cNvPr id="31" name="Shape 29"/>
          <p:cNvSpPr/>
          <p:nvPr/>
        </p:nvSpPr>
        <p:spPr>
          <a:xfrm>
            <a:off x="3456432" y="3749040"/>
            <a:ext cx="512064" cy="329184"/>
          </a:xfrm>
          <a:prstGeom prst="roundRect">
            <a:avLst>
              <a:gd name="adj" fmla="val 13889"/>
            </a:avLst>
          </a:prstGeom>
          <a:solidFill>
            <a:srgbClr val="00294D"/>
          </a:solidFill>
          <a:ln w="12700">
            <a:solidFill>
              <a:srgbClr val="00294D"/>
            </a:solidFill>
            <a:prstDash val="solid"/>
          </a:ln>
        </p:spPr>
      </p:sp>
      <p:sp>
        <p:nvSpPr>
          <p:cNvPr id="32" name="Text 30"/>
          <p:cNvSpPr/>
          <p:nvPr/>
        </p:nvSpPr>
        <p:spPr>
          <a:xfrm>
            <a:off x="3456432" y="3749040"/>
            <a:ext cx="512064" cy="329184"/>
          </a:xfrm>
          <a:prstGeom prst="rect">
            <a:avLst/>
          </a:prstGeom>
          <a:noFill/>
          <a:ln/>
        </p:spPr>
        <p:txBody>
          <a:bodyPr wrap="square" lIns="0" tIns="0" rIns="0" bIns="0" rtlCol="0" anchor="ctr"/>
          <a:lstStyle/>
          <a:p>
            <a:pPr algn="ctr" indent="0" marL="0">
              <a:buNone/>
            </a:pPr>
            <a:r>
              <a:rPr lang="en-US" sz="850" b="1" dirty="0">
                <a:solidFill>
                  <a:srgbClr val="FFFFFF"/>
                </a:solidFill>
              </a:rPr>
              <a:t>MR5</a:t>
            </a:r>
            <a:endParaRPr lang="en-US" sz="850" dirty="0"/>
          </a:p>
        </p:txBody>
      </p:sp>
      <p:sp>
        <p:nvSpPr>
          <p:cNvPr id="33" name="Text 31"/>
          <p:cNvSpPr/>
          <p:nvPr/>
        </p:nvSpPr>
        <p:spPr>
          <a:xfrm>
            <a:off x="4059936" y="3749040"/>
            <a:ext cx="4572000" cy="329184"/>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Scalable structure for future campaign types</a:t>
            </a:r>
            <a:endParaRPr lang="en-US" sz="1100" dirty="0"/>
          </a:p>
        </p:txBody>
      </p:sp>
      <p:sp>
        <p:nvSpPr>
          <p:cNvPr id="34" name="Shape 32"/>
          <p:cNvSpPr/>
          <p:nvPr/>
        </p:nvSpPr>
        <p:spPr>
          <a:xfrm>
            <a:off x="3456432" y="4224528"/>
            <a:ext cx="512064" cy="329184"/>
          </a:xfrm>
          <a:prstGeom prst="roundRect">
            <a:avLst>
              <a:gd name="adj" fmla="val 13889"/>
            </a:avLst>
          </a:prstGeom>
          <a:solidFill>
            <a:srgbClr val="00294D"/>
          </a:solidFill>
          <a:ln w="12700">
            <a:solidFill>
              <a:srgbClr val="00294D"/>
            </a:solidFill>
            <a:prstDash val="solid"/>
          </a:ln>
        </p:spPr>
      </p:sp>
      <p:sp>
        <p:nvSpPr>
          <p:cNvPr id="35" name="Text 33"/>
          <p:cNvSpPr/>
          <p:nvPr/>
        </p:nvSpPr>
        <p:spPr>
          <a:xfrm>
            <a:off x="3456432" y="4224528"/>
            <a:ext cx="512064" cy="329184"/>
          </a:xfrm>
          <a:prstGeom prst="rect">
            <a:avLst/>
          </a:prstGeom>
          <a:noFill/>
          <a:ln/>
        </p:spPr>
        <p:txBody>
          <a:bodyPr wrap="square" lIns="0" tIns="0" rIns="0" bIns="0" rtlCol="0" anchor="ctr"/>
          <a:lstStyle/>
          <a:p>
            <a:pPr algn="ctr" indent="0" marL="0">
              <a:buNone/>
            </a:pPr>
            <a:r>
              <a:rPr lang="en-US" sz="850" b="1" dirty="0">
                <a:solidFill>
                  <a:srgbClr val="FFFFFF"/>
                </a:solidFill>
              </a:rPr>
              <a:t>MR6</a:t>
            </a:r>
            <a:endParaRPr lang="en-US" sz="850" dirty="0"/>
          </a:p>
        </p:txBody>
      </p:sp>
      <p:sp>
        <p:nvSpPr>
          <p:cNvPr id="36" name="Text 34"/>
          <p:cNvSpPr/>
          <p:nvPr/>
        </p:nvSpPr>
        <p:spPr>
          <a:xfrm>
            <a:off x="4059936" y="4224528"/>
            <a:ext cx="4572000" cy="329184"/>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Accessible and self-serviceable for non-technical marketers</a:t>
            </a:r>
            <a:endParaRPr lang="en-US" sz="1100" dirty="0"/>
          </a:p>
        </p:txBody>
      </p:sp>
      <p:sp>
        <p:nvSpPr>
          <p:cNvPr id="37" name="Text 35"/>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SQ2 answered · MoSCoW-prioritised requirements validated with stakeholders — each requirement traceable to a finding from Phase 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3 · IDEATE</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Generating and Selecting the Best Concept</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7516368" y="411480"/>
            <a:ext cx="1261872" cy="960120"/>
          </a:xfrm>
          <a:prstGeom prst="roundRect">
            <a:avLst>
              <a:gd name="adj" fmla="val 9524"/>
            </a:avLst>
          </a:prstGeom>
          <a:solidFill>
            <a:srgbClr val="0087DC"/>
          </a:solidFill>
          <a:ln w="12700">
            <a:solidFill>
              <a:srgbClr val="0087DC"/>
            </a:solidFill>
            <a:prstDash val="solid"/>
          </a:ln>
          <a:effectLst>
            <a:outerShdw sx="100000" sy="100000" kx="0" ky="0" algn="bl" rotWithShape="0" blurRad="152400" dist="50800" dir="2700000">
              <a:srgbClr val="000000">
                <a:alpha val="18000"/>
              </a:srgbClr>
            </a:outerShdw>
          </a:effectLst>
        </p:spPr>
      </p:sp>
      <p:sp>
        <p:nvSpPr>
          <p:cNvPr id="7" name="Text 5"/>
          <p:cNvSpPr/>
          <p:nvPr/>
        </p:nvSpPr>
        <p:spPr>
          <a:xfrm>
            <a:off x="7516368" y="438912"/>
            <a:ext cx="1261872" cy="53035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8" name="Text 6"/>
          <p:cNvSpPr/>
          <p:nvPr/>
        </p:nvSpPr>
        <p:spPr>
          <a:xfrm>
            <a:off x="7516368" y="914400"/>
            <a:ext cx="1261872"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Ideate</a:t>
            </a:r>
            <a:endParaRPr lang="en-US" sz="900" dirty="0"/>
          </a:p>
        </p:txBody>
      </p:sp>
      <p:sp>
        <p:nvSpPr>
          <p:cNvPr id="9" name="Shape 7"/>
          <p:cNvSpPr/>
          <p:nvPr/>
        </p:nvSpPr>
        <p:spPr>
          <a:xfrm>
            <a:off x="365760" y="1261872"/>
            <a:ext cx="2788920" cy="2212848"/>
          </a:xfrm>
          <a:prstGeom prst="roundRect">
            <a:avLst>
              <a:gd name="adj" fmla="val 3719"/>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502920" y="1335024"/>
            <a:ext cx="251460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Methods Used</a:t>
            </a:r>
            <a:endParaRPr lang="en-US" sz="1200" dirty="0"/>
          </a:p>
        </p:txBody>
      </p:sp>
      <p:sp>
        <p:nvSpPr>
          <p:cNvPr id="11" name="Shape 9"/>
          <p:cNvSpPr/>
          <p:nvPr/>
        </p:nvSpPr>
        <p:spPr>
          <a:xfrm>
            <a:off x="502920" y="1682496"/>
            <a:ext cx="2514600" cy="25603"/>
          </a:xfrm>
          <a:prstGeom prst="rect">
            <a:avLst/>
          </a:prstGeom>
          <a:solidFill>
            <a:srgbClr val="0087DC"/>
          </a:solidFill>
          <a:ln w="12700">
            <a:solidFill>
              <a:srgbClr val="0087DC"/>
            </a:solidFill>
            <a:prstDash val="solid"/>
          </a:ln>
        </p:spPr>
      </p:sp>
      <p:sp>
        <p:nvSpPr>
          <p:cNvPr id="12" name="Text 10"/>
          <p:cNvSpPr/>
          <p:nvPr/>
        </p:nvSpPr>
        <p:spPr>
          <a:xfrm>
            <a:off x="502920" y="1773936"/>
            <a:ext cx="2514600" cy="1572768"/>
          </a:xfrm>
          <a:prstGeom prst="rect">
            <a:avLst/>
          </a:prstGeom>
          <a:noFill/>
          <a:ln/>
        </p:spPr>
        <p:txBody>
          <a:bodyPr wrap="square" lIns="25400" tIns="25400" rIns="25400" bIns="2540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Benchmark analysis (CMS/builders)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Storage &amp; sharing analysis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Sidebar pattern analysis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Comparison matrix</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AI concept exploration</a:t>
            </a:r>
            <a:endParaRPr lang="en-US" sz="1100" dirty="0"/>
          </a:p>
        </p:txBody>
      </p:sp>
      <p:sp>
        <p:nvSpPr>
          <p:cNvPr id="13" name="Shape 11"/>
          <p:cNvSpPr/>
          <p:nvPr/>
        </p:nvSpPr>
        <p:spPr>
          <a:xfrm>
            <a:off x="365760" y="3547872"/>
            <a:ext cx="2788920" cy="1234440"/>
          </a:xfrm>
          <a:prstGeom prst="roundRect">
            <a:avLst>
              <a:gd name="adj" fmla="val 6667"/>
            </a:avLst>
          </a:prstGeom>
          <a:solidFill>
            <a:srgbClr val="F3FADA"/>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502920" y="3621024"/>
            <a:ext cx="2514600"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Selected Concept</a:t>
            </a:r>
            <a:endParaRPr lang="en-US" sz="1100" dirty="0"/>
          </a:p>
        </p:txBody>
      </p:sp>
      <p:sp>
        <p:nvSpPr>
          <p:cNvPr id="15" name="Text 13"/>
          <p:cNvSpPr/>
          <p:nvPr/>
        </p:nvSpPr>
        <p:spPr>
          <a:xfrm>
            <a:off x="502920" y="3931920"/>
            <a:ext cx="2514600" cy="8046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Component-based template system: landing-page archetypes built from reusable modules, configured through a sidebar panel with live preview. Highest-scoring concept against all MoSCoW Must requirements.</a:t>
            </a:r>
            <a:endParaRPr lang="en-US" sz="1050" dirty="0"/>
          </a:p>
        </p:txBody>
      </p:sp>
      <p:sp>
        <p:nvSpPr>
          <p:cNvPr id="16" name="Shape 14"/>
          <p:cNvSpPr/>
          <p:nvPr/>
        </p:nvSpPr>
        <p:spPr>
          <a:xfrm>
            <a:off x="3310128" y="1298448"/>
            <a:ext cx="5486400" cy="1078992"/>
          </a:xfrm>
          <a:prstGeom prst="roundRect">
            <a:avLst>
              <a:gd name="adj" fmla="val 7627"/>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3456432" y="1371600"/>
            <a:ext cx="4572000" cy="310896"/>
          </a:xfrm>
          <a:prstGeom prst="rect">
            <a:avLst/>
          </a:prstGeom>
          <a:noFill/>
          <a:ln/>
        </p:spPr>
        <p:txBody>
          <a:bodyPr wrap="square" lIns="0" tIns="0" rIns="0" bIns="0" rtlCol="0" anchor="ctr"/>
          <a:lstStyle/>
          <a:p>
            <a:pPr indent="0" marL="0">
              <a:buNone/>
            </a:pPr>
            <a:r>
              <a:rPr lang="en-US" sz="1250" b="1" dirty="0">
                <a:solidFill>
                  <a:srgbClr val="00294D"/>
                </a:solidFill>
                <a:latin typeface="Cambria" pitchFamily="34" charset="0"/>
                <a:ea typeface="Cambria" pitchFamily="34" charset="-122"/>
                <a:cs typeface="Cambria" pitchFamily="34" charset="-120"/>
              </a:rPr>
              <a:t>Concept A – Free Builder</a:t>
            </a:r>
            <a:endParaRPr lang="en-US" sz="1250" dirty="0"/>
          </a:p>
        </p:txBody>
      </p:sp>
      <p:sp>
        <p:nvSpPr>
          <p:cNvPr id="18" name="Text 16"/>
          <p:cNvSpPr/>
          <p:nvPr/>
        </p:nvSpPr>
        <p:spPr>
          <a:xfrm>
            <a:off x="3456432" y="1700784"/>
            <a:ext cx="3474720" cy="256032"/>
          </a:xfrm>
          <a:prstGeom prst="rect">
            <a:avLst/>
          </a:prstGeom>
          <a:noFill/>
          <a:ln/>
        </p:spPr>
        <p:txBody>
          <a:bodyPr wrap="square" lIns="0" tIns="0" rIns="0" bIns="0" rtlCol="0" anchor="ctr"/>
          <a:lstStyle/>
          <a:p>
            <a:pPr indent="0" marL="0">
              <a:buNone/>
            </a:pPr>
            <a:r>
              <a:rPr lang="en-US" sz="1050" dirty="0">
                <a:solidFill>
                  <a:srgbClr val="0087DC"/>
                </a:solidFill>
                <a:latin typeface="Calibri" pitchFamily="34" charset="0"/>
                <a:ea typeface="Calibri" pitchFamily="34" charset="-122"/>
                <a:cs typeface="Calibri" pitchFamily="34" charset="-120"/>
              </a:rPr>
              <a:t>✔ Maximum flexibility for any layout</a:t>
            </a:r>
            <a:endParaRPr lang="en-US" sz="1050" dirty="0"/>
          </a:p>
        </p:txBody>
      </p:sp>
      <p:sp>
        <p:nvSpPr>
          <p:cNvPr id="19" name="Text 17"/>
          <p:cNvSpPr/>
          <p:nvPr/>
        </p:nvSpPr>
        <p:spPr>
          <a:xfrm>
            <a:off x="3456432" y="1975104"/>
            <a:ext cx="3474720" cy="256032"/>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Too open-ended; produces inconsistent results</a:t>
            </a:r>
            <a:endParaRPr lang="en-US" sz="1050" dirty="0"/>
          </a:p>
        </p:txBody>
      </p:sp>
      <p:sp>
        <p:nvSpPr>
          <p:cNvPr id="20" name="Shape 18"/>
          <p:cNvSpPr/>
          <p:nvPr/>
        </p:nvSpPr>
        <p:spPr>
          <a:xfrm>
            <a:off x="7863840" y="1645920"/>
            <a:ext cx="868680" cy="457200"/>
          </a:xfrm>
          <a:prstGeom prst="roundRect">
            <a:avLst>
              <a:gd name="adj" fmla="val 14000"/>
            </a:avLst>
          </a:prstGeom>
          <a:solidFill>
            <a:srgbClr val="00294D"/>
          </a:solidFill>
          <a:ln w="12700">
            <a:solidFill>
              <a:srgbClr val="00294D"/>
            </a:solidFill>
            <a:prstDash val="solid"/>
          </a:ln>
        </p:spPr>
      </p:sp>
      <p:sp>
        <p:nvSpPr>
          <p:cNvPr id="21" name="Text 19"/>
          <p:cNvSpPr/>
          <p:nvPr/>
        </p:nvSpPr>
        <p:spPr>
          <a:xfrm>
            <a:off x="7863840" y="1645920"/>
            <a:ext cx="8686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6.5/10</a:t>
            </a:r>
            <a:endParaRPr lang="en-US" sz="1200" dirty="0"/>
          </a:p>
        </p:txBody>
      </p:sp>
      <p:sp>
        <p:nvSpPr>
          <p:cNvPr id="22" name="Shape 20"/>
          <p:cNvSpPr/>
          <p:nvPr/>
        </p:nvSpPr>
        <p:spPr>
          <a:xfrm>
            <a:off x="3310128" y="2487168"/>
            <a:ext cx="5486400" cy="1078992"/>
          </a:xfrm>
          <a:prstGeom prst="roundRect">
            <a:avLst>
              <a:gd name="adj" fmla="val 7627"/>
            </a:avLst>
          </a:prstGeom>
          <a:solidFill>
            <a:srgbClr val="E6FAFA"/>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3" name="Shape 21"/>
          <p:cNvSpPr/>
          <p:nvPr/>
        </p:nvSpPr>
        <p:spPr>
          <a:xfrm>
            <a:off x="8321040" y="2596896"/>
            <a:ext cx="384048" cy="329184"/>
          </a:xfrm>
          <a:prstGeom prst="roundRect">
            <a:avLst>
              <a:gd name="adj" fmla="val 16667"/>
            </a:avLst>
          </a:prstGeom>
          <a:solidFill>
            <a:srgbClr val="0087DC"/>
          </a:solidFill>
          <a:ln w="12700">
            <a:solidFill>
              <a:srgbClr val="0087DC"/>
            </a:solidFill>
            <a:prstDash val="solid"/>
          </a:ln>
        </p:spPr>
      </p:sp>
      <p:sp>
        <p:nvSpPr>
          <p:cNvPr id="24" name="Text 22"/>
          <p:cNvSpPr/>
          <p:nvPr/>
        </p:nvSpPr>
        <p:spPr>
          <a:xfrm>
            <a:off x="8321040" y="2596896"/>
            <a:ext cx="384048"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5" name="Text 23"/>
          <p:cNvSpPr/>
          <p:nvPr/>
        </p:nvSpPr>
        <p:spPr>
          <a:xfrm>
            <a:off x="3456432" y="2560320"/>
            <a:ext cx="4572000" cy="310896"/>
          </a:xfrm>
          <a:prstGeom prst="rect">
            <a:avLst/>
          </a:prstGeom>
          <a:noFill/>
          <a:ln/>
        </p:spPr>
        <p:txBody>
          <a:bodyPr wrap="square" lIns="0" tIns="0" rIns="0" bIns="0" rtlCol="0" anchor="ctr"/>
          <a:lstStyle/>
          <a:p>
            <a:pPr indent="0" marL="0">
              <a:buNone/>
            </a:pPr>
            <a:r>
              <a:rPr lang="en-US" sz="1250" b="1" dirty="0">
                <a:solidFill>
                  <a:srgbClr val="00294D"/>
                </a:solidFill>
                <a:latin typeface="Cambria" pitchFamily="34" charset="0"/>
                <a:ea typeface="Cambria" pitchFamily="34" charset="-122"/>
                <a:cs typeface="Cambria" pitchFamily="34" charset="-120"/>
              </a:rPr>
              <a:t>Concept B – Component System</a:t>
            </a:r>
            <a:endParaRPr lang="en-US" sz="1250" dirty="0"/>
          </a:p>
        </p:txBody>
      </p:sp>
      <p:sp>
        <p:nvSpPr>
          <p:cNvPr id="26" name="Text 24"/>
          <p:cNvSpPr/>
          <p:nvPr/>
        </p:nvSpPr>
        <p:spPr>
          <a:xfrm>
            <a:off x="3456432" y="2889504"/>
            <a:ext cx="3474720" cy="256032"/>
          </a:xfrm>
          <a:prstGeom prst="rect">
            <a:avLst/>
          </a:prstGeom>
          <a:noFill/>
          <a:ln/>
        </p:spPr>
        <p:txBody>
          <a:bodyPr wrap="square" lIns="0" tIns="0" rIns="0" bIns="0" rtlCol="0" anchor="ctr"/>
          <a:lstStyle/>
          <a:p>
            <a:pPr indent="0" marL="0">
              <a:buNone/>
            </a:pPr>
            <a:r>
              <a:rPr lang="en-US" sz="1050" dirty="0">
                <a:solidFill>
                  <a:srgbClr val="0087DC"/>
                </a:solidFill>
                <a:latin typeface="Calibri" pitchFamily="34" charset="0"/>
                <a:ea typeface="Calibri" pitchFamily="34" charset="-122"/>
                <a:cs typeface="Calibri" pitchFamily="34" charset="-120"/>
              </a:rPr>
              <a:t>✔ Modular, self-service, enforces consistency</a:t>
            </a:r>
            <a:endParaRPr lang="en-US" sz="1050" dirty="0"/>
          </a:p>
        </p:txBody>
      </p:sp>
      <p:sp>
        <p:nvSpPr>
          <p:cNvPr id="27" name="Text 25"/>
          <p:cNvSpPr/>
          <p:nvPr/>
        </p:nvSpPr>
        <p:spPr>
          <a:xfrm>
            <a:off x="3456432" y="3163824"/>
            <a:ext cx="3474720" cy="256032"/>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Requires well-defined component library upfront</a:t>
            </a:r>
            <a:endParaRPr lang="en-US" sz="1050" dirty="0"/>
          </a:p>
        </p:txBody>
      </p:sp>
      <p:sp>
        <p:nvSpPr>
          <p:cNvPr id="28" name="Shape 26"/>
          <p:cNvSpPr/>
          <p:nvPr/>
        </p:nvSpPr>
        <p:spPr>
          <a:xfrm>
            <a:off x="7863840" y="2834640"/>
            <a:ext cx="868680" cy="457200"/>
          </a:xfrm>
          <a:prstGeom prst="roundRect">
            <a:avLst>
              <a:gd name="adj" fmla="val 14000"/>
            </a:avLst>
          </a:prstGeom>
          <a:solidFill>
            <a:srgbClr val="00294D"/>
          </a:solidFill>
          <a:ln w="12700">
            <a:solidFill>
              <a:srgbClr val="00294D"/>
            </a:solidFill>
            <a:prstDash val="solid"/>
          </a:ln>
        </p:spPr>
      </p:sp>
      <p:sp>
        <p:nvSpPr>
          <p:cNvPr id="29" name="Text 27"/>
          <p:cNvSpPr/>
          <p:nvPr/>
        </p:nvSpPr>
        <p:spPr>
          <a:xfrm>
            <a:off x="7863840" y="2834640"/>
            <a:ext cx="8686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8.8/10</a:t>
            </a:r>
            <a:endParaRPr lang="en-US" sz="1200" dirty="0"/>
          </a:p>
        </p:txBody>
      </p:sp>
      <p:sp>
        <p:nvSpPr>
          <p:cNvPr id="30" name="Shape 28"/>
          <p:cNvSpPr/>
          <p:nvPr/>
        </p:nvSpPr>
        <p:spPr>
          <a:xfrm>
            <a:off x="3310128" y="3675888"/>
            <a:ext cx="5486400" cy="1078992"/>
          </a:xfrm>
          <a:prstGeom prst="roundRect">
            <a:avLst>
              <a:gd name="adj" fmla="val 7627"/>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31" name="Text 29"/>
          <p:cNvSpPr/>
          <p:nvPr/>
        </p:nvSpPr>
        <p:spPr>
          <a:xfrm>
            <a:off x="3456432" y="3749040"/>
            <a:ext cx="4572000" cy="310896"/>
          </a:xfrm>
          <a:prstGeom prst="rect">
            <a:avLst/>
          </a:prstGeom>
          <a:noFill/>
          <a:ln/>
        </p:spPr>
        <p:txBody>
          <a:bodyPr wrap="square" lIns="0" tIns="0" rIns="0" bIns="0" rtlCol="0" anchor="ctr"/>
          <a:lstStyle/>
          <a:p>
            <a:pPr indent="0" marL="0">
              <a:buNone/>
            </a:pPr>
            <a:r>
              <a:rPr lang="en-US" sz="1250" b="1" dirty="0">
                <a:solidFill>
                  <a:srgbClr val="00294D"/>
                </a:solidFill>
                <a:latin typeface="Cambria" pitchFamily="34" charset="0"/>
                <a:ea typeface="Cambria" pitchFamily="34" charset="-122"/>
                <a:cs typeface="Cambria" pitchFamily="34" charset="-120"/>
              </a:rPr>
              <a:t>Concept C – Fixed Templates</a:t>
            </a:r>
            <a:endParaRPr lang="en-US" sz="1250" dirty="0"/>
          </a:p>
        </p:txBody>
      </p:sp>
      <p:sp>
        <p:nvSpPr>
          <p:cNvPr id="32" name="Text 30"/>
          <p:cNvSpPr/>
          <p:nvPr/>
        </p:nvSpPr>
        <p:spPr>
          <a:xfrm>
            <a:off x="3456432" y="4078224"/>
            <a:ext cx="3474720" cy="256032"/>
          </a:xfrm>
          <a:prstGeom prst="rect">
            <a:avLst/>
          </a:prstGeom>
          <a:noFill/>
          <a:ln/>
        </p:spPr>
        <p:txBody>
          <a:bodyPr wrap="square" lIns="0" tIns="0" rIns="0" bIns="0" rtlCol="0" anchor="ctr"/>
          <a:lstStyle/>
          <a:p>
            <a:pPr indent="0" marL="0">
              <a:buNone/>
            </a:pPr>
            <a:r>
              <a:rPr lang="en-US" sz="1050" dirty="0">
                <a:solidFill>
                  <a:srgbClr val="0087DC"/>
                </a:solidFill>
                <a:latin typeface="Calibri" pitchFamily="34" charset="0"/>
                <a:ea typeface="Calibri" pitchFamily="34" charset="-122"/>
                <a:cs typeface="Calibri" pitchFamily="34" charset="-120"/>
              </a:rPr>
              <a:t>✔ Simple and fast for basic campaigns</a:t>
            </a:r>
            <a:endParaRPr lang="en-US" sz="1050" dirty="0"/>
          </a:p>
        </p:txBody>
      </p:sp>
      <p:sp>
        <p:nvSpPr>
          <p:cNvPr id="33" name="Text 31"/>
          <p:cNvSpPr/>
          <p:nvPr/>
        </p:nvSpPr>
        <p:spPr>
          <a:xfrm>
            <a:off x="3456432" y="4352544"/>
            <a:ext cx="3474720" cy="256032"/>
          </a:xfrm>
          <a:prstGeom prst="rect">
            <a:avLst/>
          </a:prstGeom>
          <a:noFill/>
          <a:ln/>
        </p:spPr>
        <p:txBody>
          <a:bodyPr wrap="square" lIns="0" tIns="0" rIns="0" bIns="0" rtlCol="0" anchor="ctr"/>
          <a:lstStyle/>
          <a:p>
            <a:pPr indent="0" marL="0">
              <a:buNone/>
            </a:pPr>
            <a:r>
              <a:rPr lang="en-US" sz="1050" dirty="0">
                <a:solidFill>
                  <a:srgbClr val="C0392B"/>
                </a:solidFill>
                <a:latin typeface="Calibri" pitchFamily="34" charset="0"/>
                <a:ea typeface="Calibri" pitchFamily="34" charset="-122"/>
                <a:cs typeface="Calibri" pitchFamily="34" charset="-120"/>
              </a:rPr>
              <a:t>✖ Too rigid; cannot accommodate varied campaign types</a:t>
            </a:r>
            <a:endParaRPr lang="en-US" sz="1050" dirty="0"/>
          </a:p>
        </p:txBody>
      </p:sp>
      <p:sp>
        <p:nvSpPr>
          <p:cNvPr id="34" name="Shape 32"/>
          <p:cNvSpPr/>
          <p:nvPr/>
        </p:nvSpPr>
        <p:spPr>
          <a:xfrm>
            <a:off x="7863840" y="4023360"/>
            <a:ext cx="868680" cy="457200"/>
          </a:xfrm>
          <a:prstGeom prst="roundRect">
            <a:avLst>
              <a:gd name="adj" fmla="val 14000"/>
            </a:avLst>
          </a:prstGeom>
          <a:solidFill>
            <a:srgbClr val="00294D"/>
          </a:solidFill>
          <a:ln w="12700">
            <a:solidFill>
              <a:srgbClr val="00294D"/>
            </a:solidFill>
            <a:prstDash val="solid"/>
          </a:ln>
        </p:spPr>
      </p:sp>
      <p:sp>
        <p:nvSpPr>
          <p:cNvPr id="35" name="Text 33"/>
          <p:cNvSpPr/>
          <p:nvPr/>
        </p:nvSpPr>
        <p:spPr>
          <a:xfrm>
            <a:off x="7863840" y="4023360"/>
            <a:ext cx="8686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6.0/10</a:t>
            </a:r>
            <a:endParaRPr lang="en-US" sz="1200" dirty="0"/>
          </a:p>
        </p:txBody>
      </p:sp>
      <p:sp>
        <p:nvSpPr>
          <p:cNvPr id="36" name="Text 34"/>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SQ3 answered · Concept selected via comparison matrix scored against MoSCoW Must requirements — not based on preference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4 · PROTOTYPE</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Turning the Concept into a Testable Prototype</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7516368" y="411480"/>
            <a:ext cx="1261872" cy="960120"/>
          </a:xfrm>
          <a:prstGeom prst="roundRect">
            <a:avLst>
              <a:gd name="adj" fmla="val 9524"/>
            </a:avLst>
          </a:prstGeom>
          <a:solidFill>
            <a:srgbClr val="00294D"/>
          </a:solidFill>
          <a:ln w="12700">
            <a:solidFill>
              <a:srgbClr val="00294D"/>
            </a:solidFill>
            <a:prstDash val="solid"/>
          </a:ln>
          <a:effectLst>
            <a:outerShdw sx="100000" sy="100000" kx="0" ky="0" algn="bl" rotWithShape="0" blurRad="152400" dist="50800" dir="2700000">
              <a:srgbClr val="000000">
                <a:alpha val="18000"/>
              </a:srgbClr>
            </a:outerShdw>
          </a:effectLst>
        </p:spPr>
      </p:sp>
      <p:sp>
        <p:nvSpPr>
          <p:cNvPr id="7" name="Text 5"/>
          <p:cNvSpPr/>
          <p:nvPr/>
        </p:nvSpPr>
        <p:spPr>
          <a:xfrm>
            <a:off x="7516368" y="438912"/>
            <a:ext cx="1261872" cy="53035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8" name="Text 6"/>
          <p:cNvSpPr/>
          <p:nvPr/>
        </p:nvSpPr>
        <p:spPr>
          <a:xfrm>
            <a:off x="7516368" y="914400"/>
            <a:ext cx="1261872"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Prototype</a:t>
            </a:r>
            <a:endParaRPr lang="en-US" sz="900" dirty="0"/>
          </a:p>
        </p:txBody>
      </p:sp>
      <p:sp>
        <p:nvSpPr>
          <p:cNvPr id="9" name="Shape 7"/>
          <p:cNvSpPr/>
          <p:nvPr/>
        </p:nvSpPr>
        <p:spPr>
          <a:xfrm>
            <a:off x="365760" y="1261872"/>
            <a:ext cx="2788920" cy="2212848"/>
          </a:xfrm>
          <a:prstGeom prst="roundRect">
            <a:avLst>
              <a:gd name="adj" fmla="val 3719"/>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502920" y="1335024"/>
            <a:ext cx="251460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Methods Used</a:t>
            </a:r>
            <a:endParaRPr lang="en-US" sz="1200" dirty="0"/>
          </a:p>
        </p:txBody>
      </p:sp>
      <p:sp>
        <p:nvSpPr>
          <p:cNvPr id="11" name="Shape 9"/>
          <p:cNvSpPr/>
          <p:nvPr/>
        </p:nvSpPr>
        <p:spPr>
          <a:xfrm>
            <a:off x="502920" y="1682496"/>
            <a:ext cx="2514600" cy="25603"/>
          </a:xfrm>
          <a:prstGeom prst="rect">
            <a:avLst/>
          </a:prstGeom>
          <a:solidFill>
            <a:srgbClr val="0087DC"/>
          </a:solidFill>
          <a:ln w="12700">
            <a:solidFill>
              <a:srgbClr val="0087DC"/>
            </a:solidFill>
            <a:prstDash val="solid"/>
          </a:ln>
        </p:spPr>
      </p:sp>
      <p:sp>
        <p:nvSpPr>
          <p:cNvPr id="12" name="Text 10"/>
          <p:cNvSpPr/>
          <p:nvPr/>
        </p:nvSpPr>
        <p:spPr>
          <a:xfrm>
            <a:off x="502920" y="1773936"/>
            <a:ext cx="2514600" cy="1572768"/>
          </a:xfrm>
          <a:prstGeom prst="rect">
            <a:avLst/>
          </a:prstGeom>
          <a:noFill/>
          <a:ln/>
        </p:spPr>
        <p:txBody>
          <a:bodyPr wrap="square" lIns="25400" tIns="25400" rIns="25400" bIns="2540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Low-fidelity prototype (Figma)</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Mid-fidelity prototype (design system)</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High-fidelity prototype (3 versions)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CMS implementation (versions 1–3)</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AI concept prototype</a:t>
            </a:r>
            <a:endParaRPr lang="en-US" sz="1100" dirty="0"/>
          </a:p>
        </p:txBody>
      </p:sp>
      <p:sp>
        <p:nvSpPr>
          <p:cNvPr id="13" name="Shape 11"/>
          <p:cNvSpPr/>
          <p:nvPr/>
        </p:nvSpPr>
        <p:spPr>
          <a:xfrm>
            <a:off x="365760" y="3547872"/>
            <a:ext cx="2788920" cy="1234440"/>
          </a:xfrm>
          <a:prstGeom prst="roundRect">
            <a:avLst>
              <a:gd name="adj" fmla="val 6667"/>
            </a:avLst>
          </a:prstGeom>
          <a:solidFill>
            <a:srgbClr val="E8F5FE"/>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502920" y="3621024"/>
            <a:ext cx="2514600"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Prototype Scope</a:t>
            </a:r>
            <a:endParaRPr lang="en-US" sz="1100" dirty="0"/>
          </a:p>
        </p:txBody>
      </p:sp>
      <p:sp>
        <p:nvSpPr>
          <p:cNvPr id="15" name="Text 13"/>
          <p:cNvSpPr/>
          <p:nvPr/>
        </p:nvSpPr>
        <p:spPr>
          <a:xfrm>
            <a:off x="502920" y="3931920"/>
            <a:ext cx="2514600" cy="8046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Lo-fi → mid-fi → hi-fi (3 versions). CMS implementation versions 1–3. Each iteration refined based on stakeholder feedback and technical constraints before testing.</a:t>
            </a:r>
            <a:endParaRPr lang="en-US" sz="1050" dirty="0"/>
          </a:p>
        </p:txBody>
      </p:sp>
      <p:sp>
        <p:nvSpPr>
          <p:cNvPr id="16" name="Shape 14"/>
          <p:cNvSpPr/>
          <p:nvPr/>
        </p:nvSpPr>
        <p:spPr>
          <a:xfrm>
            <a:off x="3310128" y="1298448"/>
            <a:ext cx="5486400" cy="3483864"/>
          </a:xfrm>
          <a:prstGeom prst="roundRect">
            <a:avLst>
              <a:gd name="adj" fmla="val 236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3456432" y="1371600"/>
            <a:ext cx="521208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Components Prototyped</a:t>
            </a:r>
            <a:endParaRPr lang="en-US" sz="1200" dirty="0"/>
          </a:p>
        </p:txBody>
      </p:sp>
      <p:sp>
        <p:nvSpPr>
          <p:cNvPr id="18" name="Shape 16"/>
          <p:cNvSpPr/>
          <p:nvPr/>
        </p:nvSpPr>
        <p:spPr>
          <a:xfrm>
            <a:off x="3456432" y="1719072"/>
            <a:ext cx="5212080" cy="25603"/>
          </a:xfrm>
          <a:prstGeom prst="rect">
            <a:avLst/>
          </a:prstGeom>
          <a:solidFill>
            <a:srgbClr val="0087DC"/>
          </a:solidFill>
          <a:ln w="12700">
            <a:solidFill>
              <a:srgbClr val="0087DC"/>
            </a:solidFill>
            <a:prstDash val="solid"/>
          </a:ln>
        </p:spPr>
      </p:sp>
      <p:sp>
        <p:nvSpPr>
          <p:cNvPr id="19" name="Shape 17"/>
          <p:cNvSpPr/>
          <p:nvPr/>
        </p:nvSpPr>
        <p:spPr>
          <a:xfrm>
            <a:off x="3456432" y="1847088"/>
            <a:ext cx="5212080" cy="512064"/>
          </a:xfrm>
          <a:prstGeom prst="roundRect">
            <a:avLst>
              <a:gd name="adj" fmla="val 16071"/>
            </a:avLst>
          </a:prstGeom>
          <a:solidFill>
            <a:srgbClr val="F0F6FC"/>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0" name="Text 18"/>
          <p:cNvSpPr/>
          <p:nvPr/>
        </p:nvSpPr>
        <p:spPr>
          <a:xfrm>
            <a:off x="3520440" y="1847088"/>
            <a:ext cx="457200" cy="512064"/>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1" name="Text 19"/>
          <p:cNvSpPr/>
          <p:nvPr/>
        </p:nvSpPr>
        <p:spPr>
          <a:xfrm>
            <a:off x="4041648" y="1883664"/>
            <a:ext cx="2377440" cy="256032"/>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Hero banner section</a:t>
            </a:r>
            <a:endParaRPr lang="en-US" sz="1100" dirty="0"/>
          </a:p>
        </p:txBody>
      </p:sp>
      <p:sp>
        <p:nvSpPr>
          <p:cNvPr id="22" name="Text 20"/>
          <p:cNvSpPr/>
          <p:nvPr/>
        </p:nvSpPr>
        <p:spPr>
          <a:xfrm>
            <a:off x="4041648" y="2121408"/>
            <a:ext cx="44805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Full-width header with image, headline, subtitle, and CTA button</a:t>
            </a:r>
            <a:endParaRPr lang="en-US" sz="1000" dirty="0"/>
          </a:p>
        </p:txBody>
      </p:sp>
      <p:sp>
        <p:nvSpPr>
          <p:cNvPr id="23" name="Shape 21"/>
          <p:cNvSpPr/>
          <p:nvPr/>
        </p:nvSpPr>
        <p:spPr>
          <a:xfrm>
            <a:off x="3456432" y="2441448"/>
            <a:ext cx="5212080" cy="512064"/>
          </a:xfrm>
          <a:prstGeom prst="roundRect">
            <a:avLst>
              <a:gd name="adj" fmla="val 16071"/>
            </a:avLst>
          </a:prstGeom>
          <a:solidFill>
            <a:srgbClr val="F0F6FC"/>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4" name="Text 22"/>
          <p:cNvSpPr/>
          <p:nvPr/>
        </p:nvSpPr>
        <p:spPr>
          <a:xfrm>
            <a:off x="3520440" y="2441448"/>
            <a:ext cx="457200" cy="512064"/>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5" name="Text 23"/>
          <p:cNvSpPr/>
          <p:nvPr/>
        </p:nvSpPr>
        <p:spPr>
          <a:xfrm>
            <a:off x="4041648" y="2478024"/>
            <a:ext cx="2377440" cy="256032"/>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USP / feature blocks</a:t>
            </a:r>
            <a:endParaRPr lang="en-US" sz="1100" dirty="0"/>
          </a:p>
        </p:txBody>
      </p:sp>
      <p:sp>
        <p:nvSpPr>
          <p:cNvPr id="26" name="Text 24"/>
          <p:cNvSpPr/>
          <p:nvPr/>
        </p:nvSpPr>
        <p:spPr>
          <a:xfrm>
            <a:off x="4041648" y="2715768"/>
            <a:ext cx="44805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3-column value proposition tiles with icon and supporting copy</a:t>
            </a:r>
            <a:endParaRPr lang="en-US" sz="1000" dirty="0"/>
          </a:p>
        </p:txBody>
      </p:sp>
      <p:sp>
        <p:nvSpPr>
          <p:cNvPr id="27" name="Shape 25"/>
          <p:cNvSpPr/>
          <p:nvPr/>
        </p:nvSpPr>
        <p:spPr>
          <a:xfrm>
            <a:off x="3456432" y="3035808"/>
            <a:ext cx="5212080" cy="512064"/>
          </a:xfrm>
          <a:prstGeom prst="roundRect">
            <a:avLst>
              <a:gd name="adj" fmla="val 16071"/>
            </a:avLst>
          </a:prstGeom>
          <a:solidFill>
            <a:srgbClr val="F0F6FC"/>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8" name="Text 26"/>
          <p:cNvSpPr/>
          <p:nvPr/>
        </p:nvSpPr>
        <p:spPr>
          <a:xfrm>
            <a:off x="3520440" y="3035808"/>
            <a:ext cx="457200" cy="512064"/>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29" name="Text 27"/>
          <p:cNvSpPr/>
          <p:nvPr/>
        </p:nvSpPr>
        <p:spPr>
          <a:xfrm>
            <a:off x="4041648" y="3072384"/>
            <a:ext cx="2377440" cy="256032"/>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Call-to-action strip</a:t>
            </a:r>
            <a:endParaRPr lang="en-US" sz="1100" dirty="0"/>
          </a:p>
        </p:txBody>
      </p:sp>
      <p:sp>
        <p:nvSpPr>
          <p:cNvPr id="30" name="Text 28"/>
          <p:cNvSpPr/>
          <p:nvPr/>
        </p:nvSpPr>
        <p:spPr>
          <a:xfrm>
            <a:off x="4041648" y="3310128"/>
            <a:ext cx="44805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Full-width CTA with contrasting background and configurable button</a:t>
            </a:r>
            <a:endParaRPr lang="en-US" sz="1000" dirty="0"/>
          </a:p>
        </p:txBody>
      </p:sp>
      <p:sp>
        <p:nvSpPr>
          <p:cNvPr id="31" name="Shape 29"/>
          <p:cNvSpPr/>
          <p:nvPr/>
        </p:nvSpPr>
        <p:spPr>
          <a:xfrm>
            <a:off x="3456432" y="3630168"/>
            <a:ext cx="5212080" cy="512064"/>
          </a:xfrm>
          <a:prstGeom prst="roundRect">
            <a:avLst>
              <a:gd name="adj" fmla="val 16071"/>
            </a:avLst>
          </a:prstGeom>
          <a:solidFill>
            <a:srgbClr val="F0F6FC"/>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32" name="Text 30"/>
          <p:cNvSpPr/>
          <p:nvPr/>
        </p:nvSpPr>
        <p:spPr>
          <a:xfrm>
            <a:off x="3520440" y="3630168"/>
            <a:ext cx="457200" cy="512064"/>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33" name="Text 31"/>
          <p:cNvSpPr/>
          <p:nvPr/>
        </p:nvSpPr>
        <p:spPr>
          <a:xfrm>
            <a:off x="4041648" y="3666744"/>
            <a:ext cx="2377440" cy="256032"/>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Contact form module</a:t>
            </a:r>
            <a:endParaRPr lang="en-US" sz="1100" dirty="0"/>
          </a:p>
        </p:txBody>
      </p:sp>
      <p:sp>
        <p:nvSpPr>
          <p:cNvPr id="34" name="Text 32"/>
          <p:cNvSpPr/>
          <p:nvPr/>
        </p:nvSpPr>
        <p:spPr>
          <a:xfrm>
            <a:off x="4041648" y="3904488"/>
            <a:ext cx="44805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Configurable form with required/optional field logic</a:t>
            </a:r>
            <a:endParaRPr lang="en-US" sz="1000" dirty="0"/>
          </a:p>
        </p:txBody>
      </p:sp>
      <p:sp>
        <p:nvSpPr>
          <p:cNvPr id="35" name="Shape 33"/>
          <p:cNvSpPr/>
          <p:nvPr/>
        </p:nvSpPr>
        <p:spPr>
          <a:xfrm>
            <a:off x="3456432" y="4224528"/>
            <a:ext cx="5212080" cy="512064"/>
          </a:xfrm>
          <a:prstGeom prst="roundRect">
            <a:avLst>
              <a:gd name="adj" fmla="val 16071"/>
            </a:avLst>
          </a:prstGeom>
          <a:solidFill>
            <a:srgbClr val="F0F6FC"/>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36" name="Text 34"/>
          <p:cNvSpPr/>
          <p:nvPr/>
        </p:nvSpPr>
        <p:spPr>
          <a:xfrm>
            <a:off x="3520440" y="4224528"/>
            <a:ext cx="457200" cy="512064"/>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37" name="Text 35"/>
          <p:cNvSpPr/>
          <p:nvPr/>
        </p:nvSpPr>
        <p:spPr>
          <a:xfrm>
            <a:off x="4041648" y="4261104"/>
            <a:ext cx="2377440" cy="256032"/>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Text + image block</a:t>
            </a:r>
            <a:endParaRPr lang="en-US" sz="1100" dirty="0"/>
          </a:p>
        </p:txBody>
      </p:sp>
      <p:sp>
        <p:nvSpPr>
          <p:cNvPr id="38" name="Text 36"/>
          <p:cNvSpPr/>
          <p:nvPr/>
        </p:nvSpPr>
        <p:spPr>
          <a:xfrm>
            <a:off x="4041648" y="4498848"/>
            <a:ext cx="44805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Flexible 50/50 layout — image left or right, configurable per section</a:t>
            </a:r>
            <a:endParaRPr lang="en-US" sz="1000" dirty="0"/>
          </a:p>
        </p:txBody>
      </p:sp>
      <p:sp>
        <p:nvSpPr>
          <p:cNvPr id="39" name="Text 37"/>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SQ3 continued + SQ4 begins · Lo-fi → mid-fi → hi-fi; CMS versions 1–3 built before formal testing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5 · TEST</a:t>
            </a:r>
            <a:endParaRPr lang="en-US" sz="800" dirty="0"/>
          </a:p>
        </p:txBody>
      </p:sp>
      <p:sp>
        <p:nvSpPr>
          <p:cNvPr id="4" name="Text 2"/>
          <p:cNvSpPr/>
          <p:nvPr/>
        </p:nvSpPr>
        <p:spPr>
          <a:xfrm>
            <a:off x="365760" y="566928"/>
            <a:ext cx="6967728" cy="530352"/>
          </a:xfrm>
          <a:prstGeom prst="rect">
            <a:avLst/>
          </a:prstGeom>
          <a:noFill/>
          <a:ln/>
        </p:spPr>
        <p:txBody>
          <a:bodyPr wrap="square" lIns="0" tIns="0" rIns="0" bIns="0" rtlCol="0" anchor="ctr"/>
          <a:lstStyle/>
          <a:p>
            <a:pPr indent="0" marL="0">
              <a:buNone/>
            </a:pPr>
            <a:r>
              <a:rPr lang="en-US" sz="2200" b="1" dirty="0">
                <a:solidFill>
                  <a:srgbClr val="00294D"/>
                </a:solidFill>
                <a:latin typeface="Cambria" pitchFamily="34" charset="0"/>
                <a:ea typeface="Cambria" pitchFamily="34" charset="-122"/>
                <a:cs typeface="Cambria" pitchFamily="34" charset="-120"/>
              </a:rPr>
              <a:t>Validating the Design Before Implementation</a:t>
            </a:r>
            <a:endParaRPr lang="en-US" sz="22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7516368" y="411480"/>
            <a:ext cx="1261872" cy="960120"/>
          </a:xfrm>
          <a:prstGeom prst="roundRect">
            <a:avLst>
              <a:gd name="adj" fmla="val 9524"/>
            </a:avLst>
          </a:prstGeom>
          <a:solidFill>
            <a:srgbClr val="006FA6"/>
          </a:solidFill>
          <a:ln w="12700">
            <a:solidFill>
              <a:srgbClr val="006FA6"/>
            </a:solidFill>
            <a:prstDash val="solid"/>
          </a:ln>
          <a:effectLst>
            <a:outerShdw sx="100000" sy="100000" kx="0" ky="0" algn="bl" rotWithShape="0" blurRad="152400" dist="50800" dir="2700000">
              <a:srgbClr val="000000">
                <a:alpha val="18000"/>
              </a:srgbClr>
            </a:outerShdw>
          </a:effectLst>
        </p:spPr>
      </p:sp>
      <p:sp>
        <p:nvSpPr>
          <p:cNvPr id="7" name="Text 5"/>
          <p:cNvSpPr/>
          <p:nvPr/>
        </p:nvSpPr>
        <p:spPr>
          <a:xfrm>
            <a:off x="7516368" y="438912"/>
            <a:ext cx="1261872" cy="53035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8" name="Text 6"/>
          <p:cNvSpPr/>
          <p:nvPr/>
        </p:nvSpPr>
        <p:spPr>
          <a:xfrm>
            <a:off x="7516368" y="914400"/>
            <a:ext cx="1261872"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Test</a:t>
            </a:r>
            <a:endParaRPr lang="en-US" sz="900" dirty="0"/>
          </a:p>
        </p:txBody>
      </p:sp>
      <p:sp>
        <p:nvSpPr>
          <p:cNvPr id="9" name="Shape 7"/>
          <p:cNvSpPr/>
          <p:nvPr/>
        </p:nvSpPr>
        <p:spPr>
          <a:xfrm>
            <a:off x="365760" y="1261872"/>
            <a:ext cx="2788920" cy="2212848"/>
          </a:xfrm>
          <a:prstGeom prst="roundRect">
            <a:avLst>
              <a:gd name="adj" fmla="val 3719"/>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502920" y="1335024"/>
            <a:ext cx="251460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Methods Used</a:t>
            </a:r>
            <a:endParaRPr lang="en-US" sz="1200" dirty="0"/>
          </a:p>
        </p:txBody>
      </p:sp>
      <p:sp>
        <p:nvSpPr>
          <p:cNvPr id="11" name="Shape 9"/>
          <p:cNvSpPr/>
          <p:nvPr/>
        </p:nvSpPr>
        <p:spPr>
          <a:xfrm>
            <a:off x="502920" y="1682496"/>
            <a:ext cx="2514600" cy="25603"/>
          </a:xfrm>
          <a:prstGeom prst="rect">
            <a:avLst/>
          </a:prstGeom>
          <a:solidFill>
            <a:srgbClr val="0087DC"/>
          </a:solidFill>
          <a:ln w="12700">
            <a:solidFill>
              <a:srgbClr val="0087DC"/>
            </a:solidFill>
            <a:prstDash val="solid"/>
          </a:ln>
        </p:spPr>
      </p:sp>
      <p:sp>
        <p:nvSpPr>
          <p:cNvPr id="12" name="Text 10"/>
          <p:cNvSpPr/>
          <p:nvPr/>
        </p:nvSpPr>
        <p:spPr>
          <a:xfrm>
            <a:off x="502920" y="1773936"/>
            <a:ext cx="2514600" cy="1572768"/>
          </a:xfrm>
          <a:prstGeom prst="rect">
            <a:avLst/>
          </a:prstGeom>
          <a:noFill/>
          <a:ln/>
        </p:spPr>
        <p:txBody>
          <a:bodyPr wrap="square" lIns="25400" tIns="25400" rIns="25400" bIns="2540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Usability testing plan</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Template refinement (v4–v6)</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Usability testing tasks (n=9)</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Individual session reports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Consolidated report</a:t>
            </a:r>
            <a:endParaRPr lang="en-US" sz="1100" dirty="0"/>
          </a:p>
        </p:txBody>
      </p:sp>
      <p:sp>
        <p:nvSpPr>
          <p:cNvPr id="13" name="Shape 11"/>
          <p:cNvSpPr/>
          <p:nvPr/>
        </p:nvSpPr>
        <p:spPr>
          <a:xfrm>
            <a:off x="365760" y="3547872"/>
            <a:ext cx="2788920" cy="1234440"/>
          </a:xfrm>
          <a:prstGeom prst="roundRect">
            <a:avLst>
              <a:gd name="adj" fmla="val 6667"/>
            </a:avLst>
          </a:prstGeom>
          <a:solidFill>
            <a:srgbClr val="E6FAFA"/>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502920" y="3621024"/>
            <a:ext cx="2514600"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Pre-Test Refinement</a:t>
            </a:r>
            <a:endParaRPr lang="en-US" sz="1100" dirty="0"/>
          </a:p>
        </p:txBody>
      </p:sp>
      <p:sp>
        <p:nvSpPr>
          <p:cNvPr id="15" name="Text 13"/>
          <p:cNvSpPr/>
          <p:nvPr/>
        </p:nvSpPr>
        <p:spPr>
          <a:xfrm>
            <a:off x="502920" y="3931920"/>
            <a:ext cx="2514600" cy="7498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Before testing, template was refined to versions 4, 5 and 6 together with Rose and Fidan to ensure a pre-final state aligned with Delta brand guidelines.</a:t>
            </a:r>
            <a:endParaRPr lang="en-US" sz="1050" dirty="0"/>
          </a:p>
        </p:txBody>
      </p:sp>
      <p:sp>
        <p:nvSpPr>
          <p:cNvPr id="16" name="Shape 14"/>
          <p:cNvSpPr/>
          <p:nvPr/>
        </p:nvSpPr>
        <p:spPr>
          <a:xfrm>
            <a:off x="3310128" y="1298448"/>
            <a:ext cx="5486400" cy="3483864"/>
          </a:xfrm>
          <a:prstGeom prst="roundRect">
            <a:avLst>
              <a:gd name="adj" fmla="val 2362"/>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3456432" y="1371600"/>
            <a:ext cx="521208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Before / After Survey Results  (n=9, scale 1–5)</a:t>
            </a:r>
            <a:endParaRPr lang="en-US" sz="1200" dirty="0"/>
          </a:p>
        </p:txBody>
      </p:sp>
      <p:sp>
        <p:nvSpPr>
          <p:cNvPr id="18" name="Shape 16"/>
          <p:cNvSpPr/>
          <p:nvPr/>
        </p:nvSpPr>
        <p:spPr>
          <a:xfrm>
            <a:off x="3456432" y="1719072"/>
            <a:ext cx="5212080" cy="25603"/>
          </a:xfrm>
          <a:prstGeom prst="rect">
            <a:avLst/>
          </a:prstGeom>
          <a:solidFill>
            <a:srgbClr val="0087DC"/>
          </a:solidFill>
          <a:ln w="12700">
            <a:solidFill>
              <a:srgbClr val="0087DC"/>
            </a:solidFill>
            <a:prstDash val="solid"/>
          </a:ln>
        </p:spPr>
      </p:sp>
      <p:sp>
        <p:nvSpPr>
          <p:cNvPr id="19" name="Shape 17"/>
          <p:cNvSpPr/>
          <p:nvPr/>
        </p:nvSpPr>
        <p:spPr>
          <a:xfrm>
            <a:off x="3456432" y="1847088"/>
            <a:ext cx="5212080" cy="512064"/>
          </a:xfrm>
          <a:prstGeom prst="rect">
            <a:avLst/>
          </a:prstGeom>
          <a:solidFill>
            <a:srgbClr val="FFFFFF"/>
          </a:solidFill>
          <a:ln w="6350">
            <a:solidFill>
              <a:srgbClr val="DCE8F5"/>
            </a:solidFill>
            <a:prstDash val="solid"/>
          </a:ln>
        </p:spPr>
      </p:sp>
      <p:sp>
        <p:nvSpPr>
          <p:cNvPr id="20" name="Text 18"/>
          <p:cNvSpPr/>
          <p:nvPr/>
        </p:nvSpPr>
        <p:spPr>
          <a:xfrm>
            <a:off x="3520440" y="1901952"/>
            <a:ext cx="2560320" cy="402336"/>
          </a:xfrm>
          <a:prstGeom prst="rect">
            <a:avLst/>
          </a:prstGeom>
          <a:noFill/>
          <a:ln/>
        </p:spPr>
        <p:txBody>
          <a:bodyPr wrap="square" lIns="0" tIns="0" rIns="0" bIns="0" rtlCol="0" anchor="ctr"/>
          <a:lstStyle/>
          <a:p>
            <a:pPr indent="0" marL="0">
              <a:buNone/>
            </a:pPr>
            <a:r>
              <a:rPr lang="en-US" sz="1050" dirty="0">
                <a:solidFill>
                  <a:srgbClr val="00294D"/>
                </a:solidFill>
                <a:latin typeface="Calibri" pitchFamily="34" charset="0"/>
                <a:ea typeface="Calibri" pitchFamily="34" charset="-122"/>
                <a:cs typeface="Calibri" pitchFamily="34" charset="-120"/>
              </a:rPr>
              <a:t>Ease of use</a:t>
            </a:r>
            <a:endParaRPr lang="en-US" sz="1050" dirty="0"/>
          </a:p>
        </p:txBody>
      </p:sp>
      <p:sp>
        <p:nvSpPr>
          <p:cNvPr id="21" name="Shape 19"/>
          <p:cNvSpPr/>
          <p:nvPr/>
        </p:nvSpPr>
        <p:spPr>
          <a:xfrm>
            <a:off x="6144768" y="1938528"/>
            <a:ext cx="566928" cy="329184"/>
          </a:xfrm>
          <a:prstGeom prst="roundRect">
            <a:avLst>
              <a:gd name="adj" fmla="val 13889"/>
            </a:avLst>
          </a:prstGeom>
          <a:solidFill>
            <a:srgbClr val="C0392B"/>
          </a:solidFill>
          <a:ln w="12700">
            <a:solidFill>
              <a:srgbClr val="C0392B"/>
            </a:solidFill>
            <a:prstDash val="solid"/>
          </a:ln>
        </p:spPr>
      </p:sp>
      <p:sp>
        <p:nvSpPr>
          <p:cNvPr id="22" name="Text 20"/>
          <p:cNvSpPr/>
          <p:nvPr/>
        </p:nvSpPr>
        <p:spPr>
          <a:xfrm>
            <a:off x="6144768" y="1938528"/>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2.8</a:t>
            </a:r>
            <a:endParaRPr lang="en-US" sz="1100" dirty="0"/>
          </a:p>
        </p:txBody>
      </p:sp>
      <p:sp>
        <p:nvSpPr>
          <p:cNvPr id="23" name="Text 21"/>
          <p:cNvSpPr/>
          <p:nvPr/>
        </p:nvSpPr>
        <p:spPr>
          <a:xfrm>
            <a:off x="6766560" y="1938528"/>
            <a:ext cx="274320" cy="329184"/>
          </a:xfrm>
          <a:prstGeom prst="rect">
            <a:avLst/>
          </a:prstGeom>
          <a:noFill/>
          <a:ln/>
        </p:spPr>
        <p:txBody>
          <a:bodyPr wrap="square" lIns="0" tIns="0" rIns="0" bIns="0" rtlCol="0" anchor="ctr"/>
          <a:lstStyle/>
          <a:p>
            <a:pPr algn="ctr" indent="0" marL="0">
              <a:buNone/>
            </a:pPr>
            <a:r>
              <a:rPr lang="en-US" sz="1200" dirty="0">
                <a:solidFill>
                  <a:srgbClr val="64748B"/>
                </a:solidFill>
              </a:rPr>
              <a:t>→</a:t>
            </a:r>
            <a:endParaRPr lang="en-US" sz="1200" dirty="0"/>
          </a:p>
        </p:txBody>
      </p:sp>
      <p:sp>
        <p:nvSpPr>
          <p:cNvPr id="24" name="Shape 22"/>
          <p:cNvSpPr/>
          <p:nvPr/>
        </p:nvSpPr>
        <p:spPr>
          <a:xfrm>
            <a:off x="7095744" y="1938528"/>
            <a:ext cx="566928" cy="329184"/>
          </a:xfrm>
          <a:prstGeom prst="roundRect">
            <a:avLst>
              <a:gd name="adj" fmla="val 13889"/>
            </a:avLst>
          </a:prstGeom>
          <a:solidFill>
            <a:srgbClr val="0087DC"/>
          </a:solidFill>
          <a:ln w="12700">
            <a:solidFill>
              <a:srgbClr val="0087DC"/>
            </a:solidFill>
            <a:prstDash val="solid"/>
          </a:ln>
        </p:spPr>
      </p:sp>
      <p:sp>
        <p:nvSpPr>
          <p:cNvPr id="25" name="Text 23"/>
          <p:cNvSpPr/>
          <p:nvPr/>
        </p:nvSpPr>
        <p:spPr>
          <a:xfrm>
            <a:off x="7095744" y="1938528"/>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4.2</a:t>
            </a:r>
            <a:endParaRPr lang="en-US" sz="1100" dirty="0"/>
          </a:p>
        </p:txBody>
      </p:sp>
      <p:sp>
        <p:nvSpPr>
          <p:cNvPr id="26" name="Text 24"/>
          <p:cNvSpPr/>
          <p:nvPr/>
        </p:nvSpPr>
        <p:spPr>
          <a:xfrm>
            <a:off x="7717536" y="1938528"/>
            <a:ext cx="749808" cy="329184"/>
          </a:xfrm>
          <a:prstGeom prst="rect">
            <a:avLst/>
          </a:prstGeom>
          <a:noFill/>
          <a:ln/>
        </p:spPr>
        <p:txBody>
          <a:bodyPr wrap="square" lIns="0" tIns="0" rIns="0" bIns="0" rtlCol="0" anchor="ctr"/>
          <a:lstStyle/>
          <a:p>
            <a:pPr algn="ctr" indent="0" marL="0">
              <a:buNone/>
            </a:pPr>
            <a:r>
              <a:rPr lang="en-US" sz="1100" b="1" dirty="0">
                <a:solidFill>
                  <a:srgbClr val="0087DC"/>
                </a:solidFill>
                <a:latin typeface="Cambria" pitchFamily="34" charset="0"/>
                <a:ea typeface="Cambria" pitchFamily="34" charset="-122"/>
                <a:cs typeface="Cambria" pitchFamily="34" charset="-120"/>
              </a:rPr>
              <a:t>+1.4</a:t>
            </a:r>
            <a:endParaRPr lang="en-US" sz="1100" dirty="0"/>
          </a:p>
        </p:txBody>
      </p:sp>
      <p:sp>
        <p:nvSpPr>
          <p:cNvPr id="27" name="Shape 25"/>
          <p:cNvSpPr/>
          <p:nvPr/>
        </p:nvSpPr>
        <p:spPr>
          <a:xfrm>
            <a:off x="3456432" y="2432304"/>
            <a:ext cx="5212080" cy="512064"/>
          </a:xfrm>
          <a:prstGeom prst="rect">
            <a:avLst/>
          </a:prstGeom>
          <a:solidFill>
            <a:srgbClr val="F5F8FB"/>
          </a:solidFill>
          <a:ln w="6350">
            <a:solidFill>
              <a:srgbClr val="DCE8F5"/>
            </a:solidFill>
            <a:prstDash val="solid"/>
          </a:ln>
        </p:spPr>
      </p:sp>
      <p:sp>
        <p:nvSpPr>
          <p:cNvPr id="28" name="Text 26"/>
          <p:cNvSpPr/>
          <p:nvPr/>
        </p:nvSpPr>
        <p:spPr>
          <a:xfrm>
            <a:off x="3520440" y="2487168"/>
            <a:ext cx="2560320" cy="402336"/>
          </a:xfrm>
          <a:prstGeom prst="rect">
            <a:avLst/>
          </a:prstGeom>
          <a:noFill/>
          <a:ln/>
        </p:spPr>
        <p:txBody>
          <a:bodyPr wrap="square" lIns="0" tIns="0" rIns="0" bIns="0" rtlCol="0" anchor="ctr"/>
          <a:lstStyle/>
          <a:p>
            <a:pPr indent="0" marL="0">
              <a:buNone/>
            </a:pPr>
            <a:r>
              <a:rPr lang="en-US" sz="1050" dirty="0">
                <a:solidFill>
                  <a:srgbClr val="00294D"/>
                </a:solidFill>
                <a:latin typeface="Calibri" pitchFamily="34" charset="0"/>
                <a:ea typeface="Calibri" pitchFamily="34" charset="-122"/>
                <a:cs typeface="Calibri" pitchFamily="34" charset="-120"/>
              </a:rPr>
              <a:t>Self-sufficiency</a:t>
            </a:r>
            <a:endParaRPr lang="en-US" sz="1050" dirty="0"/>
          </a:p>
        </p:txBody>
      </p:sp>
      <p:sp>
        <p:nvSpPr>
          <p:cNvPr id="29" name="Shape 27"/>
          <p:cNvSpPr/>
          <p:nvPr/>
        </p:nvSpPr>
        <p:spPr>
          <a:xfrm>
            <a:off x="6144768" y="2523744"/>
            <a:ext cx="566928" cy="329184"/>
          </a:xfrm>
          <a:prstGeom prst="roundRect">
            <a:avLst>
              <a:gd name="adj" fmla="val 13889"/>
            </a:avLst>
          </a:prstGeom>
          <a:solidFill>
            <a:srgbClr val="C0392B"/>
          </a:solidFill>
          <a:ln w="12700">
            <a:solidFill>
              <a:srgbClr val="C0392B"/>
            </a:solidFill>
            <a:prstDash val="solid"/>
          </a:ln>
        </p:spPr>
      </p:sp>
      <p:sp>
        <p:nvSpPr>
          <p:cNvPr id="30" name="Text 28"/>
          <p:cNvSpPr/>
          <p:nvPr/>
        </p:nvSpPr>
        <p:spPr>
          <a:xfrm>
            <a:off x="6144768" y="2523744"/>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2.2</a:t>
            </a:r>
            <a:endParaRPr lang="en-US" sz="1100" dirty="0"/>
          </a:p>
        </p:txBody>
      </p:sp>
      <p:sp>
        <p:nvSpPr>
          <p:cNvPr id="31" name="Text 29"/>
          <p:cNvSpPr/>
          <p:nvPr/>
        </p:nvSpPr>
        <p:spPr>
          <a:xfrm>
            <a:off x="6766560" y="2523744"/>
            <a:ext cx="274320" cy="329184"/>
          </a:xfrm>
          <a:prstGeom prst="rect">
            <a:avLst/>
          </a:prstGeom>
          <a:noFill/>
          <a:ln/>
        </p:spPr>
        <p:txBody>
          <a:bodyPr wrap="square" lIns="0" tIns="0" rIns="0" bIns="0" rtlCol="0" anchor="ctr"/>
          <a:lstStyle/>
          <a:p>
            <a:pPr algn="ctr" indent="0" marL="0">
              <a:buNone/>
            </a:pPr>
            <a:r>
              <a:rPr lang="en-US" sz="1200" dirty="0">
                <a:solidFill>
                  <a:srgbClr val="64748B"/>
                </a:solidFill>
              </a:rPr>
              <a:t>→</a:t>
            </a:r>
            <a:endParaRPr lang="en-US" sz="1200" dirty="0"/>
          </a:p>
        </p:txBody>
      </p:sp>
      <p:sp>
        <p:nvSpPr>
          <p:cNvPr id="32" name="Shape 30"/>
          <p:cNvSpPr/>
          <p:nvPr/>
        </p:nvSpPr>
        <p:spPr>
          <a:xfrm>
            <a:off x="7095744" y="2523744"/>
            <a:ext cx="566928" cy="329184"/>
          </a:xfrm>
          <a:prstGeom prst="roundRect">
            <a:avLst>
              <a:gd name="adj" fmla="val 13889"/>
            </a:avLst>
          </a:prstGeom>
          <a:solidFill>
            <a:srgbClr val="0087DC"/>
          </a:solidFill>
          <a:ln w="12700">
            <a:solidFill>
              <a:srgbClr val="0087DC"/>
            </a:solidFill>
            <a:prstDash val="solid"/>
          </a:ln>
        </p:spPr>
      </p:sp>
      <p:sp>
        <p:nvSpPr>
          <p:cNvPr id="33" name="Text 31"/>
          <p:cNvSpPr/>
          <p:nvPr/>
        </p:nvSpPr>
        <p:spPr>
          <a:xfrm>
            <a:off x="7095744" y="2523744"/>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4.1</a:t>
            </a:r>
            <a:endParaRPr lang="en-US" sz="1100" dirty="0"/>
          </a:p>
        </p:txBody>
      </p:sp>
      <p:sp>
        <p:nvSpPr>
          <p:cNvPr id="34" name="Text 32"/>
          <p:cNvSpPr/>
          <p:nvPr/>
        </p:nvSpPr>
        <p:spPr>
          <a:xfrm>
            <a:off x="7717536" y="2523744"/>
            <a:ext cx="749808" cy="329184"/>
          </a:xfrm>
          <a:prstGeom prst="rect">
            <a:avLst/>
          </a:prstGeom>
          <a:noFill/>
          <a:ln/>
        </p:spPr>
        <p:txBody>
          <a:bodyPr wrap="square" lIns="0" tIns="0" rIns="0" bIns="0" rtlCol="0" anchor="ctr"/>
          <a:lstStyle/>
          <a:p>
            <a:pPr algn="ctr" indent="0" marL="0">
              <a:buNone/>
            </a:pPr>
            <a:r>
              <a:rPr lang="en-US" sz="1100" b="1" dirty="0">
                <a:solidFill>
                  <a:srgbClr val="0087DC"/>
                </a:solidFill>
                <a:latin typeface="Cambria" pitchFamily="34" charset="0"/>
                <a:ea typeface="Cambria" pitchFamily="34" charset="-122"/>
                <a:cs typeface="Cambria" pitchFamily="34" charset="-120"/>
              </a:rPr>
              <a:t>+1.9</a:t>
            </a:r>
            <a:endParaRPr lang="en-US" sz="1100" dirty="0"/>
          </a:p>
        </p:txBody>
      </p:sp>
      <p:sp>
        <p:nvSpPr>
          <p:cNvPr id="35" name="Shape 33"/>
          <p:cNvSpPr/>
          <p:nvPr/>
        </p:nvSpPr>
        <p:spPr>
          <a:xfrm>
            <a:off x="3456432" y="3017520"/>
            <a:ext cx="5212080" cy="512064"/>
          </a:xfrm>
          <a:prstGeom prst="rect">
            <a:avLst/>
          </a:prstGeom>
          <a:solidFill>
            <a:srgbClr val="FFFFFF"/>
          </a:solidFill>
          <a:ln w="6350">
            <a:solidFill>
              <a:srgbClr val="DCE8F5"/>
            </a:solidFill>
            <a:prstDash val="solid"/>
          </a:ln>
        </p:spPr>
      </p:sp>
      <p:sp>
        <p:nvSpPr>
          <p:cNvPr id="36" name="Text 34"/>
          <p:cNvSpPr/>
          <p:nvPr/>
        </p:nvSpPr>
        <p:spPr>
          <a:xfrm>
            <a:off x="3520440" y="3072384"/>
            <a:ext cx="2560320" cy="402336"/>
          </a:xfrm>
          <a:prstGeom prst="rect">
            <a:avLst/>
          </a:prstGeom>
          <a:noFill/>
          <a:ln/>
        </p:spPr>
        <p:txBody>
          <a:bodyPr wrap="square" lIns="0" tIns="0" rIns="0" bIns="0" rtlCol="0" anchor="ctr"/>
          <a:lstStyle/>
          <a:p>
            <a:pPr indent="0" marL="0">
              <a:buNone/>
            </a:pPr>
            <a:r>
              <a:rPr lang="en-US" sz="1050" dirty="0">
                <a:solidFill>
                  <a:srgbClr val="00294D"/>
                </a:solidFill>
                <a:latin typeface="Calibri" pitchFamily="34" charset="0"/>
                <a:ea typeface="Calibri" pitchFamily="34" charset="-122"/>
                <a:cs typeface="Calibri" pitchFamily="34" charset="-120"/>
              </a:rPr>
              <a:t>Page consistency</a:t>
            </a:r>
            <a:endParaRPr lang="en-US" sz="1050" dirty="0"/>
          </a:p>
        </p:txBody>
      </p:sp>
      <p:sp>
        <p:nvSpPr>
          <p:cNvPr id="37" name="Shape 35"/>
          <p:cNvSpPr/>
          <p:nvPr/>
        </p:nvSpPr>
        <p:spPr>
          <a:xfrm>
            <a:off x="6144768" y="3108960"/>
            <a:ext cx="566928" cy="329184"/>
          </a:xfrm>
          <a:prstGeom prst="roundRect">
            <a:avLst>
              <a:gd name="adj" fmla="val 13889"/>
            </a:avLst>
          </a:prstGeom>
          <a:solidFill>
            <a:srgbClr val="C0392B"/>
          </a:solidFill>
          <a:ln w="12700">
            <a:solidFill>
              <a:srgbClr val="C0392B"/>
            </a:solidFill>
            <a:prstDash val="solid"/>
          </a:ln>
        </p:spPr>
      </p:sp>
      <p:sp>
        <p:nvSpPr>
          <p:cNvPr id="38" name="Text 36"/>
          <p:cNvSpPr/>
          <p:nvPr/>
        </p:nvSpPr>
        <p:spPr>
          <a:xfrm>
            <a:off x="6144768" y="3108960"/>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1.8</a:t>
            </a:r>
            <a:endParaRPr lang="en-US" sz="1100" dirty="0"/>
          </a:p>
        </p:txBody>
      </p:sp>
      <p:sp>
        <p:nvSpPr>
          <p:cNvPr id="39" name="Text 37"/>
          <p:cNvSpPr/>
          <p:nvPr/>
        </p:nvSpPr>
        <p:spPr>
          <a:xfrm>
            <a:off x="6766560" y="3108960"/>
            <a:ext cx="274320" cy="329184"/>
          </a:xfrm>
          <a:prstGeom prst="rect">
            <a:avLst/>
          </a:prstGeom>
          <a:noFill/>
          <a:ln/>
        </p:spPr>
        <p:txBody>
          <a:bodyPr wrap="square" lIns="0" tIns="0" rIns="0" bIns="0" rtlCol="0" anchor="ctr"/>
          <a:lstStyle/>
          <a:p>
            <a:pPr algn="ctr" indent="0" marL="0">
              <a:buNone/>
            </a:pPr>
            <a:r>
              <a:rPr lang="en-US" sz="1200" dirty="0">
                <a:solidFill>
                  <a:srgbClr val="64748B"/>
                </a:solidFill>
              </a:rPr>
              <a:t>→</a:t>
            </a:r>
            <a:endParaRPr lang="en-US" sz="1200" dirty="0"/>
          </a:p>
        </p:txBody>
      </p:sp>
      <p:sp>
        <p:nvSpPr>
          <p:cNvPr id="40" name="Shape 38"/>
          <p:cNvSpPr/>
          <p:nvPr/>
        </p:nvSpPr>
        <p:spPr>
          <a:xfrm>
            <a:off x="7095744" y="3108960"/>
            <a:ext cx="566928" cy="329184"/>
          </a:xfrm>
          <a:prstGeom prst="roundRect">
            <a:avLst>
              <a:gd name="adj" fmla="val 13889"/>
            </a:avLst>
          </a:prstGeom>
          <a:solidFill>
            <a:srgbClr val="0087DC"/>
          </a:solidFill>
          <a:ln w="12700">
            <a:solidFill>
              <a:srgbClr val="0087DC"/>
            </a:solidFill>
            <a:prstDash val="solid"/>
          </a:ln>
        </p:spPr>
      </p:sp>
      <p:sp>
        <p:nvSpPr>
          <p:cNvPr id="41" name="Text 39"/>
          <p:cNvSpPr/>
          <p:nvPr/>
        </p:nvSpPr>
        <p:spPr>
          <a:xfrm>
            <a:off x="7095744" y="3108960"/>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4.2</a:t>
            </a:r>
            <a:endParaRPr lang="en-US" sz="1100" dirty="0"/>
          </a:p>
        </p:txBody>
      </p:sp>
      <p:sp>
        <p:nvSpPr>
          <p:cNvPr id="42" name="Text 40"/>
          <p:cNvSpPr/>
          <p:nvPr/>
        </p:nvSpPr>
        <p:spPr>
          <a:xfrm>
            <a:off x="7717536" y="3108960"/>
            <a:ext cx="749808" cy="329184"/>
          </a:xfrm>
          <a:prstGeom prst="rect">
            <a:avLst/>
          </a:prstGeom>
          <a:noFill/>
          <a:ln/>
        </p:spPr>
        <p:txBody>
          <a:bodyPr wrap="square" lIns="0" tIns="0" rIns="0" bIns="0" rtlCol="0" anchor="ctr"/>
          <a:lstStyle/>
          <a:p>
            <a:pPr algn="ctr" indent="0" marL="0">
              <a:buNone/>
            </a:pPr>
            <a:r>
              <a:rPr lang="en-US" sz="1100" b="1" dirty="0">
                <a:solidFill>
                  <a:srgbClr val="0087DC"/>
                </a:solidFill>
                <a:latin typeface="Cambria" pitchFamily="34" charset="0"/>
                <a:ea typeface="Cambria" pitchFamily="34" charset="-122"/>
                <a:cs typeface="Cambria" pitchFamily="34" charset="-120"/>
              </a:rPr>
              <a:t>+2.4</a:t>
            </a:r>
            <a:endParaRPr lang="en-US" sz="1100" dirty="0"/>
          </a:p>
        </p:txBody>
      </p:sp>
      <p:sp>
        <p:nvSpPr>
          <p:cNvPr id="43" name="Shape 41"/>
          <p:cNvSpPr/>
          <p:nvPr/>
        </p:nvSpPr>
        <p:spPr>
          <a:xfrm>
            <a:off x="3456432" y="3602736"/>
            <a:ext cx="5212080" cy="512064"/>
          </a:xfrm>
          <a:prstGeom prst="rect">
            <a:avLst/>
          </a:prstGeom>
          <a:solidFill>
            <a:srgbClr val="F5F8FB"/>
          </a:solidFill>
          <a:ln w="6350">
            <a:solidFill>
              <a:srgbClr val="DCE8F5"/>
            </a:solidFill>
            <a:prstDash val="solid"/>
          </a:ln>
        </p:spPr>
      </p:sp>
      <p:sp>
        <p:nvSpPr>
          <p:cNvPr id="44" name="Text 42"/>
          <p:cNvSpPr/>
          <p:nvPr/>
        </p:nvSpPr>
        <p:spPr>
          <a:xfrm>
            <a:off x="3520440" y="3657600"/>
            <a:ext cx="2560320" cy="402336"/>
          </a:xfrm>
          <a:prstGeom prst="rect">
            <a:avLst/>
          </a:prstGeom>
          <a:noFill/>
          <a:ln/>
        </p:spPr>
        <p:txBody>
          <a:bodyPr wrap="square" lIns="0" tIns="0" rIns="0" bIns="0" rtlCol="0" anchor="ctr"/>
          <a:lstStyle/>
          <a:p>
            <a:pPr indent="0" marL="0">
              <a:buNone/>
            </a:pPr>
            <a:r>
              <a:rPr lang="en-US" sz="1050" dirty="0">
                <a:solidFill>
                  <a:srgbClr val="00294D"/>
                </a:solidFill>
                <a:latin typeface="Calibri" pitchFamily="34" charset="0"/>
                <a:ea typeface="Calibri" pitchFamily="34" charset="-122"/>
                <a:cs typeface="Calibri" pitchFamily="34" charset="-120"/>
              </a:rPr>
              <a:t>Overall satisfaction</a:t>
            </a:r>
            <a:endParaRPr lang="en-US" sz="1050" dirty="0"/>
          </a:p>
        </p:txBody>
      </p:sp>
      <p:sp>
        <p:nvSpPr>
          <p:cNvPr id="45" name="Shape 43"/>
          <p:cNvSpPr/>
          <p:nvPr/>
        </p:nvSpPr>
        <p:spPr>
          <a:xfrm>
            <a:off x="6144768" y="3694176"/>
            <a:ext cx="566928" cy="329184"/>
          </a:xfrm>
          <a:prstGeom prst="roundRect">
            <a:avLst>
              <a:gd name="adj" fmla="val 13889"/>
            </a:avLst>
          </a:prstGeom>
          <a:solidFill>
            <a:srgbClr val="C0392B"/>
          </a:solidFill>
          <a:ln w="12700">
            <a:solidFill>
              <a:srgbClr val="C0392B"/>
            </a:solidFill>
            <a:prstDash val="solid"/>
          </a:ln>
        </p:spPr>
      </p:sp>
      <p:sp>
        <p:nvSpPr>
          <p:cNvPr id="46" name="Text 44"/>
          <p:cNvSpPr/>
          <p:nvPr/>
        </p:nvSpPr>
        <p:spPr>
          <a:xfrm>
            <a:off x="6144768" y="3694176"/>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47" name="Text 45"/>
          <p:cNvSpPr/>
          <p:nvPr/>
        </p:nvSpPr>
        <p:spPr>
          <a:xfrm>
            <a:off x="6766560" y="3694176"/>
            <a:ext cx="274320" cy="329184"/>
          </a:xfrm>
          <a:prstGeom prst="rect">
            <a:avLst/>
          </a:prstGeom>
          <a:noFill/>
          <a:ln/>
        </p:spPr>
        <p:txBody>
          <a:bodyPr wrap="square" lIns="0" tIns="0" rIns="0" bIns="0" rtlCol="0" anchor="ctr"/>
          <a:lstStyle/>
          <a:p>
            <a:pPr algn="ctr" indent="0" marL="0">
              <a:buNone/>
            </a:pPr>
            <a:r>
              <a:rPr lang="en-US" sz="1200" dirty="0">
                <a:solidFill>
                  <a:srgbClr val="64748B"/>
                </a:solidFill>
              </a:rPr>
              <a:t>→</a:t>
            </a:r>
            <a:endParaRPr lang="en-US" sz="1200" dirty="0"/>
          </a:p>
        </p:txBody>
      </p:sp>
      <p:sp>
        <p:nvSpPr>
          <p:cNvPr id="48" name="Shape 46"/>
          <p:cNvSpPr/>
          <p:nvPr/>
        </p:nvSpPr>
        <p:spPr>
          <a:xfrm>
            <a:off x="7095744" y="3694176"/>
            <a:ext cx="566928" cy="329184"/>
          </a:xfrm>
          <a:prstGeom prst="roundRect">
            <a:avLst>
              <a:gd name="adj" fmla="val 13889"/>
            </a:avLst>
          </a:prstGeom>
          <a:solidFill>
            <a:srgbClr val="0087DC"/>
          </a:solidFill>
          <a:ln w="12700">
            <a:solidFill>
              <a:srgbClr val="0087DC"/>
            </a:solidFill>
            <a:prstDash val="solid"/>
          </a:ln>
        </p:spPr>
      </p:sp>
      <p:sp>
        <p:nvSpPr>
          <p:cNvPr id="49" name="Text 47"/>
          <p:cNvSpPr/>
          <p:nvPr/>
        </p:nvSpPr>
        <p:spPr>
          <a:xfrm>
            <a:off x="7095744" y="3694176"/>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4.1</a:t>
            </a:r>
            <a:endParaRPr lang="en-US" sz="1100" dirty="0"/>
          </a:p>
        </p:txBody>
      </p:sp>
      <p:sp>
        <p:nvSpPr>
          <p:cNvPr id="50" name="Text 48"/>
          <p:cNvSpPr/>
          <p:nvPr/>
        </p:nvSpPr>
        <p:spPr>
          <a:xfrm>
            <a:off x="7717536" y="3694176"/>
            <a:ext cx="749808" cy="329184"/>
          </a:xfrm>
          <a:prstGeom prst="rect">
            <a:avLst/>
          </a:prstGeom>
          <a:noFill/>
          <a:ln/>
        </p:spPr>
        <p:txBody>
          <a:bodyPr wrap="square" lIns="0" tIns="0" rIns="0" bIns="0" rtlCol="0" anchor="ctr"/>
          <a:lstStyle/>
          <a:p>
            <a:pPr algn="ctr" indent="0" marL="0">
              <a:buNone/>
            </a:pPr>
            <a:r>
              <a:rPr lang="en-US" sz="1100" b="1" dirty="0">
                <a:solidFill>
                  <a:srgbClr val="0087DC"/>
                </a:solidFill>
                <a:latin typeface="Cambria" pitchFamily="34" charset="0"/>
                <a:ea typeface="Cambria" pitchFamily="34" charset="-122"/>
                <a:cs typeface="Cambria" pitchFamily="34" charset="-120"/>
              </a:rPr>
              <a:t>+2.1</a:t>
            </a:r>
            <a:endParaRPr lang="en-US" sz="1100" dirty="0"/>
          </a:p>
        </p:txBody>
      </p:sp>
      <p:sp>
        <p:nvSpPr>
          <p:cNvPr id="51" name="Shape 49"/>
          <p:cNvSpPr/>
          <p:nvPr/>
        </p:nvSpPr>
        <p:spPr>
          <a:xfrm>
            <a:off x="3456432" y="4187952"/>
            <a:ext cx="5212080" cy="512064"/>
          </a:xfrm>
          <a:prstGeom prst="rect">
            <a:avLst/>
          </a:prstGeom>
          <a:solidFill>
            <a:srgbClr val="E6FAFA"/>
          </a:solidFill>
          <a:ln w="12700">
            <a:solidFill>
              <a:srgbClr val="DCE8F5"/>
            </a:solidFill>
            <a:prstDash val="solid"/>
          </a:ln>
        </p:spPr>
      </p:sp>
      <p:sp>
        <p:nvSpPr>
          <p:cNvPr id="52" name="Text 50"/>
          <p:cNvSpPr/>
          <p:nvPr/>
        </p:nvSpPr>
        <p:spPr>
          <a:xfrm>
            <a:off x="3520440" y="4242816"/>
            <a:ext cx="2560320" cy="402336"/>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OVERALL AVERAGE</a:t>
            </a:r>
            <a:endParaRPr lang="en-US" sz="1100" dirty="0"/>
          </a:p>
        </p:txBody>
      </p:sp>
      <p:sp>
        <p:nvSpPr>
          <p:cNvPr id="53" name="Shape 51"/>
          <p:cNvSpPr/>
          <p:nvPr/>
        </p:nvSpPr>
        <p:spPr>
          <a:xfrm>
            <a:off x="6144768" y="4279392"/>
            <a:ext cx="566928" cy="329184"/>
          </a:xfrm>
          <a:prstGeom prst="roundRect">
            <a:avLst>
              <a:gd name="adj" fmla="val 13889"/>
            </a:avLst>
          </a:prstGeom>
          <a:solidFill>
            <a:srgbClr val="C0392B"/>
          </a:solidFill>
          <a:ln w="12700">
            <a:solidFill>
              <a:srgbClr val="C0392B"/>
            </a:solidFill>
            <a:prstDash val="solid"/>
          </a:ln>
        </p:spPr>
      </p:sp>
      <p:sp>
        <p:nvSpPr>
          <p:cNvPr id="54" name="Text 52"/>
          <p:cNvSpPr/>
          <p:nvPr/>
        </p:nvSpPr>
        <p:spPr>
          <a:xfrm>
            <a:off x="6144768" y="4279392"/>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2.1</a:t>
            </a:r>
            <a:endParaRPr lang="en-US" sz="1100" dirty="0"/>
          </a:p>
        </p:txBody>
      </p:sp>
      <p:sp>
        <p:nvSpPr>
          <p:cNvPr id="55" name="Text 53"/>
          <p:cNvSpPr/>
          <p:nvPr/>
        </p:nvSpPr>
        <p:spPr>
          <a:xfrm>
            <a:off x="6766560" y="4279392"/>
            <a:ext cx="274320" cy="329184"/>
          </a:xfrm>
          <a:prstGeom prst="rect">
            <a:avLst/>
          </a:prstGeom>
          <a:noFill/>
          <a:ln/>
        </p:spPr>
        <p:txBody>
          <a:bodyPr wrap="square" lIns="0" tIns="0" rIns="0" bIns="0" rtlCol="0" anchor="ctr"/>
          <a:lstStyle/>
          <a:p>
            <a:pPr algn="ctr" indent="0" marL="0">
              <a:buNone/>
            </a:pPr>
            <a:r>
              <a:rPr lang="en-US" sz="1200" dirty="0">
                <a:solidFill>
                  <a:srgbClr val="64748B"/>
                </a:solidFill>
              </a:rPr>
              <a:t>→</a:t>
            </a:r>
            <a:endParaRPr lang="en-US" sz="1200" dirty="0"/>
          </a:p>
        </p:txBody>
      </p:sp>
      <p:sp>
        <p:nvSpPr>
          <p:cNvPr id="56" name="Shape 54"/>
          <p:cNvSpPr/>
          <p:nvPr/>
        </p:nvSpPr>
        <p:spPr>
          <a:xfrm>
            <a:off x="7095744" y="4279392"/>
            <a:ext cx="566928" cy="329184"/>
          </a:xfrm>
          <a:prstGeom prst="roundRect">
            <a:avLst>
              <a:gd name="adj" fmla="val 13889"/>
            </a:avLst>
          </a:prstGeom>
          <a:solidFill>
            <a:srgbClr val="0087DC"/>
          </a:solidFill>
          <a:ln w="12700">
            <a:solidFill>
              <a:srgbClr val="0087DC"/>
            </a:solidFill>
            <a:prstDash val="solid"/>
          </a:ln>
        </p:spPr>
      </p:sp>
      <p:sp>
        <p:nvSpPr>
          <p:cNvPr id="57" name="Text 55"/>
          <p:cNvSpPr/>
          <p:nvPr/>
        </p:nvSpPr>
        <p:spPr>
          <a:xfrm>
            <a:off x="7095744" y="4279392"/>
            <a:ext cx="56692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4.2</a:t>
            </a:r>
            <a:endParaRPr lang="en-US" sz="1100" dirty="0"/>
          </a:p>
        </p:txBody>
      </p:sp>
      <p:sp>
        <p:nvSpPr>
          <p:cNvPr id="58" name="Text 56"/>
          <p:cNvSpPr/>
          <p:nvPr/>
        </p:nvSpPr>
        <p:spPr>
          <a:xfrm>
            <a:off x="7717536" y="4279392"/>
            <a:ext cx="749808" cy="329184"/>
          </a:xfrm>
          <a:prstGeom prst="rect">
            <a:avLst/>
          </a:prstGeom>
          <a:noFill/>
          <a:ln/>
        </p:spPr>
        <p:txBody>
          <a:bodyPr wrap="square" lIns="0" tIns="0" rIns="0" bIns="0" rtlCol="0" anchor="ctr"/>
          <a:lstStyle/>
          <a:p>
            <a:pPr algn="ctr" indent="0" marL="0">
              <a:buNone/>
            </a:pPr>
            <a:r>
              <a:rPr lang="en-US" sz="1100" b="1" dirty="0">
                <a:solidFill>
                  <a:srgbClr val="0087DC"/>
                </a:solidFill>
                <a:latin typeface="Cambria" pitchFamily="34" charset="0"/>
                <a:ea typeface="Cambria" pitchFamily="34" charset="-122"/>
                <a:cs typeface="Cambria" pitchFamily="34" charset="-120"/>
              </a:rPr>
              <a:t>+2.1</a:t>
            </a:r>
            <a:endParaRPr lang="en-US" sz="1100" dirty="0"/>
          </a:p>
        </p:txBody>
      </p:sp>
      <p:sp>
        <p:nvSpPr>
          <p:cNvPr id="59" name="Text 57"/>
          <p:cNvSpPr/>
          <p:nvPr/>
        </p:nvSpPr>
        <p:spPr>
          <a:xfrm>
            <a:off x="6035040" y="4681728"/>
            <a:ext cx="777240" cy="182880"/>
          </a:xfrm>
          <a:prstGeom prst="rect">
            <a:avLst/>
          </a:prstGeom>
          <a:noFill/>
          <a:ln/>
        </p:spPr>
        <p:txBody>
          <a:bodyPr wrap="square" lIns="0" tIns="0" rIns="0" bIns="0" rtlCol="0" anchor="ctr"/>
          <a:lstStyle/>
          <a:p>
            <a:pPr algn="ctr" indent="0" marL="0">
              <a:buNone/>
            </a:pPr>
            <a:r>
              <a:rPr lang="en-US" sz="800" dirty="0">
                <a:solidFill>
                  <a:srgbClr val="C0392B"/>
                </a:solidFill>
                <a:latin typeface="Calibri" pitchFamily="34" charset="0"/>
                <a:ea typeface="Calibri" pitchFamily="34" charset="-122"/>
                <a:cs typeface="Calibri" pitchFamily="34" charset="-120"/>
              </a:rPr>
              <a:t>Before</a:t>
            </a:r>
            <a:endParaRPr lang="en-US" sz="800" dirty="0"/>
          </a:p>
        </p:txBody>
      </p:sp>
      <p:sp>
        <p:nvSpPr>
          <p:cNvPr id="60" name="Text 58"/>
          <p:cNvSpPr/>
          <p:nvPr/>
        </p:nvSpPr>
        <p:spPr>
          <a:xfrm>
            <a:off x="6967728" y="4681728"/>
            <a:ext cx="777240" cy="182880"/>
          </a:xfrm>
          <a:prstGeom prst="rect">
            <a:avLst/>
          </a:prstGeom>
          <a:noFill/>
          <a:ln/>
        </p:spPr>
        <p:txBody>
          <a:bodyPr wrap="square" lIns="0" tIns="0" rIns="0" bIns="0" rtlCol="0" anchor="ctr"/>
          <a:lstStyle/>
          <a:p>
            <a:pPr algn="ctr" indent="0" marL="0">
              <a:buNone/>
            </a:pPr>
            <a:r>
              <a:rPr lang="en-US" sz="800" dirty="0">
                <a:solidFill>
                  <a:srgbClr val="0087DC"/>
                </a:solidFill>
                <a:latin typeface="Calibri" pitchFamily="34" charset="0"/>
                <a:ea typeface="Calibri" pitchFamily="34" charset="-122"/>
                <a:cs typeface="Calibri" pitchFamily="34" charset="-120"/>
              </a:rPr>
              <a:t>After</a:t>
            </a:r>
            <a:endParaRPr lang="en-US" sz="800" dirty="0"/>
          </a:p>
        </p:txBody>
      </p:sp>
      <p:sp>
        <p:nvSpPr>
          <p:cNvPr id="61" name="Text 59"/>
          <p:cNvSpPr/>
          <p:nvPr/>
        </p:nvSpPr>
        <p:spPr>
          <a:xfrm>
            <a:off x="7699248" y="4681728"/>
            <a:ext cx="457200"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Δ</a:t>
            </a:r>
            <a:endParaRPr lang="en-US" sz="800" dirty="0"/>
          </a:p>
        </p:txBody>
      </p:sp>
      <p:sp>
        <p:nvSpPr>
          <p:cNvPr id="62" name="Text 60"/>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SQ4 + SQ5 answered · Template refined to v4–v6 before testing; 9 participants; results consolidated into one report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6FA6"/>
          </a:solidFill>
          <a:ln w="12700">
            <a:solidFill>
              <a:srgbClr val="006FA6"/>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5 · TEST · DETAILS</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Usability Testing: Who, What and What We Found</a:t>
            </a:r>
            <a:endParaRPr lang="en-US" sz="2600" dirty="0"/>
          </a:p>
        </p:txBody>
      </p:sp>
      <p:sp>
        <p:nvSpPr>
          <p:cNvPr id="5" name="Shape 3"/>
          <p:cNvSpPr/>
          <p:nvPr/>
        </p:nvSpPr>
        <p:spPr>
          <a:xfrm>
            <a:off x="365760" y="1143000"/>
            <a:ext cx="8412480" cy="25603"/>
          </a:xfrm>
          <a:prstGeom prst="rect">
            <a:avLst/>
          </a:prstGeom>
          <a:solidFill>
            <a:srgbClr val="006FA6"/>
          </a:solidFill>
          <a:ln w="12700">
            <a:solidFill>
              <a:srgbClr val="006FA6"/>
            </a:solidFill>
            <a:prstDash val="solid"/>
          </a:ln>
        </p:spPr>
      </p:sp>
      <p:sp>
        <p:nvSpPr>
          <p:cNvPr id="6" name="Shape 4"/>
          <p:cNvSpPr/>
          <p:nvPr/>
        </p:nvSpPr>
        <p:spPr>
          <a:xfrm>
            <a:off x="347472" y="1261872"/>
            <a:ext cx="1993392" cy="914400"/>
          </a:xfrm>
          <a:prstGeom prst="roundRect">
            <a:avLst>
              <a:gd name="adj" fmla="val 9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347472" y="1298448"/>
            <a:ext cx="1993392" cy="502920"/>
          </a:xfrm>
          <a:prstGeom prst="rect">
            <a:avLst/>
          </a:prstGeom>
          <a:noFill/>
          <a:ln/>
        </p:spPr>
        <p:txBody>
          <a:bodyPr wrap="square" lIns="0" tIns="0" rIns="0" bIns="0" rtlCol="0" anchor="ctr"/>
          <a:lstStyle/>
          <a:p>
            <a:pPr algn="ctr" indent="0" marL="0">
              <a:buNone/>
            </a:pPr>
            <a:r>
              <a:rPr lang="en-US" sz="2800" b="1" dirty="0">
                <a:solidFill>
                  <a:srgbClr val="0087DC"/>
                </a:solidFill>
                <a:latin typeface="Cambria" pitchFamily="34" charset="0"/>
                <a:ea typeface="Cambria" pitchFamily="34" charset="-122"/>
                <a:cs typeface="Cambria" pitchFamily="34" charset="-120"/>
              </a:rPr>
              <a:t>9</a:t>
            </a:r>
            <a:endParaRPr lang="en-US" sz="2800" dirty="0"/>
          </a:p>
        </p:txBody>
      </p:sp>
      <p:sp>
        <p:nvSpPr>
          <p:cNvPr id="8" name="Text 6"/>
          <p:cNvSpPr/>
          <p:nvPr/>
        </p:nvSpPr>
        <p:spPr>
          <a:xfrm>
            <a:off x="347472" y="1755648"/>
            <a:ext cx="1993392"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Participants</a:t>
            </a:r>
            <a:endParaRPr lang="en-US" sz="1000" dirty="0"/>
          </a:p>
        </p:txBody>
      </p:sp>
      <p:sp>
        <p:nvSpPr>
          <p:cNvPr id="9" name="Shape 7"/>
          <p:cNvSpPr/>
          <p:nvPr/>
        </p:nvSpPr>
        <p:spPr>
          <a:xfrm>
            <a:off x="2496312" y="1261872"/>
            <a:ext cx="1993392" cy="914400"/>
          </a:xfrm>
          <a:prstGeom prst="roundRect">
            <a:avLst>
              <a:gd name="adj" fmla="val 9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2496312" y="1298448"/>
            <a:ext cx="1993392" cy="502920"/>
          </a:xfrm>
          <a:prstGeom prst="rect">
            <a:avLst/>
          </a:prstGeom>
          <a:noFill/>
          <a:ln/>
        </p:spPr>
        <p:txBody>
          <a:bodyPr wrap="square" lIns="0" tIns="0" rIns="0" bIns="0" rtlCol="0" anchor="ctr"/>
          <a:lstStyle/>
          <a:p>
            <a:pPr algn="ctr" indent="0" marL="0">
              <a:buNone/>
            </a:pPr>
            <a:r>
              <a:rPr lang="en-US" sz="2800" b="1" dirty="0">
                <a:solidFill>
                  <a:srgbClr val="0087DC"/>
                </a:solidFill>
                <a:latin typeface="Cambria" pitchFamily="34" charset="0"/>
                <a:ea typeface="Cambria" pitchFamily="34" charset="-122"/>
                <a:cs typeface="Cambria" pitchFamily="34" charset="-120"/>
              </a:rPr>
              <a:t>5</a:t>
            </a:r>
            <a:endParaRPr lang="en-US" sz="2800" dirty="0"/>
          </a:p>
        </p:txBody>
      </p:sp>
      <p:sp>
        <p:nvSpPr>
          <p:cNvPr id="11" name="Text 9"/>
          <p:cNvSpPr/>
          <p:nvPr/>
        </p:nvSpPr>
        <p:spPr>
          <a:xfrm>
            <a:off x="2496312" y="1755648"/>
            <a:ext cx="1993392"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Tasks per session</a:t>
            </a:r>
            <a:endParaRPr lang="en-US" sz="1000" dirty="0"/>
          </a:p>
        </p:txBody>
      </p:sp>
      <p:sp>
        <p:nvSpPr>
          <p:cNvPr id="12" name="Shape 10"/>
          <p:cNvSpPr/>
          <p:nvPr/>
        </p:nvSpPr>
        <p:spPr>
          <a:xfrm>
            <a:off x="4645152" y="1261872"/>
            <a:ext cx="1993392" cy="914400"/>
          </a:xfrm>
          <a:prstGeom prst="roundRect">
            <a:avLst>
              <a:gd name="adj" fmla="val 9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4645152" y="1298448"/>
            <a:ext cx="1993392" cy="502920"/>
          </a:xfrm>
          <a:prstGeom prst="rect">
            <a:avLst/>
          </a:prstGeom>
          <a:noFill/>
          <a:ln/>
        </p:spPr>
        <p:txBody>
          <a:bodyPr wrap="square" lIns="0" tIns="0" rIns="0" bIns="0" rtlCol="0" anchor="ctr"/>
          <a:lstStyle/>
          <a:p>
            <a:pPr algn="ctr" indent="0" marL="0">
              <a:buNone/>
            </a:pPr>
            <a:r>
              <a:rPr lang="en-US" sz="2800" b="1" dirty="0">
                <a:solidFill>
                  <a:srgbClr val="0087DC"/>
                </a:solidFill>
                <a:latin typeface="Cambria" pitchFamily="34" charset="0"/>
                <a:ea typeface="Cambria" pitchFamily="34" charset="-122"/>
                <a:cs typeface="Cambria" pitchFamily="34" charset="-120"/>
              </a:rPr>
              <a:t>~45</a:t>
            </a:r>
            <a:endParaRPr lang="en-US" sz="2800" dirty="0"/>
          </a:p>
        </p:txBody>
      </p:sp>
      <p:sp>
        <p:nvSpPr>
          <p:cNvPr id="14" name="Text 12"/>
          <p:cNvSpPr/>
          <p:nvPr/>
        </p:nvSpPr>
        <p:spPr>
          <a:xfrm>
            <a:off x="4645152" y="1755648"/>
            <a:ext cx="1993392"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Min per session</a:t>
            </a:r>
            <a:endParaRPr lang="en-US" sz="1000" dirty="0"/>
          </a:p>
        </p:txBody>
      </p:sp>
      <p:sp>
        <p:nvSpPr>
          <p:cNvPr id="15" name="Shape 13"/>
          <p:cNvSpPr/>
          <p:nvPr/>
        </p:nvSpPr>
        <p:spPr>
          <a:xfrm>
            <a:off x="6793992" y="1261872"/>
            <a:ext cx="1993392" cy="914400"/>
          </a:xfrm>
          <a:prstGeom prst="roundRect">
            <a:avLst>
              <a:gd name="adj" fmla="val 9000"/>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6" name="Text 14"/>
          <p:cNvSpPr/>
          <p:nvPr/>
        </p:nvSpPr>
        <p:spPr>
          <a:xfrm>
            <a:off x="6793992" y="1298448"/>
            <a:ext cx="1993392" cy="502920"/>
          </a:xfrm>
          <a:prstGeom prst="rect">
            <a:avLst/>
          </a:prstGeom>
          <a:noFill/>
          <a:ln/>
        </p:spPr>
        <p:txBody>
          <a:bodyPr wrap="square" lIns="0" tIns="0" rIns="0" bIns="0" rtlCol="0" anchor="ctr"/>
          <a:lstStyle/>
          <a:p>
            <a:pPr algn="ctr" indent="0" marL="0">
              <a:buNone/>
            </a:pPr>
            <a:r>
              <a:rPr lang="en-US" sz="2800" b="1" dirty="0">
                <a:solidFill>
                  <a:srgbClr val="0087DC"/>
                </a:solidFill>
                <a:latin typeface="Cambria" pitchFamily="34" charset="0"/>
                <a:ea typeface="Cambria" pitchFamily="34" charset="-122"/>
                <a:cs typeface="Cambria" pitchFamily="34" charset="-120"/>
              </a:rPr>
              <a:t>100%</a:t>
            </a:r>
            <a:endParaRPr lang="en-US" sz="2800" dirty="0"/>
          </a:p>
        </p:txBody>
      </p:sp>
      <p:sp>
        <p:nvSpPr>
          <p:cNvPr id="17" name="Text 15"/>
          <p:cNvSpPr/>
          <p:nvPr/>
        </p:nvSpPr>
        <p:spPr>
          <a:xfrm>
            <a:off x="6793992" y="1755648"/>
            <a:ext cx="1993392" cy="25603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Sessions documented</a:t>
            </a:r>
            <a:endParaRPr lang="en-US" sz="1000" dirty="0"/>
          </a:p>
        </p:txBody>
      </p:sp>
      <p:sp>
        <p:nvSpPr>
          <p:cNvPr id="18" name="Text 16"/>
          <p:cNvSpPr/>
          <p:nvPr/>
        </p:nvSpPr>
        <p:spPr>
          <a:xfrm>
            <a:off x="347472" y="2340864"/>
            <a:ext cx="4206240" cy="274320"/>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Participants</a:t>
            </a:r>
            <a:endParaRPr lang="en-US" sz="1100" dirty="0"/>
          </a:p>
        </p:txBody>
      </p:sp>
      <p:sp>
        <p:nvSpPr>
          <p:cNvPr id="19" name="Shape 17"/>
          <p:cNvSpPr/>
          <p:nvPr/>
        </p:nvSpPr>
        <p:spPr>
          <a:xfrm>
            <a:off x="347472" y="2633472"/>
            <a:ext cx="4206240" cy="23774"/>
          </a:xfrm>
          <a:prstGeom prst="rect">
            <a:avLst/>
          </a:prstGeom>
          <a:solidFill>
            <a:srgbClr val="0087DC"/>
          </a:solidFill>
          <a:ln w="12700">
            <a:solidFill>
              <a:srgbClr val="0087DC"/>
            </a:solidFill>
            <a:prstDash val="solid"/>
          </a:ln>
        </p:spPr>
      </p:sp>
      <p:sp>
        <p:nvSpPr>
          <p:cNvPr id="20" name="Shape 18"/>
          <p:cNvSpPr/>
          <p:nvPr/>
        </p:nvSpPr>
        <p:spPr>
          <a:xfrm>
            <a:off x="347472" y="2743200"/>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1" name="Shape 19"/>
          <p:cNvSpPr/>
          <p:nvPr/>
        </p:nvSpPr>
        <p:spPr>
          <a:xfrm>
            <a:off x="420624" y="2798064"/>
            <a:ext cx="457200" cy="457200"/>
          </a:xfrm>
          <a:prstGeom prst="oval">
            <a:avLst/>
          </a:prstGeom>
          <a:solidFill>
            <a:srgbClr val="0087DC"/>
          </a:solidFill>
          <a:ln w="12700">
            <a:solidFill>
              <a:srgbClr val="0087DC"/>
            </a:solidFill>
            <a:prstDash val="solid"/>
          </a:ln>
        </p:spPr>
      </p:sp>
      <p:sp>
        <p:nvSpPr>
          <p:cNvPr id="22" name="Text 20"/>
          <p:cNvSpPr/>
          <p:nvPr/>
        </p:nvSpPr>
        <p:spPr>
          <a:xfrm>
            <a:off x="420624" y="2798064"/>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3" name="Text 21"/>
          <p:cNvSpPr/>
          <p:nvPr/>
        </p:nvSpPr>
        <p:spPr>
          <a:xfrm>
            <a:off x="941832" y="2798064"/>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Andrea</a:t>
            </a:r>
            <a:endParaRPr lang="en-US" sz="950" dirty="0"/>
          </a:p>
        </p:txBody>
      </p:sp>
      <p:sp>
        <p:nvSpPr>
          <p:cNvPr id="24" name="Text 22"/>
          <p:cNvSpPr/>
          <p:nvPr/>
        </p:nvSpPr>
        <p:spPr>
          <a:xfrm>
            <a:off x="941832" y="3035808"/>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Marketing</a:t>
            </a:r>
            <a:endParaRPr lang="en-US" sz="850" dirty="0"/>
          </a:p>
        </p:txBody>
      </p:sp>
      <p:sp>
        <p:nvSpPr>
          <p:cNvPr id="25" name="Shape 23"/>
          <p:cNvSpPr/>
          <p:nvPr/>
        </p:nvSpPr>
        <p:spPr>
          <a:xfrm>
            <a:off x="1764792" y="2743200"/>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6" name="Shape 24"/>
          <p:cNvSpPr/>
          <p:nvPr/>
        </p:nvSpPr>
        <p:spPr>
          <a:xfrm>
            <a:off x="1837944" y="2798064"/>
            <a:ext cx="457200" cy="457200"/>
          </a:xfrm>
          <a:prstGeom prst="oval">
            <a:avLst/>
          </a:prstGeom>
          <a:solidFill>
            <a:srgbClr val="0087DC"/>
          </a:solidFill>
          <a:ln w="12700">
            <a:solidFill>
              <a:srgbClr val="0087DC"/>
            </a:solidFill>
            <a:prstDash val="solid"/>
          </a:ln>
        </p:spPr>
      </p:sp>
      <p:sp>
        <p:nvSpPr>
          <p:cNvPr id="27" name="Text 25"/>
          <p:cNvSpPr/>
          <p:nvPr/>
        </p:nvSpPr>
        <p:spPr>
          <a:xfrm>
            <a:off x="1837944" y="2798064"/>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8" name="Text 26"/>
          <p:cNvSpPr/>
          <p:nvPr/>
        </p:nvSpPr>
        <p:spPr>
          <a:xfrm>
            <a:off x="2359152" y="2798064"/>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Bilyana</a:t>
            </a:r>
            <a:endParaRPr lang="en-US" sz="950" dirty="0"/>
          </a:p>
        </p:txBody>
      </p:sp>
      <p:sp>
        <p:nvSpPr>
          <p:cNvPr id="29" name="Text 27"/>
          <p:cNvSpPr/>
          <p:nvPr/>
        </p:nvSpPr>
        <p:spPr>
          <a:xfrm>
            <a:off x="2359152" y="3035808"/>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Marketing</a:t>
            </a:r>
            <a:endParaRPr lang="en-US" sz="850" dirty="0"/>
          </a:p>
        </p:txBody>
      </p:sp>
      <p:sp>
        <p:nvSpPr>
          <p:cNvPr id="30" name="Shape 28"/>
          <p:cNvSpPr/>
          <p:nvPr/>
        </p:nvSpPr>
        <p:spPr>
          <a:xfrm>
            <a:off x="3182112" y="2743200"/>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31" name="Shape 29"/>
          <p:cNvSpPr/>
          <p:nvPr/>
        </p:nvSpPr>
        <p:spPr>
          <a:xfrm>
            <a:off x="3255264" y="2798064"/>
            <a:ext cx="457200" cy="457200"/>
          </a:xfrm>
          <a:prstGeom prst="oval">
            <a:avLst/>
          </a:prstGeom>
          <a:solidFill>
            <a:srgbClr val="0087DC"/>
          </a:solidFill>
          <a:ln w="12700">
            <a:solidFill>
              <a:srgbClr val="0087DC"/>
            </a:solidFill>
            <a:prstDash val="solid"/>
          </a:ln>
        </p:spPr>
      </p:sp>
      <p:sp>
        <p:nvSpPr>
          <p:cNvPr id="32" name="Text 30"/>
          <p:cNvSpPr/>
          <p:nvPr/>
        </p:nvSpPr>
        <p:spPr>
          <a:xfrm>
            <a:off x="3255264" y="2798064"/>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
            </a:r>
            <a:endParaRPr lang="en-US" sz="1100" dirty="0"/>
          </a:p>
        </p:txBody>
      </p:sp>
      <p:sp>
        <p:nvSpPr>
          <p:cNvPr id="33" name="Text 31"/>
          <p:cNvSpPr/>
          <p:nvPr/>
        </p:nvSpPr>
        <p:spPr>
          <a:xfrm>
            <a:off x="3776472" y="2798064"/>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Rose</a:t>
            </a:r>
            <a:endParaRPr lang="en-US" sz="950" dirty="0"/>
          </a:p>
        </p:txBody>
      </p:sp>
      <p:sp>
        <p:nvSpPr>
          <p:cNvPr id="34" name="Text 32"/>
          <p:cNvSpPr/>
          <p:nvPr/>
        </p:nvSpPr>
        <p:spPr>
          <a:xfrm>
            <a:off x="3776472" y="3035808"/>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Marketing</a:t>
            </a:r>
            <a:endParaRPr lang="en-US" sz="850" dirty="0"/>
          </a:p>
        </p:txBody>
      </p:sp>
      <p:sp>
        <p:nvSpPr>
          <p:cNvPr id="35" name="Shape 33"/>
          <p:cNvSpPr/>
          <p:nvPr/>
        </p:nvSpPr>
        <p:spPr>
          <a:xfrm>
            <a:off x="347472" y="3401568"/>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36" name="Shape 34"/>
          <p:cNvSpPr/>
          <p:nvPr/>
        </p:nvSpPr>
        <p:spPr>
          <a:xfrm>
            <a:off x="420624" y="3456432"/>
            <a:ext cx="457200" cy="457200"/>
          </a:xfrm>
          <a:prstGeom prst="oval">
            <a:avLst/>
          </a:prstGeom>
          <a:solidFill>
            <a:srgbClr val="0087DC"/>
          </a:solidFill>
          <a:ln w="12700">
            <a:solidFill>
              <a:srgbClr val="0087DC"/>
            </a:solidFill>
            <a:prstDash val="solid"/>
          </a:ln>
        </p:spPr>
      </p:sp>
      <p:sp>
        <p:nvSpPr>
          <p:cNvPr id="37" name="Text 35"/>
          <p:cNvSpPr/>
          <p:nvPr/>
        </p:nvSpPr>
        <p:spPr>
          <a:xfrm>
            <a:off x="420624" y="345643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8" name="Text 36"/>
          <p:cNvSpPr/>
          <p:nvPr/>
        </p:nvSpPr>
        <p:spPr>
          <a:xfrm>
            <a:off x="941832" y="3456432"/>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Christina</a:t>
            </a:r>
            <a:endParaRPr lang="en-US" sz="950" dirty="0"/>
          </a:p>
        </p:txBody>
      </p:sp>
      <p:sp>
        <p:nvSpPr>
          <p:cNvPr id="39" name="Text 37"/>
          <p:cNvSpPr/>
          <p:nvPr/>
        </p:nvSpPr>
        <p:spPr>
          <a:xfrm>
            <a:off x="941832" y="3694176"/>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Marketing</a:t>
            </a:r>
            <a:endParaRPr lang="en-US" sz="850" dirty="0"/>
          </a:p>
        </p:txBody>
      </p:sp>
      <p:sp>
        <p:nvSpPr>
          <p:cNvPr id="40" name="Shape 38"/>
          <p:cNvSpPr/>
          <p:nvPr/>
        </p:nvSpPr>
        <p:spPr>
          <a:xfrm>
            <a:off x="1764792" y="3401568"/>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41" name="Shape 39"/>
          <p:cNvSpPr/>
          <p:nvPr/>
        </p:nvSpPr>
        <p:spPr>
          <a:xfrm>
            <a:off x="1837944" y="3456432"/>
            <a:ext cx="457200" cy="457200"/>
          </a:xfrm>
          <a:prstGeom prst="oval">
            <a:avLst/>
          </a:prstGeom>
          <a:solidFill>
            <a:srgbClr val="0087DC"/>
          </a:solidFill>
          <a:ln w="12700">
            <a:solidFill>
              <a:srgbClr val="0087DC"/>
            </a:solidFill>
            <a:prstDash val="solid"/>
          </a:ln>
        </p:spPr>
      </p:sp>
      <p:sp>
        <p:nvSpPr>
          <p:cNvPr id="42" name="Text 40"/>
          <p:cNvSpPr/>
          <p:nvPr/>
        </p:nvSpPr>
        <p:spPr>
          <a:xfrm>
            <a:off x="1837944" y="345643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p>
        </p:txBody>
      </p:sp>
      <p:sp>
        <p:nvSpPr>
          <p:cNvPr id="43" name="Text 41"/>
          <p:cNvSpPr/>
          <p:nvPr/>
        </p:nvSpPr>
        <p:spPr>
          <a:xfrm>
            <a:off x="2359152" y="3456432"/>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Nadine</a:t>
            </a:r>
            <a:endParaRPr lang="en-US" sz="950" dirty="0"/>
          </a:p>
        </p:txBody>
      </p:sp>
      <p:sp>
        <p:nvSpPr>
          <p:cNvPr id="44" name="Text 42"/>
          <p:cNvSpPr/>
          <p:nvPr/>
        </p:nvSpPr>
        <p:spPr>
          <a:xfrm>
            <a:off x="2359152" y="3694176"/>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Marketing</a:t>
            </a:r>
            <a:endParaRPr lang="en-US" sz="850" dirty="0"/>
          </a:p>
        </p:txBody>
      </p:sp>
      <p:sp>
        <p:nvSpPr>
          <p:cNvPr id="45" name="Shape 43"/>
          <p:cNvSpPr/>
          <p:nvPr/>
        </p:nvSpPr>
        <p:spPr>
          <a:xfrm>
            <a:off x="3182112" y="3401568"/>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46" name="Shape 44"/>
          <p:cNvSpPr/>
          <p:nvPr/>
        </p:nvSpPr>
        <p:spPr>
          <a:xfrm>
            <a:off x="3255264" y="3456432"/>
            <a:ext cx="457200" cy="457200"/>
          </a:xfrm>
          <a:prstGeom prst="oval">
            <a:avLst/>
          </a:prstGeom>
          <a:solidFill>
            <a:srgbClr val="0087DC"/>
          </a:solidFill>
          <a:ln w="12700">
            <a:solidFill>
              <a:srgbClr val="0087DC"/>
            </a:solidFill>
            <a:prstDash val="solid"/>
          </a:ln>
        </p:spPr>
      </p:sp>
      <p:sp>
        <p:nvSpPr>
          <p:cNvPr id="47" name="Text 45"/>
          <p:cNvSpPr/>
          <p:nvPr/>
        </p:nvSpPr>
        <p:spPr>
          <a:xfrm>
            <a:off x="3255264" y="345643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48" name="Text 46"/>
          <p:cNvSpPr/>
          <p:nvPr/>
        </p:nvSpPr>
        <p:spPr>
          <a:xfrm>
            <a:off x="3776472" y="3456432"/>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Fiona</a:t>
            </a:r>
            <a:endParaRPr lang="en-US" sz="950" dirty="0"/>
          </a:p>
        </p:txBody>
      </p:sp>
      <p:sp>
        <p:nvSpPr>
          <p:cNvPr id="49" name="Text 47"/>
          <p:cNvSpPr/>
          <p:nvPr/>
        </p:nvSpPr>
        <p:spPr>
          <a:xfrm>
            <a:off x="3776472" y="3694176"/>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Marketing</a:t>
            </a:r>
            <a:endParaRPr lang="en-US" sz="850" dirty="0"/>
          </a:p>
        </p:txBody>
      </p:sp>
      <p:sp>
        <p:nvSpPr>
          <p:cNvPr id="50" name="Shape 48"/>
          <p:cNvSpPr/>
          <p:nvPr/>
        </p:nvSpPr>
        <p:spPr>
          <a:xfrm>
            <a:off x="347472" y="4059936"/>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51" name="Shape 49"/>
          <p:cNvSpPr/>
          <p:nvPr/>
        </p:nvSpPr>
        <p:spPr>
          <a:xfrm>
            <a:off x="420624" y="4114800"/>
            <a:ext cx="457200" cy="457200"/>
          </a:xfrm>
          <a:prstGeom prst="oval">
            <a:avLst/>
          </a:prstGeom>
          <a:solidFill>
            <a:srgbClr val="006FA6"/>
          </a:solidFill>
          <a:ln w="12700">
            <a:solidFill>
              <a:srgbClr val="006FA6"/>
            </a:solidFill>
            <a:prstDash val="solid"/>
          </a:ln>
        </p:spPr>
      </p:sp>
      <p:sp>
        <p:nvSpPr>
          <p:cNvPr id="52" name="Text 50"/>
          <p:cNvSpPr/>
          <p:nvPr/>
        </p:nvSpPr>
        <p:spPr>
          <a:xfrm>
            <a:off x="420624" y="41148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WC</a:t>
            </a:r>
            <a:endParaRPr lang="en-US" sz="1100" dirty="0"/>
          </a:p>
        </p:txBody>
      </p:sp>
      <p:sp>
        <p:nvSpPr>
          <p:cNvPr id="53" name="Text 51"/>
          <p:cNvSpPr/>
          <p:nvPr/>
        </p:nvSpPr>
        <p:spPr>
          <a:xfrm>
            <a:off x="941832" y="4114800"/>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Wil Chiang</a:t>
            </a:r>
            <a:endParaRPr lang="en-US" sz="950" dirty="0"/>
          </a:p>
        </p:txBody>
      </p:sp>
      <p:sp>
        <p:nvSpPr>
          <p:cNvPr id="54" name="Text 52"/>
          <p:cNvSpPr/>
          <p:nvPr/>
        </p:nvSpPr>
        <p:spPr>
          <a:xfrm>
            <a:off x="941832" y="4352544"/>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Digital team</a:t>
            </a:r>
            <a:endParaRPr lang="en-US" sz="850" dirty="0"/>
          </a:p>
        </p:txBody>
      </p:sp>
      <p:sp>
        <p:nvSpPr>
          <p:cNvPr id="55" name="Shape 53"/>
          <p:cNvSpPr/>
          <p:nvPr/>
        </p:nvSpPr>
        <p:spPr>
          <a:xfrm>
            <a:off x="1764792" y="4059936"/>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56" name="Shape 54"/>
          <p:cNvSpPr/>
          <p:nvPr/>
        </p:nvSpPr>
        <p:spPr>
          <a:xfrm>
            <a:off x="1837944" y="4114800"/>
            <a:ext cx="457200" cy="457200"/>
          </a:xfrm>
          <a:prstGeom prst="oval">
            <a:avLst/>
          </a:prstGeom>
          <a:solidFill>
            <a:srgbClr val="006FA6"/>
          </a:solidFill>
          <a:ln w="12700">
            <a:solidFill>
              <a:srgbClr val="006FA6"/>
            </a:solidFill>
            <a:prstDash val="solid"/>
          </a:ln>
        </p:spPr>
      </p:sp>
      <p:sp>
        <p:nvSpPr>
          <p:cNvPr id="57" name="Text 55"/>
          <p:cNvSpPr/>
          <p:nvPr/>
        </p:nvSpPr>
        <p:spPr>
          <a:xfrm>
            <a:off x="1837944" y="41148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TB</a:t>
            </a:r>
            <a:endParaRPr lang="en-US" sz="1100" dirty="0"/>
          </a:p>
        </p:txBody>
      </p:sp>
      <p:sp>
        <p:nvSpPr>
          <p:cNvPr id="58" name="Text 56"/>
          <p:cNvSpPr/>
          <p:nvPr/>
        </p:nvSpPr>
        <p:spPr>
          <a:xfrm>
            <a:off x="2359152" y="4114800"/>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Thy Bui</a:t>
            </a:r>
            <a:endParaRPr lang="en-US" sz="950" dirty="0"/>
          </a:p>
        </p:txBody>
      </p:sp>
      <p:sp>
        <p:nvSpPr>
          <p:cNvPr id="59" name="Text 57"/>
          <p:cNvSpPr/>
          <p:nvPr/>
        </p:nvSpPr>
        <p:spPr>
          <a:xfrm>
            <a:off x="2359152" y="4352544"/>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Digital team</a:t>
            </a:r>
            <a:endParaRPr lang="en-US" sz="850" dirty="0"/>
          </a:p>
        </p:txBody>
      </p:sp>
      <p:sp>
        <p:nvSpPr>
          <p:cNvPr id="60" name="Shape 58"/>
          <p:cNvSpPr/>
          <p:nvPr/>
        </p:nvSpPr>
        <p:spPr>
          <a:xfrm>
            <a:off x="3182112" y="4059936"/>
            <a:ext cx="1298448" cy="566928"/>
          </a:xfrm>
          <a:prstGeom prst="roundRect">
            <a:avLst>
              <a:gd name="adj" fmla="val 1451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61" name="Shape 59"/>
          <p:cNvSpPr/>
          <p:nvPr/>
        </p:nvSpPr>
        <p:spPr>
          <a:xfrm>
            <a:off x="3255264" y="4114800"/>
            <a:ext cx="457200" cy="457200"/>
          </a:xfrm>
          <a:prstGeom prst="oval">
            <a:avLst/>
          </a:prstGeom>
          <a:solidFill>
            <a:srgbClr val="0087DC"/>
          </a:solidFill>
          <a:ln w="12700">
            <a:solidFill>
              <a:srgbClr val="0087DC"/>
            </a:solidFill>
            <a:prstDash val="solid"/>
          </a:ln>
        </p:spPr>
      </p:sp>
      <p:sp>
        <p:nvSpPr>
          <p:cNvPr id="62" name="Text 60"/>
          <p:cNvSpPr/>
          <p:nvPr/>
        </p:nvSpPr>
        <p:spPr>
          <a:xfrm>
            <a:off x="3255264" y="41148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63" name="Text 61"/>
          <p:cNvSpPr/>
          <p:nvPr/>
        </p:nvSpPr>
        <p:spPr>
          <a:xfrm>
            <a:off x="3776472" y="4114800"/>
            <a:ext cx="640080" cy="256032"/>
          </a:xfrm>
          <a:prstGeom prst="rect">
            <a:avLst/>
          </a:prstGeom>
          <a:noFill/>
          <a:ln/>
        </p:spPr>
        <p:txBody>
          <a:bodyPr wrap="square" lIns="0" tIns="0" rIns="0" bIns="0" rtlCol="0" anchor="ctr"/>
          <a:lstStyle/>
          <a:p>
            <a:pPr indent="0" marL="0">
              <a:buNone/>
            </a:pPr>
            <a:r>
              <a:rPr lang="en-US" sz="950" b="1" dirty="0">
                <a:solidFill>
                  <a:srgbClr val="00294D"/>
                </a:solidFill>
                <a:latin typeface="Calibri" pitchFamily="34" charset="0"/>
                <a:ea typeface="Calibri" pitchFamily="34" charset="-122"/>
                <a:cs typeface="Calibri" pitchFamily="34" charset="-120"/>
              </a:rPr>
              <a:t>Fidan</a:t>
            </a:r>
            <a:endParaRPr lang="en-US" sz="950" dirty="0"/>
          </a:p>
        </p:txBody>
      </p:sp>
      <p:sp>
        <p:nvSpPr>
          <p:cNvPr id="64" name="Text 62"/>
          <p:cNvSpPr/>
          <p:nvPr/>
        </p:nvSpPr>
        <p:spPr>
          <a:xfrm>
            <a:off x="3776472" y="4352544"/>
            <a:ext cx="64008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Marketing</a:t>
            </a:r>
            <a:endParaRPr lang="en-US" sz="850" dirty="0"/>
          </a:p>
        </p:txBody>
      </p:sp>
      <p:sp>
        <p:nvSpPr>
          <p:cNvPr id="65" name="Shape 63"/>
          <p:cNvSpPr/>
          <p:nvPr/>
        </p:nvSpPr>
        <p:spPr>
          <a:xfrm>
            <a:off x="4681728" y="2340864"/>
            <a:ext cx="4114800" cy="1417320"/>
          </a:xfrm>
          <a:prstGeom prst="roundRect">
            <a:avLst>
              <a:gd name="adj" fmla="val 5806"/>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66" name="Text 64"/>
          <p:cNvSpPr/>
          <p:nvPr/>
        </p:nvSpPr>
        <p:spPr>
          <a:xfrm>
            <a:off x="4809744" y="2395728"/>
            <a:ext cx="3858768"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Tasks Given to Participants</a:t>
            </a:r>
            <a:endParaRPr lang="en-US" sz="1100" dirty="0"/>
          </a:p>
        </p:txBody>
      </p:sp>
      <p:sp>
        <p:nvSpPr>
          <p:cNvPr id="67" name="Shape 65"/>
          <p:cNvSpPr/>
          <p:nvPr/>
        </p:nvSpPr>
        <p:spPr>
          <a:xfrm>
            <a:off x="4809744" y="2706624"/>
            <a:ext cx="3858768" cy="23774"/>
          </a:xfrm>
          <a:prstGeom prst="rect">
            <a:avLst/>
          </a:prstGeom>
          <a:solidFill>
            <a:srgbClr val="006FA6"/>
          </a:solidFill>
          <a:ln w="12700">
            <a:solidFill>
              <a:srgbClr val="006FA6"/>
            </a:solidFill>
            <a:prstDash val="solid"/>
          </a:ln>
        </p:spPr>
      </p:sp>
      <p:sp>
        <p:nvSpPr>
          <p:cNvPr id="68" name="Text 66"/>
          <p:cNvSpPr/>
          <p:nvPr/>
        </p:nvSpPr>
        <p:spPr>
          <a:xfrm>
            <a:off x="4809744" y="2779776"/>
            <a:ext cx="3858768" cy="914400"/>
          </a:xfrm>
          <a:prstGeom prst="rect">
            <a:avLst/>
          </a:prstGeom>
          <a:noFill/>
          <a:ln/>
        </p:spPr>
        <p:txBody>
          <a:bodyPr wrap="square" lIns="25400" tIns="25400" rIns="25400" bIns="25400" rtlCol="0" anchor="ctr"/>
          <a:lstStyle/>
          <a:p>
            <a:pPr marL="342900" indent="-342900">
              <a:spcAft>
                <a:spcPts val="100"/>
              </a:spcAft>
              <a:buSzPct val="100000"/>
              <a:buFont typeface="+mj-lt"/>
              <a:buAutoNum type="arabicPeriod" startAt="1"/>
            </a:pPr>
            <a:r>
              <a:rPr lang="en-US" sz="1000" dirty="0">
                <a:solidFill>
                  <a:srgbClr val="334155"/>
                </a:solidFill>
                <a:latin typeface="Calibri" pitchFamily="34" charset="0"/>
                <a:ea typeface="Calibri" pitchFamily="34" charset="-122"/>
                <a:cs typeface="Calibri" pitchFamily="34" charset="-120"/>
              </a:rPr>
              <a:t>Select a landing-page template in the CMS</a:t>
            </a:r>
            <a:endParaRPr lang="en-US" sz="1000" dirty="0"/>
          </a:p>
          <a:p>
            <a:pPr marL="342900" indent="-342900">
              <a:spcAft>
                <a:spcPts val="100"/>
              </a:spcAft>
              <a:buSzPct val="100000"/>
              <a:buFont typeface="+mj-lt"/>
              <a:buAutoNum type="arabicPeriod" startAt="1"/>
            </a:pPr>
            <a:r>
              <a:rPr lang="en-US" sz="1000" dirty="0">
                <a:solidFill>
                  <a:srgbClr val="334155"/>
                </a:solidFill>
                <a:latin typeface="Calibri" pitchFamily="34" charset="0"/>
                <a:ea typeface="Calibri" pitchFamily="34" charset="-122"/>
                <a:cs typeface="Calibri" pitchFamily="34" charset="-120"/>
              </a:rPr>
              <a:t>Configure the hero section (image, headline, CTA)</a:t>
            </a:r>
            <a:endParaRPr lang="en-US" sz="1000" dirty="0"/>
          </a:p>
          <a:p>
            <a:pPr marL="342900" indent="-342900">
              <a:spcAft>
                <a:spcPts val="100"/>
              </a:spcAft>
              <a:buSzPct val="100000"/>
              <a:buFont typeface="+mj-lt"/>
              <a:buAutoNum type="arabicPeriod" startAt="1"/>
            </a:pPr>
            <a:r>
              <a:rPr lang="en-US" sz="1000" dirty="0">
                <a:solidFill>
                  <a:srgbClr val="334155"/>
                </a:solidFill>
                <a:latin typeface="Calibri" pitchFamily="34" charset="0"/>
                <a:ea typeface="Calibri" pitchFamily="34" charset="-122"/>
                <a:cs typeface="Calibri" pitchFamily="34" charset="-120"/>
              </a:rPr>
              <a:t>Add and configure a USP block</a:t>
            </a:r>
            <a:endParaRPr lang="en-US" sz="1000" dirty="0"/>
          </a:p>
          <a:p>
            <a:pPr marL="342900" indent="-342900">
              <a:spcAft>
                <a:spcPts val="100"/>
              </a:spcAft>
              <a:buSzPct val="100000"/>
              <a:buFont typeface="+mj-lt"/>
              <a:buAutoNum type="arabicPeriod" startAt="1"/>
            </a:pPr>
            <a:r>
              <a:rPr lang="en-US" sz="1000" dirty="0">
                <a:solidFill>
                  <a:srgbClr val="334155"/>
                </a:solidFill>
                <a:latin typeface="Calibri" pitchFamily="34" charset="0"/>
                <a:ea typeface="Calibri" pitchFamily="34" charset="-122"/>
                <a:cs typeface="Calibri" pitchFamily="34" charset="-120"/>
              </a:rPr>
              <a:t>Adjust the contact form and preview the page</a:t>
            </a:r>
            <a:endParaRPr lang="en-US" sz="1000" dirty="0"/>
          </a:p>
          <a:p>
            <a:pPr marL="342900" indent="-342900">
              <a:spcAft>
                <a:spcPts val="100"/>
              </a:spcAft>
              <a:buSzPct val="100000"/>
              <a:buFont typeface="+mj-lt"/>
              <a:buAutoNum type="arabicPeriod" startAt="1"/>
            </a:pPr>
            <a:r>
              <a:rPr lang="en-US" sz="1000" dirty="0">
                <a:solidFill>
                  <a:srgbClr val="334155"/>
                </a:solidFill>
                <a:latin typeface="Calibri" pitchFamily="34" charset="0"/>
                <a:ea typeface="Calibri" pitchFamily="34" charset="-122"/>
                <a:cs typeface="Calibri" pitchFamily="34" charset="-120"/>
              </a:rPr>
              <a:t>Save as draft and review the final output</a:t>
            </a:r>
            <a:endParaRPr lang="en-US" sz="1000" dirty="0"/>
          </a:p>
        </p:txBody>
      </p:sp>
      <p:sp>
        <p:nvSpPr>
          <p:cNvPr id="69" name="Shape 67"/>
          <p:cNvSpPr/>
          <p:nvPr/>
        </p:nvSpPr>
        <p:spPr>
          <a:xfrm>
            <a:off x="4681728" y="3840480"/>
            <a:ext cx="4114800" cy="932688"/>
          </a:xfrm>
          <a:prstGeom prst="roundRect">
            <a:avLst>
              <a:gd name="adj" fmla="val 8824"/>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0" name="Text 68"/>
          <p:cNvSpPr/>
          <p:nvPr/>
        </p:nvSpPr>
        <p:spPr>
          <a:xfrm>
            <a:off x="4809744" y="3904488"/>
            <a:ext cx="3858768"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Key Findings from Consolidated Report</a:t>
            </a:r>
            <a:endParaRPr lang="en-US" sz="1100" dirty="0"/>
          </a:p>
        </p:txBody>
      </p:sp>
      <p:sp>
        <p:nvSpPr>
          <p:cNvPr id="71" name="Shape 69"/>
          <p:cNvSpPr/>
          <p:nvPr/>
        </p:nvSpPr>
        <p:spPr>
          <a:xfrm>
            <a:off x="4809744" y="4206240"/>
            <a:ext cx="3858768" cy="23774"/>
          </a:xfrm>
          <a:prstGeom prst="rect">
            <a:avLst/>
          </a:prstGeom>
          <a:solidFill>
            <a:srgbClr val="006FA6"/>
          </a:solidFill>
          <a:ln w="12700">
            <a:solidFill>
              <a:srgbClr val="006FA6"/>
            </a:solidFill>
            <a:prstDash val="solid"/>
          </a:ln>
        </p:spPr>
      </p:sp>
      <p:sp>
        <p:nvSpPr>
          <p:cNvPr id="72" name="Text 70"/>
          <p:cNvSpPr/>
          <p:nvPr/>
        </p:nvSpPr>
        <p:spPr>
          <a:xfrm>
            <a:off x="4809744" y="4279392"/>
            <a:ext cx="3858768" cy="475488"/>
          </a:xfrm>
          <a:prstGeom prst="rect">
            <a:avLst/>
          </a:prstGeom>
          <a:noFill/>
          <a:ln/>
        </p:spPr>
        <p:txBody>
          <a:bodyPr wrap="square" lIns="25400" tIns="25400" rIns="25400" bIns="25400" rtlCol="0" anchor="ctr"/>
          <a:lstStyle/>
          <a:p>
            <a:pPr marL="342900" indent="-342900">
              <a:spcAft>
                <a:spcPts val="100"/>
              </a:spcAft>
              <a:buSzPct val="100000"/>
              <a:buChar char="•"/>
            </a:pPr>
            <a:r>
              <a:rPr lang="en-US" sz="1000" dirty="0">
                <a:solidFill>
                  <a:srgbClr val="334155"/>
                </a:solidFill>
                <a:latin typeface="Calibri" pitchFamily="34" charset="0"/>
                <a:ea typeface="Calibri" pitchFamily="34" charset="-122"/>
                <a:cs typeface="Calibri" pitchFamily="34" charset="-120"/>
              </a:rPr>
              <a:t>Live preview eliminated most back-and-forth review rounds</a:t>
            </a:r>
            <a:endParaRPr lang="en-US" sz="1000" dirty="0"/>
          </a:p>
          <a:p>
            <a:pPr marL="342900" indent="-342900">
              <a:spcAft>
                <a:spcPts val="100"/>
              </a:spcAft>
              <a:buSzPct val="100000"/>
              <a:buChar char="•"/>
            </a:pPr>
            <a:r>
              <a:rPr lang="en-US" sz="1000" dirty="0">
                <a:solidFill>
                  <a:srgbClr val="334155"/>
                </a:solidFill>
                <a:latin typeface="Calibri" pitchFamily="34" charset="0"/>
                <a:ea typeface="Calibri" pitchFamily="34" charset="-122"/>
                <a:cs typeface="Calibri" pitchFamily="34" charset="-120"/>
              </a:rPr>
              <a:t>Sidebar configuration was intuitive for non-technical users</a:t>
            </a:r>
            <a:endParaRPr lang="en-US" sz="1000" dirty="0"/>
          </a:p>
          <a:p>
            <a:pPr marL="342900" indent="-342900">
              <a:spcAft>
                <a:spcPts val="100"/>
              </a:spcAft>
              <a:buSzPct val="100000"/>
              <a:buChar char="•"/>
            </a:pPr>
            <a:r>
              <a:rPr lang="en-US" sz="1000" dirty="0">
                <a:solidFill>
                  <a:srgbClr val="334155"/>
                </a:solidFill>
                <a:latin typeface="Calibri" pitchFamily="34" charset="0"/>
                <a:ea typeface="Calibri" pitchFamily="34" charset="-122"/>
                <a:cs typeface="Calibri" pitchFamily="34" charset="-120"/>
              </a:rPr>
              <a:t>Component labels and help text reduced setup hesitation</a:t>
            </a:r>
            <a:endParaRPr lang="en-US" sz="1000" dirty="0"/>
          </a:p>
        </p:txBody>
      </p:sp>
      <p:sp>
        <p:nvSpPr>
          <p:cNvPr id="73" name="Text 71"/>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9 individual session reports + 1 consolidated report  |  Participant mix: 7 marketing, 2 digital team  |  SQ5 answered</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PHASE 6 · IMPLEMENT</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Building the System in Delta's CMS</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7516368" y="411480"/>
            <a:ext cx="1261872" cy="960120"/>
          </a:xfrm>
          <a:prstGeom prst="roundRect">
            <a:avLst>
              <a:gd name="adj" fmla="val 9524"/>
            </a:avLst>
          </a:prstGeom>
          <a:solidFill>
            <a:srgbClr val="00294D"/>
          </a:solidFill>
          <a:ln w="12700">
            <a:solidFill>
              <a:srgbClr val="00294D"/>
            </a:solidFill>
            <a:prstDash val="solid"/>
          </a:ln>
          <a:effectLst>
            <a:outerShdw sx="100000" sy="100000" kx="0" ky="0" algn="bl" rotWithShape="0" blurRad="152400" dist="50800" dir="2700000">
              <a:srgbClr val="000000">
                <a:alpha val="18000"/>
              </a:srgbClr>
            </a:outerShdw>
          </a:effectLst>
        </p:spPr>
      </p:sp>
      <p:sp>
        <p:nvSpPr>
          <p:cNvPr id="7" name="Text 5"/>
          <p:cNvSpPr/>
          <p:nvPr/>
        </p:nvSpPr>
        <p:spPr>
          <a:xfrm>
            <a:off x="7516368" y="438912"/>
            <a:ext cx="1261872" cy="53035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8" name="Text 6"/>
          <p:cNvSpPr/>
          <p:nvPr/>
        </p:nvSpPr>
        <p:spPr>
          <a:xfrm>
            <a:off x="7516368" y="914400"/>
            <a:ext cx="1261872"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Implement</a:t>
            </a:r>
            <a:endParaRPr lang="en-US" sz="900" dirty="0"/>
          </a:p>
        </p:txBody>
      </p:sp>
      <p:sp>
        <p:nvSpPr>
          <p:cNvPr id="9" name="Shape 7"/>
          <p:cNvSpPr/>
          <p:nvPr/>
        </p:nvSpPr>
        <p:spPr>
          <a:xfrm>
            <a:off x="365760" y="1261872"/>
            <a:ext cx="2788920" cy="2212848"/>
          </a:xfrm>
          <a:prstGeom prst="roundRect">
            <a:avLst>
              <a:gd name="adj" fmla="val 3719"/>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502920" y="1335024"/>
            <a:ext cx="2514600"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Methods Used</a:t>
            </a:r>
            <a:endParaRPr lang="en-US" sz="1200" dirty="0"/>
          </a:p>
        </p:txBody>
      </p:sp>
      <p:sp>
        <p:nvSpPr>
          <p:cNvPr id="11" name="Shape 9"/>
          <p:cNvSpPr/>
          <p:nvPr/>
        </p:nvSpPr>
        <p:spPr>
          <a:xfrm>
            <a:off x="502920" y="1682496"/>
            <a:ext cx="2514600" cy="25603"/>
          </a:xfrm>
          <a:prstGeom prst="rect">
            <a:avLst/>
          </a:prstGeom>
          <a:solidFill>
            <a:srgbClr val="0087DC"/>
          </a:solidFill>
          <a:ln w="12700">
            <a:solidFill>
              <a:srgbClr val="0087DC"/>
            </a:solidFill>
            <a:prstDash val="solid"/>
          </a:ln>
        </p:spPr>
      </p:sp>
      <p:sp>
        <p:nvSpPr>
          <p:cNvPr id="12" name="Text 10"/>
          <p:cNvSpPr/>
          <p:nvPr/>
        </p:nvSpPr>
        <p:spPr>
          <a:xfrm>
            <a:off x="502920" y="1773936"/>
            <a:ext cx="2514600" cy="1572768"/>
          </a:xfrm>
          <a:prstGeom prst="rect">
            <a:avLst/>
          </a:prstGeom>
          <a:noFill/>
          <a:ln/>
        </p:spPr>
        <p:txBody>
          <a:bodyPr wrap="square" lIns="25400" tIns="25400" rIns="25400" bIns="25400" rtlCol="0" anchor="ctr"/>
          <a:lstStyle/>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Implementation log</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Design artefact documentation</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Change log (v4–v6 refinements)</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Stakeholder &amp; developer feedback</a:t>
            </a:r>
            <a:endParaRPr lang="en-US" sz="1100" dirty="0"/>
          </a:p>
          <a:p>
            <a:pPr marL="342900" indent="-342900">
              <a:spcAft>
                <a:spcPts val="400"/>
              </a:spcAft>
              <a:buSzPct val="100000"/>
              <a:buChar char="•"/>
            </a:pPr>
            <a:r>
              <a:rPr lang="en-US" sz="1100" dirty="0">
                <a:solidFill>
                  <a:srgbClr val="334155"/>
                </a:solidFill>
                <a:latin typeface="Calibri" pitchFamily="34" charset="0"/>
                <a:ea typeface="Calibri" pitchFamily="34" charset="-122"/>
                <a:cs typeface="Calibri" pitchFamily="34" charset="-120"/>
              </a:rPr>
              <a:t>Final delivery documentation</a:t>
            </a:r>
            <a:endParaRPr lang="en-US" sz="1100" dirty="0"/>
          </a:p>
        </p:txBody>
      </p:sp>
      <p:sp>
        <p:nvSpPr>
          <p:cNvPr id="13" name="Shape 11"/>
          <p:cNvSpPr/>
          <p:nvPr/>
        </p:nvSpPr>
        <p:spPr>
          <a:xfrm>
            <a:off x="365760" y="3547872"/>
            <a:ext cx="2788920" cy="1234440"/>
          </a:xfrm>
          <a:prstGeom prst="roundRect">
            <a:avLst>
              <a:gd name="adj" fmla="val 6667"/>
            </a:avLst>
          </a:prstGeom>
          <a:solidFill>
            <a:srgbClr val="F3FADA"/>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502920" y="3621024"/>
            <a:ext cx="2514600" cy="292608"/>
          </a:xfrm>
          <a:prstGeom prst="rect">
            <a:avLst/>
          </a:prstGeom>
          <a:noFill/>
          <a:ln/>
        </p:spPr>
        <p:txBody>
          <a:bodyPr wrap="square" lIns="0" tIns="0" rIns="0" bIns="0" rtlCol="0" anchor="ctr"/>
          <a:lstStyle/>
          <a:p>
            <a:pPr indent="0" marL="0">
              <a:buNone/>
            </a:pPr>
            <a:r>
              <a:rPr lang="en-US" sz="1100" b="1" dirty="0">
                <a:solidFill>
                  <a:srgbClr val="00294D"/>
                </a:solidFill>
                <a:latin typeface="Cambria" pitchFamily="34" charset="0"/>
                <a:ea typeface="Cambria" pitchFamily="34" charset="-122"/>
                <a:cs typeface="Cambria" pitchFamily="34" charset="-120"/>
              </a:rPr>
              <a:t>Test-Driven Refinement</a:t>
            </a:r>
            <a:endParaRPr lang="en-US" sz="1100" dirty="0"/>
          </a:p>
        </p:txBody>
      </p:sp>
      <p:sp>
        <p:nvSpPr>
          <p:cNvPr id="15" name="Text 13"/>
          <p:cNvSpPr/>
          <p:nvPr/>
        </p:nvSpPr>
        <p:spPr>
          <a:xfrm>
            <a:off x="502920" y="3931920"/>
            <a:ext cx="2514600" cy="8046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Test findings directly drove refinement. The change log documents every decision — from layout adjustments to component behaviour — making the evolution fully traceable.</a:t>
            </a:r>
            <a:endParaRPr lang="en-US" sz="1050" dirty="0"/>
          </a:p>
        </p:txBody>
      </p:sp>
      <p:sp>
        <p:nvSpPr>
          <p:cNvPr id="16" name="Shape 14"/>
          <p:cNvSpPr/>
          <p:nvPr/>
        </p:nvSpPr>
        <p:spPr>
          <a:xfrm>
            <a:off x="3310128" y="1298448"/>
            <a:ext cx="1828800" cy="3483864"/>
          </a:xfrm>
          <a:prstGeom prst="roundRect">
            <a:avLst>
              <a:gd name="adj" fmla="val 4500"/>
            </a:avLst>
          </a:prstGeom>
          <a:solidFill>
            <a:srgbClr val="F5F8FB"/>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3383280" y="1389888"/>
            <a:ext cx="1682496" cy="347472"/>
          </a:xfrm>
          <a:prstGeom prst="rect">
            <a:avLst/>
          </a:prstGeom>
          <a:noFill/>
          <a:ln/>
        </p:spPr>
        <p:txBody>
          <a:bodyPr wrap="square" lIns="0" tIns="0" rIns="0" bIns="0" rtlCol="0" anchor="ctr"/>
          <a:lstStyle/>
          <a:p>
            <a:pPr algn="ctr" indent="0" marL="0">
              <a:buNone/>
            </a:pPr>
            <a:r>
              <a:rPr lang="en-US" sz="1100" b="1" dirty="0">
                <a:solidFill>
                  <a:srgbClr val="00294D"/>
                </a:solidFill>
                <a:latin typeface="Cambria" pitchFamily="34" charset="0"/>
                <a:ea typeface="Cambria" pitchFamily="34" charset="-122"/>
                <a:cs typeface="Cambria" pitchFamily="34" charset="-120"/>
              </a:rPr>
              <a:t>Component Library</a:t>
            </a:r>
            <a:endParaRPr lang="en-US" sz="1100" dirty="0"/>
          </a:p>
        </p:txBody>
      </p:sp>
      <p:sp>
        <p:nvSpPr>
          <p:cNvPr id="18" name="Shape 16"/>
          <p:cNvSpPr/>
          <p:nvPr/>
        </p:nvSpPr>
        <p:spPr>
          <a:xfrm>
            <a:off x="3401568" y="1773936"/>
            <a:ext cx="1645920" cy="23774"/>
          </a:xfrm>
          <a:prstGeom prst="rect">
            <a:avLst/>
          </a:prstGeom>
          <a:solidFill>
            <a:srgbClr val="0087DC"/>
          </a:solidFill>
          <a:ln w="12700">
            <a:solidFill>
              <a:srgbClr val="0087DC"/>
            </a:solidFill>
            <a:prstDash val="solid"/>
          </a:ln>
        </p:spPr>
      </p:sp>
      <p:sp>
        <p:nvSpPr>
          <p:cNvPr id="19" name="Text 17"/>
          <p:cNvSpPr/>
          <p:nvPr/>
        </p:nvSpPr>
        <p:spPr>
          <a:xfrm>
            <a:off x="3401568" y="1892808"/>
            <a:ext cx="1645920" cy="2743200"/>
          </a:xfrm>
          <a:prstGeom prst="rect">
            <a:avLst/>
          </a:prstGeom>
          <a:noFill/>
          <a:ln/>
        </p:spPr>
        <p:txBody>
          <a:bodyPr wrap="square" lIns="25400" tIns="25400" rIns="25400" bIns="25400" rtlCol="0" anchor="ctr"/>
          <a:lstStyle/>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Hero banner section</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USP / feature blocks</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Call-to-action strip</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Contact form module</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Text + image blocks</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Footer / legal section</a:t>
            </a:r>
            <a:endParaRPr lang="en-US" sz="1000" dirty="0"/>
          </a:p>
        </p:txBody>
      </p:sp>
      <p:sp>
        <p:nvSpPr>
          <p:cNvPr id="20" name="Shape 18"/>
          <p:cNvSpPr/>
          <p:nvPr/>
        </p:nvSpPr>
        <p:spPr>
          <a:xfrm>
            <a:off x="5248656" y="1298448"/>
            <a:ext cx="1828800" cy="3483864"/>
          </a:xfrm>
          <a:prstGeom prst="roundRect">
            <a:avLst>
              <a:gd name="adj" fmla="val 4500"/>
            </a:avLst>
          </a:prstGeom>
          <a:solidFill>
            <a:srgbClr val="F5F8FB"/>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1" name="Text 19"/>
          <p:cNvSpPr/>
          <p:nvPr/>
        </p:nvSpPr>
        <p:spPr>
          <a:xfrm>
            <a:off x="5321808" y="1389888"/>
            <a:ext cx="1682496" cy="347472"/>
          </a:xfrm>
          <a:prstGeom prst="rect">
            <a:avLst/>
          </a:prstGeom>
          <a:noFill/>
          <a:ln/>
        </p:spPr>
        <p:txBody>
          <a:bodyPr wrap="square" lIns="0" tIns="0" rIns="0" bIns="0" rtlCol="0" anchor="ctr"/>
          <a:lstStyle/>
          <a:p>
            <a:pPr algn="ctr" indent="0" marL="0">
              <a:buNone/>
            </a:pPr>
            <a:r>
              <a:rPr lang="en-US" sz="1100" b="1" dirty="0">
                <a:solidFill>
                  <a:srgbClr val="00294D"/>
                </a:solidFill>
                <a:latin typeface="Cambria" pitchFamily="34" charset="0"/>
                <a:ea typeface="Cambria" pitchFamily="34" charset="-122"/>
                <a:cs typeface="Cambria" pitchFamily="34" charset="-120"/>
              </a:rPr>
              <a:t>Configuration System</a:t>
            </a:r>
            <a:endParaRPr lang="en-US" sz="1100" dirty="0"/>
          </a:p>
        </p:txBody>
      </p:sp>
      <p:sp>
        <p:nvSpPr>
          <p:cNvPr id="22" name="Shape 20"/>
          <p:cNvSpPr/>
          <p:nvPr/>
        </p:nvSpPr>
        <p:spPr>
          <a:xfrm>
            <a:off x="5340096" y="1773936"/>
            <a:ext cx="1645920" cy="23774"/>
          </a:xfrm>
          <a:prstGeom prst="rect">
            <a:avLst/>
          </a:prstGeom>
          <a:solidFill>
            <a:srgbClr val="0087DC"/>
          </a:solidFill>
          <a:ln w="12700">
            <a:solidFill>
              <a:srgbClr val="0087DC"/>
            </a:solidFill>
            <a:prstDash val="solid"/>
          </a:ln>
        </p:spPr>
      </p:sp>
      <p:sp>
        <p:nvSpPr>
          <p:cNvPr id="23" name="Text 21"/>
          <p:cNvSpPr/>
          <p:nvPr/>
        </p:nvSpPr>
        <p:spPr>
          <a:xfrm>
            <a:off x="5340096" y="1892808"/>
            <a:ext cx="1645920" cy="2743200"/>
          </a:xfrm>
          <a:prstGeom prst="rect">
            <a:avLst/>
          </a:prstGeom>
          <a:noFill/>
          <a:ln/>
        </p:spPr>
        <p:txBody>
          <a:bodyPr wrap="square" lIns="25400" tIns="25400" rIns="25400" bIns="25400" rtlCol="0" anchor="ctr"/>
          <a:lstStyle/>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Sidebar settings panel</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Clear field labels + help text</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Required vs optional logic</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Image uploader integrated</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Live preview pane</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Publish / draft workflow</a:t>
            </a:r>
            <a:endParaRPr lang="en-US" sz="1000" dirty="0"/>
          </a:p>
        </p:txBody>
      </p:sp>
      <p:sp>
        <p:nvSpPr>
          <p:cNvPr id="24" name="Shape 22"/>
          <p:cNvSpPr/>
          <p:nvPr/>
        </p:nvSpPr>
        <p:spPr>
          <a:xfrm>
            <a:off x="7187184" y="1298448"/>
            <a:ext cx="1828800" cy="3483864"/>
          </a:xfrm>
          <a:prstGeom prst="roundRect">
            <a:avLst>
              <a:gd name="adj" fmla="val 4500"/>
            </a:avLst>
          </a:prstGeom>
          <a:solidFill>
            <a:srgbClr val="F5F8FB"/>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5" name="Text 23"/>
          <p:cNvSpPr/>
          <p:nvPr/>
        </p:nvSpPr>
        <p:spPr>
          <a:xfrm>
            <a:off x="7260336" y="1389888"/>
            <a:ext cx="1682496" cy="347472"/>
          </a:xfrm>
          <a:prstGeom prst="rect">
            <a:avLst/>
          </a:prstGeom>
          <a:noFill/>
          <a:ln/>
        </p:spPr>
        <p:txBody>
          <a:bodyPr wrap="square" lIns="0" tIns="0" rIns="0" bIns="0" rtlCol="0" anchor="ctr"/>
          <a:lstStyle/>
          <a:p>
            <a:pPr algn="ctr" indent="0" marL="0">
              <a:buNone/>
            </a:pPr>
            <a:r>
              <a:rPr lang="en-US" sz="1100" b="1" dirty="0">
                <a:solidFill>
                  <a:srgbClr val="00294D"/>
                </a:solidFill>
                <a:latin typeface="Cambria" pitchFamily="34" charset="0"/>
                <a:ea typeface="Cambria" pitchFamily="34" charset="-122"/>
                <a:cs typeface="Cambria" pitchFamily="34" charset="-120"/>
              </a:rPr>
              <a:t>Delivered Outcomes</a:t>
            </a:r>
            <a:endParaRPr lang="en-US" sz="1100" dirty="0"/>
          </a:p>
        </p:txBody>
      </p:sp>
      <p:sp>
        <p:nvSpPr>
          <p:cNvPr id="26" name="Shape 24"/>
          <p:cNvSpPr/>
          <p:nvPr/>
        </p:nvSpPr>
        <p:spPr>
          <a:xfrm>
            <a:off x="7278624" y="1773936"/>
            <a:ext cx="1645920" cy="23774"/>
          </a:xfrm>
          <a:prstGeom prst="rect">
            <a:avLst/>
          </a:prstGeom>
          <a:solidFill>
            <a:srgbClr val="0087DC"/>
          </a:solidFill>
          <a:ln w="12700">
            <a:solidFill>
              <a:srgbClr val="0087DC"/>
            </a:solidFill>
            <a:prstDash val="solid"/>
          </a:ln>
        </p:spPr>
      </p:sp>
      <p:sp>
        <p:nvSpPr>
          <p:cNvPr id="27" name="Text 25"/>
          <p:cNvSpPr/>
          <p:nvPr/>
        </p:nvSpPr>
        <p:spPr>
          <a:xfrm>
            <a:off x="7278624" y="1892808"/>
            <a:ext cx="1645920" cy="2743200"/>
          </a:xfrm>
          <a:prstGeom prst="rect">
            <a:avLst/>
          </a:prstGeom>
          <a:noFill/>
          <a:ln/>
        </p:spPr>
        <p:txBody>
          <a:bodyPr wrap="square" lIns="25400" tIns="25400" rIns="25400" bIns="25400" rtlCol="0" anchor="ctr"/>
          <a:lstStyle/>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Zero coding for marketers</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Full self-service configuration</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Instant visual feedback</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Consistent page structure</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Versions 1–6 documented</a:t>
            </a:r>
            <a:endParaRPr lang="en-US" sz="1000" dirty="0"/>
          </a:p>
          <a:p>
            <a:pPr marL="342900" indent="-342900">
              <a:spcAft>
                <a:spcPts val="300"/>
              </a:spcAft>
              <a:buSzPct val="100000"/>
              <a:buChar char="•"/>
            </a:pPr>
            <a:r>
              <a:rPr lang="en-US" sz="1000" dirty="0">
                <a:solidFill>
                  <a:srgbClr val="334155"/>
                </a:solidFill>
                <a:latin typeface="Calibri" pitchFamily="34" charset="0"/>
                <a:ea typeface="Calibri" pitchFamily="34" charset="-122"/>
                <a:cs typeface="Calibri" pitchFamily="34" charset="-120"/>
              </a:rPr>
              <a:t>Ready for live campaigns</a:t>
            </a:r>
            <a:endParaRPr lang="en-US" sz="1000" dirty="0"/>
          </a:p>
        </p:txBody>
      </p:sp>
      <p:sp>
        <p:nvSpPr>
          <p:cNvPr id="28" name="Text 26"/>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SQ4 completed · Test findings → v4–v6 refinements → final documented version ready for live campaigns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94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87DC"/>
          </a:solidFill>
          <a:ln w="12700">
            <a:solidFill>
              <a:srgbClr val="0087DC"/>
            </a:solidFill>
            <a:prstDash val="solid"/>
          </a:ln>
        </p:spPr>
      </p:sp>
      <p:sp>
        <p:nvSpPr>
          <p:cNvPr id="3" name="Shape 1"/>
          <p:cNvSpPr/>
          <p:nvPr/>
        </p:nvSpPr>
        <p:spPr>
          <a:xfrm>
            <a:off x="0" y="822960"/>
            <a:ext cx="9144000" cy="54864"/>
          </a:xfrm>
          <a:prstGeom prst="rect">
            <a:avLst/>
          </a:prstGeom>
          <a:solidFill>
            <a:srgbClr val="67D7D2"/>
          </a:solidFill>
          <a:ln w="12700">
            <a:solidFill>
              <a:srgbClr val="67D7D2"/>
            </a:solidFill>
            <a:prstDash val="solid"/>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1000" b="1" spc="4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5" name="Text 3"/>
          <p:cNvSpPr/>
          <p:nvPr/>
        </p:nvSpPr>
        <p:spPr>
          <a:xfrm>
            <a:off x="457200" y="1005840"/>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Template System — Live Walkthrough</a:t>
            </a:r>
            <a:endParaRPr lang="en-US" sz="2800" dirty="0"/>
          </a:p>
        </p:txBody>
      </p:sp>
      <p:sp>
        <p:nvSpPr>
          <p:cNvPr id="6" name="Shape 4"/>
          <p:cNvSpPr/>
          <p:nvPr/>
        </p:nvSpPr>
        <p:spPr>
          <a:xfrm>
            <a:off x="365760" y="1719072"/>
            <a:ext cx="5669280" cy="2971800"/>
          </a:xfrm>
          <a:prstGeom prst="roundRect">
            <a:avLst>
              <a:gd name="adj" fmla="val 3077"/>
            </a:avLst>
          </a:prstGeom>
          <a:solidFill>
            <a:srgbClr val="001E38"/>
          </a:solidFill>
          <a:ln w="25400">
            <a:solidFill>
              <a:srgbClr val="67D7D2"/>
            </a:solidFill>
            <a:prstDash val="solid"/>
          </a:ln>
        </p:spPr>
      </p:sp>
      <p:sp>
        <p:nvSpPr>
          <p:cNvPr id="7" name="Shape 5"/>
          <p:cNvSpPr/>
          <p:nvPr/>
        </p:nvSpPr>
        <p:spPr>
          <a:xfrm>
            <a:off x="2651760" y="2606040"/>
            <a:ext cx="640080" cy="640080"/>
          </a:xfrm>
          <a:prstGeom prst="oval">
            <a:avLst/>
          </a:prstGeom>
          <a:solidFill>
            <a:srgbClr val="0087DC"/>
          </a:solidFill>
          <a:ln w="12700">
            <a:solidFill>
              <a:srgbClr val="0087DC"/>
            </a:solidFill>
            <a:prstDash val="solid"/>
          </a:ln>
        </p:spPr>
      </p:sp>
      <p:pic>
        <p:nvPicPr>
          <p:cNvPr id="8" name="Image 0" descr="preencoded.png">    </p:cNvPr>
          <p:cNvPicPr>
            <a:picLocks noChangeAspect="1"/>
          </p:cNvPicPr>
          <p:nvPr/>
        </p:nvPicPr>
        <p:blipFill>
          <a:blip r:embed="rId1"/>
          <a:stretch>
            <a:fillRect/>
          </a:stretch>
        </p:blipFill>
        <p:spPr>
          <a:xfrm>
            <a:off x="2743200" y="2697480"/>
            <a:ext cx="457200" cy="457200"/>
          </a:xfrm>
          <a:prstGeom prst="rect">
            <a:avLst/>
          </a:prstGeom>
        </p:spPr>
      </p:pic>
      <p:sp>
        <p:nvSpPr>
          <p:cNvPr id="9" name="Text 6"/>
          <p:cNvSpPr/>
          <p:nvPr/>
        </p:nvSpPr>
        <p:spPr>
          <a:xfrm>
            <a:off x="365760" y="3127248"/>
            <a:ext cx="5669280" cy="457200"/>
          </a:xfrm>
          <a:prstGeom prst="rect">
            <a:avLst/>
          </a:prstGeom>
          <a:noFill/>
          <a:ln/>
        </p:spPr>
        <p:txBody>
          <a:bodyPr wrap="square" lIns="0" tIns="0" rIns="0" bIns="0" rtlCol="0" anchor="ctr"/>
          <a:lstStyle/>
          <a:p>
            <a:pPr algn="ctr" indent="0" marL="0">
              <a:buNone/>
            </a:pPr>
            <a:r>
              <a:rPr lang="en-US" sz="1200" i="1" dirty="0">
                <a:solidFill>
                  <a:srgbClr val="67D7D2"/>
                </a:solidFill>
                <a:latin typeface="Calibri" pitchFamily="34" charset="0"/>
                <a:ea typeface="Calibri" pitchFamily="34" charset="-122"/>
                <a:cs typeface="Calibri" pitchFamily="34" charset="-120"/>
              </a:rPr>
              <a:t>📌  Open the CMS here during the defense</a:t>
            </a:r>
            <a:endParaRPr lang="en-US" sz="1200" dirty="0"/>
          </a:p>
        </p:txBody>
      </p:sp>
      <p:sp>
        <p:nvSpPr>
          <p:cNvPr id="10" name="Text 7"/>
          <p:cNvSpPr/>
          <p:nvPr/>
        </p:nvSpPr>
        <p:spPr>
          <a:xfrm>
            <a:off x="365760" y="3566160"/>
            <a:ext cx="5669280" cy="320040"/>
          </a:xfrm>
          <a:prstGeom prst="rect">
            <a:avLst/>
          </a:prstGeom>
          <a:noFill/>
          <a:ln/>
        </p:spPr>
        <p:txBody>
          <a:bodyPr wrap="square" lIns="0" tIns="0" rIns="0" bIns="0" rtlCol="0" anchor="ctr"/>
          <a:lstStyle/>
          <a:p>
            <a:pPr algn="ctr" indent="0" marL="0">
              <a:buNone/>
            </a:pPr>
            <a:r>
              <a:rPr lang="en-US" sz="1000" i="1" dirty="0">
                <a:solidFill>
                  <a:srgbClr val="8BBCD8"/>
                </a:solidFill>
                <a:latin typeface="Calibri" pitchFamily="34" charset="0"/>
                <a:ea typeface="Calibri" pitchFamily="34" charset="-122"/>
                <a:cs typeface="Calibri" pitchFamily="34" charset="-120"/>
              </a:rPr>
              <a:t>OR insert a Figma prototype embed / screen recording</a:t>
            </a:r>
            <a:endParaRPr lang="en-US" sz="1000" dirty="0"/>
          </a:p>
        </p:txBody>
      </p:sp>
      <p:sp>
        <p:nvSpPr>
          <p:cNvPr id="11" name="Shape 8"/>
          <p:cNvSpPr/>
          <p:nvPr/>
        </p:nvSpPr>
        <p:spPr>
          <a:xfrm>
            <a:off x="6199632" y="1719072"/>
            <a:ext cx="2606040" cy="2971800"/>
          </a:xfrm>
          <a:prstGeom prst="roundRect">
            <a:avLst>
              <a:gd name="adj" fmla="val 3158"/>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12" name="Text 9"/>
          <p:cNvSpPr/>
          <p:nvPr/>
        </p:nvSpPr>
        <p:spPr>
          <a:xfrm>
            <a:off x="6336792" y="1792224"/>
            <a:ext cx="2331720" cy="329184"/>
          </a:xfrm>
          <a:prstGeom prst="rect">
            <a:avLst/>
          </a:prstGeom>
          <a:noFill/>
          <a:ln/>
        </p:spPr>
        <p:txBody>
          <a:bodyPr wrap="square" lIns="0" tIns="0" rIns="0" bIns="0" rtlCol="0" anchor="ctr"/>
          <a:lstStyle/>
          <a:p>
            <a:pPr indent="0" marL="0">
              <a:buNone/>
            </a:pPr>
            <a:r>
              <a:rPr lang="en-US" sz="1100" b="1" dirty="0">
                <a:solidFill>
                  <a:srgbClr val="67D7D2"/>
                </a:solidFill>
                <a:latin typeface="Cambria" pitchFamily="34" charset="0"/>
                <a:ea typeface="Cambria" pitchFamily="34" charset="-122"/>
                <a:cs typeface="Cambria" pitchFamily="34" charset="-120"/>
              </a:rPr>
              <a:t>What to Demonstrate</a:t>
            </a:r>
            <a:endParaRPr lang="en-US" sz="1100" dirty="0"/>
          </a:p>
        </p:txBody>
      </p:sp>
      <p:sp>
        <p:nvSpPr>
          <p:cNvPr id="13" name="Shape 10"/>
          <p:cNvSpPr/>
          <p:nvPr/>
        </p:nvSpPr>
        <p:spPr>
          <a:xfrm>
            <a:off x="6336792" y="2139696"/>
            <a:ext cx="2331720" cy="23774"/>
          </a:xfrm>
          <a:prstGeom prst="rect">
            <a:avLst/>
          </a:prstGeom>
          <a:solidFill>
            <a:srgbClr val="0087DC"/>
          </a:solidFill>
          <a:ln w="12700">
            <a:solidFill>
              <a:srgbClr val="0087DC"/>
            </a:solidFill>
            <a:prstDash val="solid"/>
          </a:ln>
        </p:spPr>
      </p:sp>
      <p:sp>
        <p:nvSpPr>
          <p:cNvPr id="14" name="Text 11"/>
          <p:cNvSpPr/>
          <p:nvPr/>
        </p:nvSpPr>
        <p:spPr>
          <a:xfrm>
            <a:off x="6336792" y="2212848"/>
            <a:ext cx="2331720" cy="2359152"/>
          </a:xfrm>
          <a:prstGeom prst="rect">
            <a:avLst/>
          </a:prstGeom>
          <a:noFill/>
          <a:ln/>
        </p:spPr>
        <p:txBody>
          <a:bodyPr wrap="square" lIns="25400" tIns="25400" rIns="25400" bIns="25400" rtlCol="0" anchor="ctr"/>
          <a:lstStyle/>
          <a:p>
            <a:pPr marL="342900" indent="-342900">
              <a:spcAft>
                <a:spcPts val="400"/>
              </a:spcAft>
              <a:buSzPct val="100000"/>
              <a:buFont typeface="+mj-lt"/>
              <a:buAutoNum type="arabicPeriod" startAt="1"/>
            </a:pPr>
            <a:r>
              <a:rPr lang="en-US" sz="1050" dirty="0">
                <a:solidFill>
                  <a:srgbClr val="C8DCF0"/>
                </a:solidFill>
                <a:latin typeface="Calibri" pitchFamily="34" charset="0"/>
                <a:ea typeface="Calibri" pitchFamily="34" charset="-122"/>
                <a:cs typeface="Calibri" pitchFamily="34" charset="-120"/>
              </a:rPr>
              <a:t>Select a campaign template</a:t>
            </a:r>
            <a:endParaRPr lang="en-US" sz="1050" dirty="0"/>
          </a:p>
          <a:p>
            <a:pPr marL="342900" indent="-342900">
              <a:spcAft>
                <a:spcPts val="400"/>
              </a:spcAft>
              <a:buSzPct val="100000"/>
              <a:buFont typeface="+mj-lt"/>
              <a:buAutoNum type="arabicPeriod" startAt="1"/>
            </a:pPr>
            <a:r>
              <a:rPr lang="en-US" sz="1050" dirty="0">
                <a:solidFill>
                  <a:srgbClr val="C8DCF0"/>
                </a:solidFill>
                <a:latin typeface="Calibri" pitchFamily="34" charset="0"/>
                <a:ea typeface="Calibri" pitchFamily="34" charset="-122"/>
                <a:cs typeface="Calibri" pitchFamily="34" charset="-120"/>
              </a:rPr>
              <a:t>Configure the hero component</a:t>
            </a:r>
            <a:endParaRPr lang="en-US" sz="1050" dirty="0"/>
          </a:p>
          <a:p>
            <a:pPr marL="342900" indent="-342900">
              <a:spcAft>
                <a:spcPts val="400"/>
              </a:spcAft>
              <a:buSzPct val="100000"/>
              <a:buFont typeface="+mj-lt"/>
              <a:buAutoNum type="arabicPeriod" startAt="1"/>
            </a:pPr>
            <a:r>
              <a:rPr lang="en-US" sz="1050" dirty="0">
                <a:solidFill>
                  <a:srgbClr val="C8DCF0"/>
                </a:solidFill>
                <a:latin typeface="Calibri" pitchFamily="34" charset="0"/>
                <a:ea typeface="Calibri" pitchFamily="34" charset="-122"/>
                <a:cs typeface="Calibri" pitchFamily="34" charset="-120"/>
              </a:rPr>
              <a:t>Add a USP block</a:t>
            </a:r>
            <a:endParaRPr lang="en-US" sz="1050" dirty="0"/>
          </a:p>
          <a:p>
            <a:pPr marL="342900" indent="-342900">
              <a:spcAft>
                <a:spcPts val="400"/>
              </a:spcAft>
              <a:buSzPct val="100000"/>
              <a:buFont typeface="+mj-lt"/>
              <a:buAutoNum type="arabicPeriod" startAt="1"/>
            </a:pPr>
            <a:r>
              <a:rPr lang="en-US" sz="1050" dirty="0">
                <a:solidFill>
                  <a:srgbClr val="C8DCF0"/>
                </a:solidFill>
                <a:latin typeface="Calibri" pitchFamily="34" charset="0"/>
                <a:ea typeface="Calibri" pitchFamily="34" charset="-122"/>
                <a:cs typeface="Calibri" pitchFamily="34" charset="-120"/>
              </a:rPr>
              <a:t>Add a CTA strip</a:t>
            </a:r>
            <a:endParaRPr lang="en-US" sz="1050" dirty="0"/>
          </a:p>
          <a:p>
            <a:pPr marL="342900" indent="-342900">
              <a:spcAft>
                <a:spcPts val="400"/>
              </a:spcAft>
              <a:buSzPct val="100000"/>
              <a:buFont typeface="+mj-lt"/>
              <a:buAutoNum type="arabicPeriod" startAt="1"/>
            </a:pPr>
            <a:r>
              <a:rPr lang="en-US" sz="1050" dirty="0">
                <a:solidFill>
                  <a:srgbClr val="C8DCF0"/>
                </a:solidFill>
                <a:latin typeface="Calibri" pitchFamily="34" charset="0"/>
                <a:ea typeface="Calibri" pitchFamily="34" charset="-122"/>
                <a:cs typeface="Calibri" pitchFamily="34" charset="-120"/>
              </a:rPr>
              <a:t>Show the live preview</a:t>
            </a:r>
            <a:endParaRPr lang="en-US" sz="1050" dirty="0"/>
          </a:p>
          <a:p>
            <a:pPr marL="342900" indent="-342900">
              <a:spcAft>
                <a:spcPts val="400"/>
              </a:spcAft>
              <a:buSzPct val="100000"/>
              <a:buFont typeface="+mj-lt"/>
              <a:buAutoNum type="arabicPeriod" startAt="1"/>
            </a:pPr>
            <a:r>
              <a:rPr lang="en-US" sz="1050" dirty="0">
                <a:solidFill>
                  <a:srgbClr val="C8DCF0"/>
                </a:solidFill>
                <a:latin typeface="Calibri" pitchFamily="34" charset="0"/>
                <a:ea typeface="Calibri" pitchFamily="34" charset="-122"/>
                <a:cs typeface="Calibri" pitchFamily="34" charset="-120"/>
              </a:rPr>
              <a:t>Publish / save as draft</a:t>
            </a:r>
            <a:endParaRPr lang="en-US" sz="1050" dirty="0"/>
          </a:p>
        </p:txBody>
      </p:sp>
      <p:sp>
        <p:nvSpPr>
          <p:cNvPr id="15" name="Text 12"/>
          <p:cNvSpPr/>
          <p:nvPr/>
        </p:nvSpPr>
        <p:spPr>
          <a:xfrm>
            <a:off x="365760" y="4754880"/>
            <a:ext cx="8412480" cy="256032"/>
          </a:xfrm>
          <a:prstGeom prst="rect">
            <a:avLst/>
          </a:prstGeom>
          <a:noFill/>
          <a:ln/>
        </p:spPr>
        <p:txBody>
          <a:bodyPr wrap="square" lIns="0" tIns="0" rIns="0" bIns="0" rtlCol="0" anchor="ctr"/>
          <a:lstStyle/>
          <a:p>
            <a:pPr indent="0" marL="0">
              <a:buNone/>
            </a:pPr>
            <a:r>
              <a:rPr lang="en-US" sz="900" i="1" dirty="0">
                <a:solidFill>
                  <a:srgbClr val="446688"/>
                </a:solidFill>
                <a:latin typeface="Calibri" pitchFamily="34" charset="0"/>
                <a:ea typeface="Calibri" pitchFamily="34" charset="-122"/>
                <a:cs typeface="Calibri" pitchFamily="34" charset="-120"/>
              </a:rPr>
              <a:t>Time guidance: ~3–4 minutes for demo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RESULTS</a:t>
            </a:r>
            <a:endParaRPr lang="en-US" sz="800" dirty="0"/>
          </a:p>
        </p:txBody>
      </p:sp>
      <p:sp>
        <p:nvSpPr>
          <p:cNvPr id="4" name="Text 2"/>
          <p:cNvSpPr/>
          <p:nvPr/>
        </p:nvSpPr>
        <p:spPr>
          <a:xfrm>
            <a:off x="365760" y="530352"/>
            <a:ext cx="8412480" cy="475488"/>
          </a:xfrm>
          <a:prstGeom prst="rect">
            <a:avLst/>
          </a:prstGeom>
          <a:noFill/>
          <a:ln/>
        </p:spPr>
        <p:txBody>
          <a:bodyPr wrap="square" lIns="0" tIns="0" rIns="0" bIns="0" rtlCol="0" anchor="ctr"/>
          <a:lstStyle/>
          <a:p>
            <a:pPr indent="0" marL="0">
              <a:buNone/>
            </a:pPr>
            <a:r>
              <a:rPr lang="en-US" sz="2200" b="1" dirty="0">
                <a:solidFill>
                  <a:srgbClr val="00294D"/>
                </a:solidFill>
                <a:latin typeface="Cambria" pitchFamily="34" charset="0"/>
                <a:ea typeface="Cambria" pitchFamily="34" charset="-122"/>
                <a:cs typeface="Cambria" pitchFamily="34" charset="-120"/>
              </a:rPr>
              <a:t>Why the New System Reduced Time: A Direct Comparison</a:t>
            </a:r>
            <a:endParaRPr lang="en-US" sz="2200" dirty="0"/>
          </a:p>
        </p:txBody>
      </p:sp>
      <p:sp>
        <p:nvSpPr>
          <p:cNvPr id="5" name="Shape 3"/>
          <p:cNvSpPr/>
          <p:nvPr/>
        </p:nvSpPr>
        <p:spPr>
          <a:xfrm>
            <a:off x="365760" y="1042416"/>
            <a:ext cx="8412480" cy="25603"/>
          </a:xfrm>
          <a:prstGeom prst="rect">
            <a:avLst/>
          </a:prstGeom>
          <a:solidFill>
            <a:srgbClr val="0087DC"/>
          </a:solidFill>
          <a:ln w="12700">
            <a:solidFill>
              <a:srgbClr val="0087DC"/>
            </a:solidFill>
            <a:prstDash val="solid"/>
          </a:ln>
        </p:spPr>
      </p:sp>
      <p:sp>
        <p:nvSpPr>
          <p:cNvPr id="6" name="Shape 4"/>
          <p:cNvSpPr/>
          <p:nvPr/>
        </p:nvSpPr>
        <p:spPr>
          <a:xfrm>
            <a:off x="320040" y="1188720"/>
            <a:ext cx="3977640" cy="3611880"/>
          </a:xfrm>
          <a:prstGeom prst="roundRect">
            <a:avLst>
              <a:gd name="adj" fmla="val 2278"/>
            </a:avLst>
          </a:prstGeom>
          <a:solidFill>
            <a:srgbClr val="FFF5F5"/>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320040" y="1188720"/>
            <a:ext cx="3977640" cy="384048"/>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BEFORE</a:t>
            </a:r>
            <a:endParaRPr lang="en-US" sz="1200" dirty="0"/>
          </a:p>
        </p:txBody>
      </p:sp>
      <p:sp>
        <p:nvSpPr>
          <p:cNvPr id="8" name="Shape 6"/>
          <p:cNvSpPr/>
          <p:nvPr/>
        </p:nvSpPr>
        <p:spPr>
          <a:xfrm>
            <a:off x="457200" y="1664208"/>
            <a:ext cx="3712464" cy="475488"/>
          </a:xfrm>
          <a:prstGeom prst="roundRect">
            <a:avLst>
              <a:gd name="adj" fmla="val 13462"/>
            </a:avLst>
          </a:prstGeom>
          <a:solidFill>
            <a:srgbClr val="FDEAEA"/>
          </a:solidFill>
          <a:ln w="12700">
            <a:solidFill>
              <a:srgbClr val="F4B8B8"/>
            </a:solidFill>
            <a:prstDash val="solid"/>
          </a:ln>
        </p:spPr>
      </p:sp>
      <p:sp>
        <p:nvSpPr>
          <p:cNvPr id="9" name="Text 7"/>
          <p:cNvSpPr/>
          <p:nvPr/>
        </p:nvSpPr>
        <p:spPr>
          <a:xfrm>
            <a:off x="548640" y="1664208"/>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Marketer designs layout from scratch</a:t>
            </a:r>
            <a:endParaRPr lang="en-US" sz="1000" dirty="0"/>
          </a:p>
        </p:txBody>
      </p:sp>
      <p:sp>
        <p:nvSpPr>
          <p:cNvPr id="10" name="Text 8"/>
          <p:cNvSpPr/>
          <p:nvPr/>
        </p:nvSpPr>
        <p:spPr>
          <a:xfrm>
            <a:off x="3163824" y="1664208"/>
            <a:ext cx="914400" cy="475488"/>
          </a:xfrm>
          <a:prstGeom prst="rect">
            <a:avLst/>
          </a:prstGeom>
          <a:noFill/>
          <a:ln/>
        </p:spPr>
        <p:txBody>
          <a:bodyPr wrap="square" lIns="0" tIns="0" rIns="0" bIns="0" rtlCol="0" anchor="ctr"/>
          <a:lstStyle/>
          <a:p>
            <a:pPr algn="r" indent="0" marL="0">
              <a:buNone/>
            </a:pPr>
            <a:r>
              <a:rPr lang="en-US" sz="1000" b="1" dirty="0">
                <a:solidFill>
                  <a:srgbClr val="C0392B"/>
                </a:solidFill>
              </a:rPr>
              <a:t>~3–5 days</a:t>
            </a:r>
            <a:endParaRPr lang="en-US" sz="1000" dirty="0"/>
          </a:p>
        </p:txBody>
      </p:sp>
      <p:sp>
        <p:nvSpPr>
          <p:cNvPr id="11" name="Shape 9"/>
          <p:cNvSpPr/>
          <p:nvPr/>
        </p:nvSpPr>
        <p:spPr>
          <a:xfrm>
            <a:off x="457200" y="2231136"/>
            <a:ext cx="3712464" cy="475488"/>
          </a:xfrm>
          <a:prstGeom prst="roundRect">
            <a:avLst>
              <a:gd name="adj" fmla="val 13462"/>
            </a:avLst>
          </a:prstGeom>
          <a:solidFill>
            <a:srgbClr val="FDEAEA"/>
          </a:solidFill>
          <a:ln w="12700">
            <a:solidFill>
              <a:srgbClr val="F4B8B8"/>
            </a:solidFill>
            <a:prstDash val="solid"/>
          </a:ln>
        </p:spPr>
      </p:sp>
      <p:sp>
        <p:nvSpPr>
          <p:cNvPr id="12" name="Text 10"/>
          <p:cNvSpPr/>
          <p:nvPr/>
        </p:nvSpPr>
        <p:spPr>
          <a:xfrm>
            <a:off x="548640" y="2231136"/>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Team discussion &amp; alignment meetings</a:t>
            </a:r>
            <a:endParaRPr lang="en-US" sz="1000" dirty="0"/>
          </a:p>
        </p:txBody>
      </p:sp>
      <p:sp>
        <p:nvSpPr>
          <p:cNvPr id="13" name="Text 11"/>
          <p:cNvSpPr/>
          <p:nvPr/>
        </p:nvSpPr>
        <p:spPr>
          <a:xfrm>
            <a:off x="3163824" y="2231136"/>
            <a:ext cx="914400" cy="475488"/>
          </a:xfrm>
          <a:prstGeom prst="rect">
            <a:avLst/>
          </a:prstGeom>
          <a:noFill/>
          <a:ln/>
        </p:spPr>
        <p:txBody>
          <a:bodyPr wrap="square" lIns="0" tIns="0" rIns="0" bIns="0" rtlCol="0" anchor="ctr"/>
          <a:lstStyle/>
          <a:p>
            <a:pPr algn="r" indent="0" marL="0">
              <a:buNone/>
            </a:pPr>
            <a:r>
              <a:rPr lang="en-US" sz="1000" b="1" dirty="0">
                <a:solidFill>
                  <a:srgbClr val="C0392B"/>
                </a:solidFill>
              </a:rPr>
              <a:t>~3–4 days</a:t>
            </a:r>
            <a:endParaRPr lang="en-US" sz="1000" dirty="0"/>
          </a:p>
        </p:txBody>
      </p:sp>
      <p:sp>
        <p:nvSpPr>
          <p:cNvPr id="14" name="Shape 12"/>
          <p:cNvSpPr/>
          <p:nvPr/>
        </p:nvSpPr>
        <p:spPr>
          <a:xfrm>
            <a:off x="457200" y="2798064"/>
            <a:ext cx="3712464" cy="475488"/>
          </a:xfrm>
          <a:prstGeom prst="roundRect">
            <a:avLst>
              <a:gd name="adj" fmla="val 13462"/>
            </a:avLst>
          </a:prstGeom>
          <a:solidFill>
            <a:srgbClr val="FDEAEA"/>
          </a:solidFill>
          <a:ln w="12700">
            <a:solidFill>
              <a:srgbClr val="F4B8B8"/>
            </a:solidFill>
            <a:prstDash val="solid"/>
          </a:ln>
        </p:spPr>
      </p:sp>
      <p:sp>
        <p:nvSpPr>
          <p:cNvPr id="15" name="Text 13"/>
          <p:cNvSpPr/>
          <p:nvPr/>
        </p:nvSpPr>
        <p:spPr>
          <a:xfrm>
            <a:off x="548640" y="2798064"/>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Developer implements layout in CMS</a:t>
            </a:r>
            <a:endParaRPr lang="en-US" sz="1000" dirty="0"/>
          </a:p>
        </p:txBody>
      </p:sp>
      <p:sp>
        <p:nvSpPr>
          <p:cNvPr id="16" name="Text 14"/>
          <p:cNvSpPr/>
          <p:nvPr/>
        </p:nvSpPr>
        <p:spPr>
          <a:xfrm>
            <a:off x="3163824" y="2798064"/>
            <a:ext cx="914400" cy="475488"/>
          </a:xfrm>
          <a:prstGeom prst="rect">
            <a:avLst/>
          </a:prstGeom>
          <a:noFill/>
          <a:ln/>
        </p:spPr>
        <p:txBody>
          <a:bodyPr wrap="square" lIns="0" tIns="0" rIns="0" bIns="0" rtlCol="0" anchor="ctr"/>
          <a:lstStyle/>
          <a:p>
            <a:pPr algn="r" indent="0" marL="0">
              <a:buNone/>
            </a:pPr>
            <a:r>
              <a:rPr lang="en-US" sz="1000" b="1" dirty="0">
                <a:solidFill>
                  <a:srgbClr val="C0392B"/>
                </a:solidFill>
              </a:rPr>
              <a:t>~5–7 days</a:t>
            </a:r>
            <a:endParaRPr lang="en-US" sz="1000" dirty="0"/>
          </a:p>
        </p:txBody>
      </p:sp>
      <p:sp>
        <p:nvSpPr>
          <p:cNvPr id="17" name="Shape 15"/>
          <p:cNvSpPr/>
          <p:nvPr/>
        </p:nvSpPr>
        <p:spPr>
          <a:xfrm>
            <a:off x="457200" y="3364992"/>
            <a:ext cx="3712464" cy="475488"/>
          </a:xfrm>
          <a:prstGeom prst="roundRect">
            <a:avLst>
              <a:gd name="adj" fmla="val 13462"/>
            </a:avLst>
          </a:prstGeom>
          <a:solidFill>
            <a:srgbClr val="FDEAEA"/>
          </a:solidFill>
          <a:ln w="12700">
            <a:solidFill>
              <a:srgbClr val="F4B8B8"/>
            </a:solidFill>
            <a:prstDash val="solid"/>
          </a:ln>
        </p:spPr>
      </p:sp>
      <p:sp>
        <p:nvSpPr>
          <p:cNvPr id="18" name="Text 16"/>
          <p:cNvSpPr/>
          <p:nvPr/>
        </p:nvSpPr>
        <p:spPr>
          <a:xfrm>
            <a:off x="548640" y="3364992"/>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Review, fixes, and back-and-forth</a:t>
            </a:r>
            <a:endParaRPr lang="en-US" sz="1000" dirty="0"/>
          </a:p>
        </p:txBody>
      </p:sp>
      <p:sp>
        <p:nvSpPr>
          <p:cNvPr id="19" name="Text 17"/>
          <p:cNvSpPr/>
          <p:nvPr/>
        </p:nvSpPr>
        <p:spPr>
          <a:xfrm>
            <a:off x="3163824" y="3364992"/>
            <a:ext cx="914400" cy="475488"/>
          </a:xfrm>
          <a:prstGeom prst="rect">
            <a:avLst/>
          </a:prstGeom>
          <a:noFill/>
          <a:ln/>
        </p:spPr>
        <p:txBody>
          <a:bodyPr wrap="square" lIns="0" tIns="0" rIns="0" bIns="0" rtlCol="0" anchor="ctr"/>
          <a:lstStyle/>
          <a:p>
            <a:pPr algn="r" indent="0" marL="0">
              <a:buNone/>
            </a:pPr>
            <a:r>
              <a:rPr lang="en-US" sz="1000" b="1" dirty="0">
                <a:solidFill>
                  <a:srgbClr val="C0392B"/>
                </a:solidFill>
              </a:rPr>
              <a:t>~3–5 days</a:t>
            </a:r>
            <a:endParaRPr lang="en-US" sz="1000" dirty="0"/>
          </a:p>
        </p:txBody>
      </p:sp>
      <p:sp>
        <p:nvSpPr>
          <p:cNvPr id="20" name="Shape 18"/>
          <p:cNvSpPr/>
          <p:nvPr/>
        </p:nvSpPr>
        <p:spPr>
          <a:xfrm>
            <a:off x="457200" y="3931920"/>
            <a:ext cx="3712464" cy="475488"/>
          </a:xfrm>
          <a:prstGeom prst="roundRect">
            <a:avLst>
              <a:gd name="adj" fmla="val 13462"/>
            </a:avLst>
          </a:prstGeom>
          <a:solidFill>
            <a:srgbClr val="FDEAEA"/>
          </a:solidFill>
          <a:ln w="12700">
            <a:solidFill>
              <a:srgbClr val="F4B8B8"/>
            </a:solidFill>
            <a:prstDash val="solid"/>
          </a:ln>
        </p:spPr>
      </p:sp>
      <p:sp>
        <p:nvSpPr>
          <p:cNvPr id="21" name="Text 19"/>
          <p:cNvSpPr/>
          <p:nvPr/>
        </p:nvSpPr>
        <p:spPr>
          <a:xfrm>
            <a:off x="548640" y="3931920"/>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Final approval &amp; launch</a:t>
            </a:r>
            <a:endParaRPr lang="en-US" sz="1000" dirty="0"/>
          </a:p>
        </p:txBody>
      </p:sp>
      <p:sp>
        <p:nvSpPr>
          <p:cNvPr id="22" name="Text 20"/>
          <p:cNvSpPr/>
          <p:nvPr/>
        </p:nvSpPr>
        <p:spPr>
          <a:xfrm>
            <a:off x="3163824" y="3931920"/>
            <a:ext cx="914400" cy="475488"/>
          </a:xfrm>
          <a:prstGeom prst="rect">
            <a:avLst/>
          </a:prstGeom>
          <a:noFill/>
          <a:ln/>
        </p:spPr>
        <p:txBody>
          <a:bodyPr wrap="square" lIns="0" tIns="0" rIns="0" bIns="0" rtlCol="0" anchor="ctr"/>
          <a:lstStyle/>
          <a:p>
            <a:pPr algn="r" indent="0" marL="0">
              <a:buNone/>
            </a:pPr>
            <a:r>
              <a:rPr lang="en-US" sz="1000" b="1" dirty="0">
                <a:solidFill>
                  <a:srgbClr val="C0392B"/>
                </a:solidFill>
              </a:rPr>
              <a:t>~3–5 days</a:t>
            </a:r>
            <a:endParaRPr lang="en-US" sz="1000" dirty="0"/>
          </a:p>
        </p:txBody>
      </p:sp>
      <p:sp>
        <p:nvSpPr>
          <p:cNvPr id="23" name="Text 21"/>
          <p:cNvSpPr/>
          <p:nvPr/>
        </p:nvSpPr>
        <p:spPr>
          <a:xfrm>
            <a:off x="320040" y="4626864"/>
            <a:ext cx="3977640" cy="274320"/>
          </a:xfrm>
          <a:prstGeom prst="rect">
            <a:avLst/>
          </a:prstGeom>
          <a:noFill/>
          <a:ln/>
        </p:spPr>
        <p:txBody>
          <a:bodyPr wrap="square" lIns="0" tIns="0" rIns="0" bIns="0" rtlCol="0" anchor="ctr"/>
          <a:lstStyle/>
          <a:p>
            <a:pPr algn="ctr" indent="0" marL="0">
              <a:buNone/>
            </a:pPr>
            <a:r>
              <a:rPr lang="en-US" sz="1400" b="1" dirty="0">
                <a:solidFill>
                  <a:srgbClr val="C0392B"/>
                </a:solidFill>
                <a:latin typeface="Cambria" pitchFamily="34" charset="0"/>
                <a:ea typeface="Cambria" pitchFamily="34" charset="-122"/>
                <a:cs typeface="Cambria" pitchFamily="34" charset="-120"/>
              </a:rPr>
              <a:t>Total: ~3–4 WEEKS</a:t>
            </a:r>
            <a:endParaRPr lang="en-US" sz="1400" dirty="0"/>
          </a:p>
        </p:txBody>
      </p:sp>
      <p:sp>
        <p:nvSpPr>
          <p:cNvPr id="24" name="Shape 22"/>
          <p:cNvSpPr/>
          <p:nvPr/>
        </p:nvSpPr>
        <p:spPr>
          <a:xfrm>
            <a:off x="4846320" y="1188720"/>
            <a:ext cx="3977640" cy="3611880"/>
          </a:xfrm>
          <a:prstGeom prst="roundRect">
            <a:avLst>
              <a:gd name="adj" fmla="val 2278"/>
            </a:avLst>
          </a:prstGeom>
          <a:solidFill>
            <a:srgbClr val="EDF9F9"/>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5" name="Text 23"/>
          <p:cNvSpPr/>
          <p:nvPr/>
        </p:nvSpPr>
        <p:spPr>
          <a:xfrm>
            <a:off x="4846320" y="1188720"/>
            <a:ext cx="3977640" cy="384048"/>
          </a:xfrm>
          <a:prstGeom prst="rect">
            <a:avLst/>
          </a:prstGeom>
          <a:noFill/>
          <a:ln/>
        </p:spPr>
        <p:txBody>
          <a:bodyPr wrap="square" lIns="0" tIns="0" rIns="0" bIns="0" rtlCol="0" anchor="ctr"/>
          <a:lstStyle/>
          <a:p>
            <a:pPr algn="ctr" indent="0" marL="0">
              <a:buNone/>
            </a:pPr>
            <a:r>
              <a:rPr lang="en-US" sz="1200" b="1" dirty="0">
                <a:solidFill>
                  <a:srgbClr val="0087DC"/>
                </a:solidFill>
                <a:latin typeface="Calibri" pitchFamily="34" charset="0"/>
                <a:ea typeface="Calibri" pitchFamily="34" charset="-122"/>
                <a:cs typeface="Calibri" pitchFamily="34" charset="-120"/>
              </a:rPr>
              <a:t>AFTER</a:t>
            </a:r>
            <a:endParaRPr lang="en-US" sz="1200" dirty="0"/>
          </a:p>
        </p:txBody>
      </p:sp>
      <p:sp>
        <p:nvSpPr>
          <p:cNvPr id="26" name="Shape 24"/>
          <p:cNvSpPr/>
          <p:nvPr/>
        </p:nvSpPr>
        <p:spPr>
          <a:xfrm>
            <a:off x="4983480" y="1664208"/>
            <a:ext cx="3712464" cy="475488"/>
          </a:xfrm>
          <a:prstGeom prst="roundRect">
            <a:avLst>
              <a:gd name="adj" fmla="val 13462"/>
            </a:avLst>
          </a:prstGeom>
          <a:solidFill>
            <a:srgbClr val="DDF3F2"/>
          </a:solidFill>
          <a:ln w="12700">
            <a:solidFill>
              <a:srgbClr val="9AD5CE"/>
            </a:solidFill>
            <a:prstDash val="solid"/>
          </a:ln>
        </p:spPr>
      </p:sp>
      <p:sp>
        <p:nvSpPr>
          <p:cNvPr id="27" name="Text 25"/>
          <p:cNvSpPr/>
          <p:nvPr/>
        </p:nvSpPr>
        <p:spPr>
          <a:xfrm>
            <a:off x="5074920" y="1664208"/>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Select template, configure components</a:t>
            </a:r>
            <a:endParaRPr lang="en-US" sz="1000" dirty="0"/>
          </a:p>
        </p:txBody>
      </p:sp>
      <p:sp>
        <p:nvSpPr>
          <p:cNvPr id="28" name="Text 26"/>
          <p:cNvSpPr/>
          <p:nvPr/>
        </p:nvSpPr>
        <p:spPr>
          <a:xfrm>
            <a:off x="7699248" y="1664208"/>
            <a:ext cx="914400" cy="475488"/>
          </a:xfrm>
          <a:prstGeom prst="rect">
            <a:avLst/>
          </a:prstGeom>
          <a:noFill/>
          <a:ln/>
        </p:spPr>
        <p:txBody>
          <a:bodyPr wrap="square" lIns="0" tIns="0" rIns="0" bIns="0" rtlCol="0" anchor="ctr"/>
          <a:lstStyle/>
          <a:p>
            <a:pPr algn="r" indent="0" marL="0">
              <a:buNone/>
            </a:pPr>
            <a:r>
              <a:rPr lang="en-US" sz="1000" b="1" dirty="0">
                <a:solidFill>
                  <a:srgbClr val="0087DC"/>
                </a:solidFill>
              </a:rPr>
              <a:t>~1–2 days</a:t>
            </a:r>
            <a:endParaRPr lang="en-US" sz="1000" dirty="0"/>
          </a:p>
        </p:txBody>
      </p:sp>
      <p:sp>
        <p:nvSpPr>
          <p:cNvPr id="29" name="Shape 27"/>
          <p:cNvSpPr/>
          <p:nvPr/>
        </p:nvSpPr>
        <p:spPr>
          <a:xfrm>
            <a:off x="4983480" y="2231136"/>
            <a:ext cx="3712464" cy="475488"/>
          </a:xfrm>
          <a:prstGeom prst="roundRect">
            <a:avLst>
              <a:gd name="adj" fmla="val 13462"/>
            </a:avLst>
          </a:prstGeom>
          <a:solidFill>
            <a:srgbClr val="DDF3F2"/>
          </a:solidFill>
          <a:ln w="12700">
            <a:solidFill>
              <a:srgbClr val="9AD5CE"/>
            </a:solidFill>
            <a:prstDash val="solid"/>
          </a:ln>
        </p:spPr>
      </p:sp>
      <p:sp>
        <p:nvSpPr>
          <p:cNvPr id="30" name="Text 28"/>
          <p:cNvSpPr/>
          <p:nvPr/>
        </p:nvSpPr>
        <p:spPr>
          <a:xfrm>
            <a:off x="5074920" y="2231136"/>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Live preview — instant visual feedback</a:t>
            </a:r>
            <a:endParaRPr lang="en-US" sz="1000" dirty="0"/>
          </a:p>
        </p:txBody>
      </p:sp>
      <p:sp>
        <p:nvSpPr>
          <p:cNvPr id="31" name="Text 29"/>
          <p:cNvSpPr/>
          <p:nvPr/>
        </p:nvSpPr>
        <p:spPr>
          <a:xfrm>
            <a:off x="7699248" y="2231136"/>
            <a:ext cx="914400" cy="475488"/>
          </a:xfrm>
          <a:prstGeom prst="rect">
            <a:avLst/>
          </a:prstGeom>
          <a:noFill/>
          <a:ln/>
        </p:spPr>
        <p:txBody>
          <a:bodyPr wrap="square" lIns="0" tIns="0" rIns="0" bIns="0" rtlCol="0" anchor="ctr"/>
          <a:lstStyle/>
          <a:p>
            <a:pPr algn="r" indent="0" marL="0">
              <a:buNone/>
            </a:pPr>
            <a:r>
              <a:rPr lang="en-US" sz="1000" b="1" dirty="0">
                <a:solidFill>
                  <a:srgbClr val="0087DC"/>
                </a:solidFill>
              </a:rPr>
              <a:t>—</a:t>
            </a:r>
            <a:endParaRPr lang="en-US" sz="1000" dirty="0"/>
          </a:p>
        </p:txBody>
      </p:sp>
      <p:sp>
        <p:nvSpPr>
          <p:cNvPr id="32" name="Shape 30"/>
          <p:cNvSpPr/>
          <p:nvPr/>
        </p:nvSpPr>
        <p:spPr>
          <a:xfrm>
            <a:off x="4983480" y="2798064"/>
            <a:ext cx="3712464" cy="475488"/>
          </a:xfrm>
          <a:prstGeom prst="roundRect">
            <a:avLst>
              <a:gd name="adj" fmla="val 13462"/>
            </a:avLst>
          </a:prstGeom>
          <a:solidFill>
            <a:srgbClr val="DDF3F2"/>
          </a:solidFill>
          <a:ln w="12700">
            <a:solidFill>
              <a:srgbClr val="9AD5CE"/>
            </a:solidFill>
            <a:prstDash val="solid"/>
          </a:ln>
        </p:spPr>
      </p:sp>
      <p:sp>
        <p:nvSpPr>
          <p:cNvPr id="33" name="Text 31"/>
          <p:cNvSpPr/>
          <p:nvPr/>
        </p:nvSpPr>
        <p:spPr>
          <a:xfrm>
            <a:off x="5074920" y="2798064"/>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Minor adjustments (self-service)</a:t>
            </a:r>
            <a:endParaRPr lang="en-US" sz="1000" dirty="0"/>
          </a:p>
        </p:txBody>
      </p:sp>
      <p:sp>
        <p:nvSpPr>
          <p:cNvPr id="34" name="Text 32"/>
          <p:cNvSpPr/>
          <p:nvPr/>
        </p:nvSpPr>
        <p:spPr>
          <a:xfrm>
            <a:off x="7699248" y="2798064"/>
            <a:ext cx="914400" cy="475488"/>
          </a:xfrm>
          <a:prstGeom prst="rect">
            <a:avLst/>
          </a:prstGeom>
          <a:noFill/>
          <a:ln/>
        </p:spPr>
        <p:txBody>
          <a:bodyPr wrap="square" lIns="0" tIns="0" rIns="0" bIns="0" rtlCol="0" anchor="ctr"/>
          <a:lstStyle/>
          <a:p>
            <a:pPr algn="r" indent="0" marL="0">
              <a:buNone/>
            </a:pPr>
            <a:r>
              <a:rPr lang="en-US" sz="1000" b="1" dirty="0">
                <a:solidFill>
                  <a:srgbClr val="0087DC"/>
                </a:solidFill>
              </a:rPr>
              <a:t>~0.5 day</a:t>
            </a:r>
            <a:endParaRPr lang="en-US" sz="1000" dirty="0"/>
          </a:p>
        </p:txBody>
      </p:sp>
      <p:sp>
        <p:nvSpPr>
          <p:cNvPr id="35" name="Shape 33"/>
          <p:cNvSpPr/>
          <p:nvPr/>
        </p:nvSpPr>
        <p:spPr>
          <a:xfrm>
            <a:off x="4983480" y="3364992"/>
            <a:ext cx="3712464" cy="475488"/>
          </a:xfrm>
          <a:prstGeom prst="roundRect">
            <a:avLst>
              <a:gd name="adj" fmla="val 13462"/>
            </a:avLst>
          </a:prstGeom>
          <a:solidFill>
            <a:srgbClr val="DDF3F2"/>
          </a:solidFill>
          <a:ln w="12700">
            <a:solidFill>
              <a:srgbClr val="9AD5CE"/>
            </a:solidFill>
            <a:prstDash val="solid"/>
          </a:ln>
        </p:spPr>
      </p:sp>
      <p:sp>
        <p:nvSpPr>
          <p:cNvPr id="36" name="Text 34"/>
          <p:cNvSpPr/>
          <p:nvPr/>
        </p:nvSpPr>
        <p:spPr>
          <a:xfrm>
            <a:off x="5074920" y="3364992"/>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Stakeholder review &amp; approval</a:t>
            </a:r>
            <a:endParaRPr lang="en-US" sz="1000" dirty="0"/>
          </a:p>
        </p:txBody>
      </p:sp>
      <p:sp>
        <p:nvSpPr>
          <p:cNvPr id="37" name="Text 35"/>
          <p:cNvSpPr/>
          <p:nvPr/>
        </p:nvSpPr>
        <p:spPr>
          <a:xfrm>
            <a:off x="7699248" y="3364992"/>
            <a:ext cx="914400" cy="475488"/>
          </a:xfrm>
          <a:prstGeom prst="rect">
            <a:avLst/>
          </a:prstGeom>
          <a:noFill/>
          <a:ln/>
        </p:spPr>
        <p:txBody>
          <a:bodyPr wrap="square" lIns="0" tIns="0" rIns="0" bIns="0" rtlCol="0" anchor="ctr"/>
          <a:lstStyle/>
          <a:p>
            <a:pPr algn="r" indent="0" marL="0">
              <a:buNone/>
            </a:pPr>
            <a:r>
              <a:rPr lang="en-US" sz="1000" b="1" dirty="0">
                <a:solidFill>
                  <a:srgbClr val="0087DC"/>
                </a:solidFill>
              </a:rPr>
              <a:t>~2–3 days</a:t>
            </a:r>
            <a:endParaRPr lang="en-US" sz="1000" dirty="0"/>
          </a:p>
        </p:txBody>
      </p:sp>
      <p:sp>
        <p:nvSpPr>
          <p:cNvPr id="38" name="Shape 36"/>
          <p:cNvSpPr/>
          <p:nvPr/>
        </p:nvSpPr>
        <p:spPr>
          <a:xfrm>
            <a:off x="4983480" y="3931920"/>
            <a:ext cx="3712464" cy="475488"/>
          </a:xfrm>
          <a:prstGeom prst="roundRect">
            <a:avLst>
              <a:gd name="adj" fmla="val 13462"/>
            </a:avLst>
          </a:prstGeom>
          <a:solidFill>
            <a:srgbClr val="DDF3F2"/>
          </a:solidFill>
          <a:ln w="12700">
            <a:solidFill>
              <a:srgbClr val="9AD5CE"/>
            </a:solidFill>
            <a:prstDash val="solid"/>
          </a:ln>
        </p:spPr>
      </p:sp>
      <p:sp>
        <p:nvSpPr>
          <p:cNvPr id="39" name="Text 37"/>
          <p:cNvSpPr/>
          <p:nvPr/>
        </p:nvSpPr>
        <p:spPr>
          <a:xfrm>
            <a:off x="5074920" y="3931920"/>
            <a:ext cx="2633472"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Launch</a:t>
            </a:r>
            <a:endParaRPr lang="en-US" sz="1000" dirty="0"/>
          </a:p>
        </p:txBody>
      </p:sp>
      <p:sp>
        <p:nvSpPr>
          <p:cNvPr id="40" name="Text 38"/>
          <p:cNvSpPr/>
          <p:nvPr/>
        </p:nvSpPr>
        <p:spPr>
          <a:xfrm>
            <a:off x="7699248" y="3931920"/>
            <a:ext cx="914400" cy="475488"/>
          </a:xfrm>
          <a:prstGeom prst="rect">
            <a:avLst/>
          </a:prstGeom>
          <a:noFill/>
          <a:ln/>
        </p:spPr>
        <p:txBody>
          <a:bodyPr wrap="square" lIns="0" tIns="0" rIns="0" bIns="0" rtlCol="0" anchor="ctr"/>
          <a:lstStyle/>
          <a:p>
            <a:pPr algn="r" indent="0" marL="0">
              <a:buNone/>
            </a:pPr>
            <a:r>
              <a:rPr lang="en-US" sz="1000" b="1" dirty="0">
                <a:solidFill>
                  <a:srgbClr val="0087DC"/>
                </a:solidFill>
              </a:rPr>
              <a:t>~0.5 day</a:t>
            </a:r>
            <a:endParaRPr lang="en-US" sz="1000" dirty="0"/>
          </a:p>
        </p:txBody>
      </p:sp>
      <p:sp>
        <p:nvSpPr>
          <p:cNvPr id="41" name="Text 39"/>
          <p:cNvSpPr/>
          <p:nvPr/>
        </p:nvSpPr>
        <p:spPr>
          <a:xfrm>
            <a:off x="4846320" y="4626864"/>
            <a:ext cx="3977640" cy="274320"/>
          </a:xfrm>
          <a:prstGeom prst="rect">
            <a:avLst/>
          </a:prstGeom>
          <a:noFill/>
          <a:ln/>
        </p:spPr>
        <p:txBody>
          <a:bodyPr wrap="square" lIns="0" tIns="0" rIns="0" bIns="0" rtlCol="0" anchor="ctr"/>
          <a:lstStyle/>
          <a:p>
            <a:pPr algn="ctr" indent="0" marL="0">
              <a:buNone/>
            </a:pPr>
            <a:r>
              <a:rPr lang="en-US" sz="1400" b="1" dirty="0">
                <a:solidFill>
                  <a:srgbClr val="0087DC"/>
                </a:solidFill>
                <a:latin typeface="Cambria" pitchFamily="34" charset="0"/>
                <a:ea typeface="Cambria" pitchFamily="34" charset="-122"/>
                <a:cs typeface="Cambria" pitchFamily="34" charset="-120"/>
              </a:rPr>
              <a:t>Total: ~1 WEEK</a:t>
            </a:r>
            <a:endParaRPr lang="en-US" sz="1400" dirty="0"/>
          </a:p>
        </p:txBody>
      </p:sp>
      <p:sp>
        <p:nvSpPr>
          <p:cNvPr id="42" name="Shape 40"/>
          <p:cNvSpPr/>
          <p:nvPr/>
        </p:nvSpPr>
        <p:spPr>
          <a:xfrm>
            <a:off x="4178808" y="2615184"/>
            <a:ext cx="603504" cy="603504"/>
          </a:xfrm>
          <a:prstGeom prst="oval">
            <a:avLst/>
          </a:prstGeom>
          <a:solidFill>
            <a:srgbClr val="00294D"/>
          </a:solidFill>
          <a:ln w="12700">
            <a:solidFill>
              <a:srgbClr val="00294D"/>
            </a:solidFill>
            <a:prstDash val="solid"/>
          </a:ln>
        </p:spPr>
      </p:sp>
      <p:sp>
        <p:nvSpPr>
          <p:cNvPr id="43" name="Text 41"/>
          <p:cNvSpPr/>
          <p:nvPr/>
        </p:nvSpPr>
        <p:spPr>
          <a:xfrm>
            <a:off x="4178808" y="2615184"/>
            <a:ext cx="603504" cy="603504"/>
          </a:xfrm>
          <a:prstGeom prst="rect">
            <a:avLst/>
          </a:prstGeom>
          <a:noFill/>
          <a:ln/>
        </p:spPr>
        <p:txBody>
          <a:bodyPr wrap="square" lIns="0" tIns="0" rIns="0" bIns="0" rtlCol="0" anchor="ctr"/>
          <a:lstStyle/>
          <a:p>
            <a:pPr algn="ctr" indent="0" marL="0">
              <a:buNone/>
            </a:pPr>
            <a:r>
              <a:rPr lang="en-US" sz="900" b="1" dirty="0">
                <a:solidFill>
                  <a:srgbClr val="FFFFFF"/>
                </a:solidFill>
              </a:rPr>
              <a:t>VS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RESULTS</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Measurable Impact: Time and Satisfaction</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365760" y="1298448"/>
            <a:ext cx="2487168" cy="1325880"/>
          </a:xfrm>
          <a:prstGeom prst="roundRect">
            <a:avLst>
              <a:gd name="adj" fmla="val 6207"/>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365760" y="1298448"/>
            <a:ext cx="2487168"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365760" y="1755648"/>
            <a:ext cx="2487168" cy="384048"/>
          </a:xfrm>
          <a:prstGeom prst="rect">
            <a:avLst/>
          </a:prstGeom>
          <a:noFill/>
          <a:ln/>
        </p:spPr>
        <p:txBody>
          <a:bodyPr wrap="square" lIns="0" tIns="0" rIns="0" bIns="0" rtlCol="0" anchor="ctr"/>
          <a:lstStyle/>
          <a:p>
            <a:pPr algn="ctr" indent="0" marL="0">
              <a:buNone/>
            </a:pPr>
            <a:r>
              <a:rPr lang="en-US" sz="1800" b="1" dirty="0">
                <a:solidFill>
                  <a:srgbClr val="C0392B"/>
                </a:solidFill>
                <a:latin typeface="Cambria" pitchFamily="34" charset="0"/>
                <a:ea typeface="Cambria" pitchFamily="34" charset="-122"/>
                <a:cs typeface="Cambria" pitchFamily="34" charset="-120"/>
              </a:rPr>
              <a:t>3–4 weeks</a:t>
            </a:r>
            <a:endParaRPr lang="en-US" sz="1800" dirty="0"/>
          </a:p>
        </p:txBody>
      </p:sp>
      <p:sp>
        <p:nvSpPr>
          <p:cNvPr id="9" name="Text 7"/>
          <p:cNvSpPr/>
          <p:nvPr/>
        </p:nvSpPr>
        <p:spPr>
          <a:xfrm>
            <a:off x="365760" y="2121408"/>
            <a:ext cx="2487168"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Before</a:t>
            </a:r>
            <a:endParaRPr lang="en-US" sz="1000" dirty="0"/>
          </a:p>
        </p:txBody>
      </p:sp>
      <p:sp>
        <p:nvSpPr>
          <p:cNvPr id="10" name="Shape 8"/>
          <p:cNvSpPr/>
          <p:nvPr/>
        </p:nvSpPr>
        <p:spPr>
          <a:xfrm>
            <a:off x="2980944" y="1609344"/>
            <a:ext cx="502920" cy="502920"/>
          </a:xfrm>
          <a:prstGeom prst="oval">
            <a:avLst/>
          </a:prstGeom>
          <a:solidFill>
            <a:srgbClr val="0087DC"/>
          </a:solidFill>
          <a:ln w="12700">
            <a:solidFill>
              <a:srgbClr val="0087DC"/>
            </a:solidFill>
            <a:prstDash val="solid"/>
          </a:ln>
        </p:spPr>
      </p:sp>
      <p:sp>
        <p:nvSpPr>
          <p:cNvPr id="11" name="Text 9"/>
          <p:cNvSpPr/>
          <p:nvPr/>
        </p:nvSpPr>
        <p:spPr>
          <a:xfrm>
            <a:off x="2980944" y="16093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2" name="Shape 10"/>
          <p:cNvSpPr/>
          <p:nvPr/>
        </p:nvSpPr>
        <p:spPr>
          <a:xfrm>
            <a:off x="3621024" y="1298448"/>
            <a:ext cx="2487168" cy="1325880"/>
          </a:xfrm>
          <a:prstGeom prst="roundRect">
            <a:avLst>
              <a:gd name="adj" fmla="val 6207"/>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3621024" y="1298448"/>
            <a:ext cx="2487168"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621024" y="1755648"/>
            <a:ext cx="2487168" cy="384048"/>
          </a:xfrm>
          <a:prstGeom prst="rect">
            <a:avLst/>
          </a:prstGeom>
          <a:noFill/>
          <a:ln/>
        </p:spPr>
        <p:txBody>
          <a:bodyPr wrap="square" lIns="0" tIns="0" rIns="0" bIns="0" rtlCol="0" anchor="ctr"/>
          <a:lstStyle/>
          <a:p>
            <a:pPr algn="ctr" indent="0" marL="0">
              <a:buNone/>
            </a:pPr>
            <a:r>
              <a:rPr lang="en-US" sz="1800" b="1" dirty="0">
                <a:solidFill>
                  <a:srgbClr val="0087DC"/>
                </a:solidFill>
                <a:latin typeface="Cambria" pitchFamily="34" charset="0"/>
                <a:ea typeface="Cambria" pitchFamily="34" charset="-122"/>
                <a:cs typeface="Cambria" pitchFamily="34" charset="-120"/>
              </a:rPr>
              <a:t>~1 week</a:t>
            </a:r>
            <a:endParaRPr lang="en-US" sz="1800" dirty="0"/>
          </a:p>
        </p:txBody>
      </p:sp>
      <p:sp>
        <p:nvSpPr>
          <p:cNvPr id="15" name="Text 13"/>
          <p:cNvSpPr/>
          <p:nvPr/>
        </p:nvSpPr>
        <p:spPr>
          <a:xfrm>
            <a:off x="3621024" y="2121408"/>
            <a:ext cx="2487168"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After  (1–2 days self-config)</a:t>
            </a:r>
            <a:endParaRPr lang="en-US" sz="1000" dirty="0"/>
          </a:p>
        </p:txBody>
      </p:sp>
      <p:sp>
        <p:nvSpPr>
          <p:cNvPr id="16" name="Shape 14"/>
          <p:cNvSpPr/>
          <p:nvPr/>
        </p:nvSpPr>
        <p:spPr>
          <a:xfrm>
            <a:off x="6236208" y="1298448"/>
            <a:ext cx="2514600" cy="1325880"/>
          </a:xfrm>
          <a:prstGeom prst="roundRect">
            <a:avLst>
              <a:gd name="adj" fmla="val 6207"/>
            </a:avLst>
          </a:prstGeom>
          <a:solidFill>
            <a:srgbClr val="00294D"/>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6236208" y="1335024"/>
            <a:ext cx="2514600" cy="713232"/>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~75%</a:t>
            </a:r>
            <a:endParaRPr lang="en-US" sz="3600" dirty="0"/>
          </a:p>
        </p:txBody>
      </p:sp>
      <p:sp>
        <p:nvSpPr>
          <p:cNvPr id="18" name="Text 16"/>
          <p:cNvSpPr/>
          <p:nvPr/>
        </p:nvSpPr>
        <p:spPr>
          <a:xfrm>
            <a:off x="6236208" y="2029968"/>
            <a:ext cx="2514600" cy="347472"/>
          </a:xfrm>
          <a:prstGeom prst="rect">
            <a:avLst/>
          </a:prstGeom>
          <a:noFill/>
          <a:ln/>
        </p:spPr>
        <p:txBody>
          <a:bodyPr wrap="square" lIns="0" tIns="0" rIns="0" bIns="0" rtlCol="0" anchor="ctr"/>
          <a:lstStyle/>
          <a:p>
            <a:pPr algn="ctr" indent="0" marL="0">
              <a:buNone/>
            </a:pPr>
            <a:r>
              <a:rPr lang="en-US" sz="1100" dirty="0">
                <a:solidFill>
                  <a:srgbClr val="67D7D2"/>
                </a:solidFill>
                <a:latin typeface="Calibri" pitchFamily="34" charset="0"/>
                <a:ea typeface="Calibri" pitchFamily="34" charset="-122"/>
                <a:cs typeface="Calibri" pitchFamily="34" charset="-120"/>
              </a:rPr>
              <a:t>Time reduction</a:t>
            </a:r>
            <a:endParaRPr lang="en-US" sz="1100" dirty="0"/>
          </a:p>
        </p:txBody>
      </p:sp>
      <p:graphicFrame>
        <p:nvGraphicFramePr>
          <p:cNvPr id="19" name="Chart 0" descr=""/>
          <p:cNvGraphicFramePr/>
          <p:nvPr/>
        </p:nvGraphicFramePr>
        <p:xfrm>
          <a:off x="320040" y="2743200"/>
          <a:ext cx="8458200" cy="22402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RESEARCH VALIDITY</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From Method to Result: How Research Drove Design</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261872"/>
          <a:ext cx="8503920" cy="3520440"/>
        </p:xfrm>
        <a:graphic>
          <a:graphicData uri="http://schemas.openxmlformats.org/drawingml/2006/table">
            <a:tbl>
              <a:tblPr/>
              <a:tblGrid>
                <a:gridCol w="1920240"/>
                <a:gridCol w="502920"/>
                <a:gridCol w="3017520"/>
                <a:gridCol w="3063240"/>
              </a:tblGrid>
              <a:tr h="4754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ICT Method</a:t>
                      </a:r>
                      <a:endParaRPr lang="en-US" sz="100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00294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SQ</a:t>
                      </a:r>
                      <a:endParaRPr lang="en-US" sz="100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00294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Finding</a:t>
                      </a:r>
                      <a:endParaRPr lang="en-US" sz="100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00294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Design Decision / Outcome</a:t>
                      </a:r>
                      <a:endParaRPr lang="en-US" sz="100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00294D"/>
                    </a:solidFill>
                  </a:tcPr>
                </a:tc>
              </a:tr>
              <a:tr h="475488">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Semi-structured interviews (n=6)</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87DC"/>
                          </a:solidFill>
                          <a:latin typeface="Calibri" pitchFamily="34" charset="0"/>
                          <a:ea typeface="Calibri" pitchFamily="34" charset="-122"/>
                          <a:cs typeface="Calibri" pitchFamily="34" charset="-120"/>
                        </a:rPr>
                        <a:t>SQ1</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Developer dependency = root bottleneck; every change needs dev support</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indent="0" marL="0">
                        <a:buNone/>
                      </a:pPr>
                      <a:r>
                        <a:rPr lang="en-US" sz="950" b="1" dirty="0">
                          <a:solidFill>
                            <a:srgbClr val="00294D"/>
                          </a:solidFill>
                          <a:latin typeface="Calibri" pitchFamily="34" charset="0"/>
                          <a:ea typeface="Calibri" pitchFamily="34" charset="-122"/>
                          <a:cs typeface="Calibri" pitchFamily="34" charset="-120"/>
                        </a:rPr>
                        <a:t>Self-service sidebar config panel built into CMS</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Case study analysis (n=5)</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algn="ctr" indent="0" marL="0">
                        <a:buNone/>
                      </a:pPr>
                      <a:r>
                        <a:rPr lang="en-US" sz="950" b="1" dirty="0">
                          <a:solidFill>
                            <a:srgbClr val="0087DC"/>
                          </a:solidFill>
                          <a:latin typeface="Calibri" pitchFamily="34" charset="0"/>
                          <a:ea typeface="Calibri" pitchFamily="34" charset="-122"/>
                          <a:cs typeface="Calibri" pitchFamily="34" charset="-120"/>
                        </a:rPr>
                        <a:t>SQ1</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No shared process across HM26, Smarter E, MCE, Power &amp; Cooling, Adv. Factories</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indent="0" marL="0">
                        <a:buNone/>
                      </a:pPr>
                      <a:r>
                        <a:rPr lang="en-US" sz="950" b="1" dirty="0">
                          <a:solidFill>
                            <a:srgbClr val="00294D"/>
                          </a:solidFill>
                          <a:latin typeface="Calibri" pitchFamily="34" charset="0"/>
                          <a:ea typeface="Calibri" pitchFamily="34" charset="-122"/>
                          <a:cs typeface="Calibri" pitchFamily="34" charset="-120"/>
                        </a:rPr>
                        <a:t>Component library standardises all campaign pages</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r>
              <a:tr h="475488">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Satisfaction survey (baseline)</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87DC"/>
                          </a:solidFill>
                          <a:latin typeface="Calibri" pitchFamily="34" charset="0"/>
                          <a:ea typeface="Calibri" pitchFamily="34" charset="-122"/>
                          <a:cs typeface="Calibri" pitchFamily="34" charset="-120"/>
                        </a:rPr>
                        <a:t>SQ1/5</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Ease of use 2.8/5; self-sufficiency 2.2/5</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indent="0" marL="0">
                        <a:buNone/>
                      </a:pPr>
                      <a:r>
                        <a:rPr lang="en-US" sz="950" b="1" dirty="0">
                          <a:solidFill>
                            <a:srgbClr val="00294D"/>
                          </a:solidFill>
                          <a:latin typeface="Calibri" pitchFamily="34" charset="0"/>
                          <a:ea typeface="Calibri" pitchFamily="34" charset="-122"/>
                          <a:cs typeface="Calibri" pitchFamily="34" charset="-120"/>
                        </a:rPr>
                        <a:t>Both raised to 4.1–4.2 after implementation</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Comparison matrix</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algn="ctr" indent="0" marL="0">
                        <a:buNone/>
                      </a:pPr>
                      <a:r>
                        <a:rPr lang="en-US" sz="950" b="1" dirty="0">
                          <a:solidFill>
                            <a:srgbClr val="0087DC"/>
                          </a:solidFill>
                          <a:latin typeface="Calibri" pitchFamily="34" charset="0"/>
                          <a:ea typeface="Calibri" pitchFamily="34" charset="-122"/>
                          <a:cs typeface="Calibri" pitchFamily="34" charset="-120"/>
                        </a:rPr>
                        <a:t>SQ3</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Component concept satisfied all MoSCoW Must requirements</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indent="0" marL="0">
                        <a:buNone/>
                      </a:pPr>
                      <a:r>
                        <a:rPr lang="en-US" sz="950" b="1" dirty="0">
                          <a:solidFill>
                            <a:srgbClr val="00294D"/>
                          </a:solidFill>
                          <a:latin typeface="Calibri" pitchFamily="34" charset="0"/>
                          <a:ea typeface="Calibri" pitchFamily="34" charset="-122"/>
                          <a:cs typeface="Calibri" pitchFamily="34" charset="-120"/>
                        </a:rPr>
                        <a:t>Justified and documented selection of chosen concept</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r>
              <a:tr h="475488">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Usability testing (n=9)</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87DC"/>
                          </a:solidFill>
                          <a:latin typeface="Calibri" pitchFamily="34" charset="0"/>
                          <a:ea typeface="Calibri" pitchFamily="34" charset="-122"/>
                          <a:cs typeface="Calibri" pitchFamily="34" charset="-120"/>
                        </a:rPr>
                        <a:t>SQ5</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Satisfaction nearly doubled (2.1 → 4.2/5)</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c>
                  <a:txBody>
                    <a:bodyPr/>
                    <a:lstStyle/>
                    <a:p>
                      <a:pPr indent="0" marL="0">
                        <a:buNone/>
                      </a:pPr>
                      <a:r>
                        <a:rPr lang="en-US" sz="950" b="1" dirty="0">
                          <a:solidFill>
                            <a:srgbClr val="00294D"/>
                          </a:solidFill>
                          <a:latin typeface="Calibri" pitchFamily="34" charset="0"/>
                          <a:ea typeface="Calibri" pitchFamily="34" charset="-122"/>
                          <a:cs typeface="Calibri" pitchFamily="34" charset="-120"/>
                        </a:rPr>
                        <a:t>Empirical evidence of improved usability and self-service</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Change log (v4–v6)</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algn="ctr" indent="0" marL="0">
                        <a:buNone/>
                      </a:pPr>
                      <a:r>
                        <a:rPr lang="en-US" sz="950" b="1" dirty="0">
                          <a:solidFill>
                            <a:srgbClr val="0087DC"/>
                          </a:solidFill>
                          <a:latin typeface="Calibri" pitchFamily="34" charset="0"/>
                          <a:ea typeface="Calibri" pitchFamily="34" charset="-122"/>
                          <a:cs typeface="Calibri" pitchFamily="34" charset="-120"/>
                        </a:rPr>
                        <a:t>SQ4</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9 test findings → concrete implementation changes</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c>
                  <a:txBody>
                    <a:bodyPr/>
                    <a:lstStyle/>
                    <a:p>
                      <a:pPr indent="0" marL="0">
                        <a:buNone/>
                      </a:pPr>
                      <a:r>
                        <a:rPr lang="en-US" sz="950" b="1" dirty="0">
                          <a:solidFill>
                            <a:srgbClr val="00294D"/>
                          </a:solidFill>
                          <a:latin typeface="Calibri" pitchFamily="34" charset="0"/>
                          <a:ea typeface="Calibri" pitchFamily="34" charset="-122"/>
                          <a:cs typeface="Calibri" pitchFamily="34" charset="-120"/>
                        </a:rPr>
                        <a:t>Final system ready for live campaigns, fully traceable</a:t>
                      </a:r>
                      <a:endParaRPr lang="en-US" sz="950" dirty="0">
                        <a:latin typeface="Calibri" charset="0"/>
                        <a:ea typeface="Calibri" charset="0"/>
                        <a:cs typeface="Calibri" charset="0"/>
                      </a:endParaRPr>
                    </a:p>
                  </a:txBody>
                  <a:tcPr marL="91440" marR="91440" marT="45720" marB="45720">
                    <a:lnL w="6350" cap="flat" cmpd="sng" algn="ctr">
                      <a:solidFill>
                        <a:srgbClr val="DCE8F5"/>
                      </a:solidFill>
                      <a:prstDash val="solid"/>
                      <a:round/>
                      <a:headEnd type="none" w="med" len="med"/>
                      <a:tailEnd type="none" w="med" len="med"/>
                    </a:lnL>
                    <a:lnR w="6350" cap="flat" cmpd="sng" algn="ctr">
                      <a:solidFill>
                        <a:srgbClr val="DCE8F5"/>
                      </a:solidFill>
                      <a:prstDash val="solid"/>
                      <a:round/>
                      <a:headEnd type="none" w="med" len="med"/>
                      <a:tailEnd type="none" w="med" len="med"/>
                    </a:lnR>
                    <a:lnT w="6350" cap="flat" cmpd="sng" algn="ctr">
                      <a:solidFill>
                        <a:srgbClr val="DCE8F5"/>
                      </a:solidFill>
                      <a:prstDash val="solid"/>
                      <a:round/>
                      <a:headEnd type="none" w="med" len="med"/>
                      <a:tailEnd type="none" w="med" len="med"/>
                    </a:lnT>
                    <a:lnB w="6350" cap="flat" cmpd="sng" algn="ctr">
                      <a:solidFill>
                        <a:srgbClr val="DCE8F5"/>
                      </a:solidFill>
                      <a:prstDash val="solid"/>
                      <a:round/>
                      <a:headEnd type="none" w="med" len="med"/>
                      <a:tailEnd type="none" w="med" len="med"/>
                    </a:lnB>
                    <a:solidFill>
                      <a:srgbClr val="F5F8FB"/>
                    </a:solidFill>
                  </a:tcPr>
                </a:tc>
              </a:tr>
            </a:tbl>
          </a:graphicData>
        </a:graphic>
      </p:graphicFrame>
      <p:sp>
        <p:nvSpPr>
          <p:cNvPr id="7" name="Text 4"/>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Every major design decision in the final system can be traced directly to a specific research finding — this is what makes it evidence-based.</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6FA6"/>
          </a:solidFill>
          <a:ln w="12700">
            <a:solidFill>
              <a:srgbClr val="006FA6"/>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FUTURE · SQ6</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Future Potential: AI Support for the Workflow (SQ6)</a:t>
            </a:r>
            <a:endParaRPr lang="en-US" sz="2600" dirty="0"/>
          </a:p>
        </p:txBody>
      </p:sp>
      <p:sp>
        <p:nvSpPr>
          <p:cNvPr id="5" name="Shape 3"/>
          <p:cNvSpPr/>
          <p:nvPr/>
        </p:nvSpPr>
        <p:spPr>
          <a:xfrm>
            <a:off x="365760" y="1143000"/>
            <a:ext cx="8412480" cy="25603"/>
          </a:xfrm>
          <a:prstGeom prst="rect">
            <a:avLst/>
          </a:prstGeom>
          <a:solidFill>
            <a:srgbClr val="006FA6"/>
          </a:solidFill>
          <a:ln w="12700">
            <a:solidFill>
              <a:srgbClr val="006FA6"/>
            </a:solidFill>
            <a:prstDash val="solid"/>
          </a:ln>
        </p:spPr>
      </p:sp>
      <p:sp>
        <p:nvSpPr>
          <p:cNvPr id="6" name="Shape 4"/>
          <p:cNvSpPr/>
          <p:nvPr/>
        </p:nvSpPr>
        <p:spPr>
          <a:xfrm>
            <a:off x="365760" y="1261872"/>
            <a:ext cx="8412480" cy="713232"/>
          </a:xfrm>
          <a:prstGeom prst="roundRect">
            <a:avLst>
              <a:gd name="adj" fmla="val 11538"/>
            </a:avLst>
          </a:prstGeom>
          <a:solidFill>
            <a:srgbClr val="FFF3C4"/>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502920" y="1298448"/>
            <a:ext cx="8119872" cy="585216"/>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  This is the secondary research question — explored as a forward-looking direction, not part of the core solution. The template system delivers its full value independently of any AI integration.</a:t>
            </a:r>
            <a:endParaRPr lang="en-US" sz="1100" dirty="0"/>
          </a:p>
        </p:txBody>
      </p:sp>
      <p:sp>
        <p:nvSpPr>
          <p:cNvPr id="8" name="Shape 6"/>
          <p:cNvSpPr/>
          <p:nvPr/>
        </p:nvSpPr>
        <p:spPr>
          <a:xfrm>
            <a:off x="365760" y="2103120"/>
            <a:ext cx="4078224" cy="1188720"/>
          </a:xfrm>
          <a:prstGeom prst="roundRect">
            <a:avLst>
              <a:gd name="adj" fmla="val 692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9" name="Text 7"/>
          <p:cNvSpPr/>
          <p:nvPr/>
        </p:nvSpPr>
        <p:spPr>
          <a:xfrm>
            <a:off x="365760" y="2194560"/>
            <a:ext cx="640080" cy="10058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0" name="Text 8"/>
          <p:cNvSpPr/>
          <p:nvPr/>
        </p:nvSpPr>
        <p:spPr>
          <a:xfrm>
            <a:off x="987552" y="2194560"/>
            <a:ext cx="3273552"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Copy suggestions</a:t>
            </a:r>
            <a:endParaRPr lang="en-US" sz="1200" dirty="0"/>
          </a:p>
        </p:txBody>
      </p:sp>
      <p:sp>
        <p:nvSpPr>
          <p:cNvPr id="11" name="Text 9"/>
          <p:cNvSpPr/>
          <p:nvPr/>
        </p:nvSpPr>
        <p:spPr>
          <a:xfrm>
            <a:off x="987552" y="2542032"/>
            <a:ext cx="327355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AI generates initial headline and body text based on campaign brief — marketer reviews and edits to approve.</a:t>
            </a:r>
            <a:endParaRPr lang="en-US" sz="1050" dirty="0"/>
          </a:p>
        </p:txBody>
      </p:sp>
      <p:sp>
        <p:nvSpPr>
          <p:cNvPr id="12" name="Shape 10"/>
          <p:cNvSpPr/>
          <p:nvPr/>
        </p:nvSpPr>
        <p:spPr>
          <a:xfrm>
            <a:off x="4681728" y="2103120"/>
            <a:ext cx="4078224" cy="1188720"/>
          </a:xfrm>
          <a:prstGeom prst="roundRect">
            <a:avLst>
              <a:gd name="adj" fmla="val 692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4681728" y="2194560"/>
            <a:ext cx="640080" cy="10058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Text 12"/>
          <p:cNvSpPr/>
          <p:nvPr/>
        </p:nvSpPr>
        <p:spPr>
          <a:xfrm>
            <a:off x="5303520" y="2194560"/>
            <a:ext cx="3273552"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Smart image tagging</a:t>
            </a:r>
            <a:endParaRPr lang="en-US" sz="1200" dirty="0"/>
          </a:p>
        </p:txBody>
      </p:sp>
      <p:sp>
        <p:nvSpPr>
          <p:cNvPr id="15" name="Text 13"/>
          <p:cNvSpPr/>
          <p:nvPr/>
        </p:nvSpPr>
        <p:spPr>
          <a:xfrm>
            <a:off x="5303520" y="2542032"/>
            <a:ext cx="327355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Automatically tag and suggest images from the asset library based on campaign category and keywords.</a:t>
            </a:r>
            <a:endParaRPr lang="en-US" sz="1050" dirty="0"/>
          </a:p>
        </p:txBody>
      </p:sp>
      <p:sp>
        <p:nvSpPr>
          <p:cNvPr id="16" name="Shape 14"/>
          <p:cNvSpPr/>
          <p:nvPr/>
        </p:nvSpPr>
        <p:spPr>
          <a:xfrm>
            <a:off x="365760" y="3429000"/>
            <a:ext cx="4078224" cy="1188720"/>
          </a:xfrm>
          <a:prstGeom prst="roundRect">
            <a:avLst>
              <a:gd name="adj" fmla="val 692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365760" y="3520440"/>
            <a:ext cx="640080" cy="10058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987552" y="3520440"/>
            <a:ext cx="3273552"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Inline SEO feedback</a:t>
            </a:r>
            <a:endParaRPr lang="en-US" sz="1200" dirty="0"/>
          </a:p>
        </p:txBody>
      </p:sp>
      <p:sp>
        <p:nvSpPr>
          <p:cNvPr id="19" name="Text 17"/>
          <p:cNvSpPr/>
          <p:nvPr/>
        </p:nvSpPr>
        <p:spPr>
          <a:xfrm>
            <a:off x="987552" y="3867912"/>
            <a:ext cx="327355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Real-time suggestions on page title, headings, and alt text — surfaced as inline tips during configuration.</a:t>
            </a:r>
            <a:endParaRPr lang="en-US" sz="1050" dirty="0"/>
          </a:p>
        </p:txBody>
      </p:sp>
      <p:sp>
        <p:nvSpPr>
          <p:cNvPr id="20" name="Shape 18"/>
          <p:cNvSpPr/>
          <p:nvPr/>
        </p:nvSpPr>
        <p:spPr>
          <a:xfrm>
            <a:off x="4681728" y="3429000"/>
            <a:ext cx="4078224" cy="1188720"/>
          </a:xfrm>
          <a:prstGeom prst="roundRect">
            <a:avLst>
              <a:gd name="adj" fmla="val 692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1" name="Text 19"/>
          <p:cNvSpPr/>
          <p:nvPr/>
        </p:nvSpPr>
        <p:spPr>
          <a:xfrm>
            <a:off x="4681728" y="3520440"/>
            <a:ext cx="640080" cy="10058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5303520" y="3520440"/>
            <a:ext cx="3273552" cy="329184"/>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Layout recommendations</a:t>
            </a:r>
            <a:endParaRPr lang="en-US" sz="1200" dirty="0"/>
          </a:p>
        </p:txBody>
      </p:sp>
      <p:sp>
        <p:nvSpPr>
          <p:cNvPr id="23" name="Text 21"/>
          <p:cNvSpPr/>
          <p:nvPr/>
        </p:nvSpPr>
        <p:spPr>
          <a:xfrm>
            <a:off x="5303520" y="3867912"/>
            <a:ext cx="327355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AI suggests which components to include, based on campaign type and historical page performance data.</a:t>
            </a:r>
            <a:endParaRPr lang="en-US" sz="1050" dirty="0"/>
          </a:p>
        </p:txBody>
      </p:sp>
      <p:sp>
        <p:nvSpPr>
          <p:cNvPr id="24" name="Text 22"/>
          <p:cNvSpPr/>
          <p:nvPr/>
        </p:nvSpPr>
        <p:spPr>
          <a:xfrm>
            <a:off x="365760" y="4754880"/>
            <a:ext cx="841248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Methods: desk research · interview add-ons · concept prototype · feedback sessions  (SQ6)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RECOMMENDATIONS</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Recommendations for Delta Electronics</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347472" y="129844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484632" y="1389888"/>
            <a:ext cx="566928" cy="502920"/>
          </a:xfrm>
          <a:prstGeom prst="rect">
            <a:avLst/>
          </a:prstGeom>
          <a:noFill/>
          <a:ln/>
        </p:spPr>
        <p:txBody>
          <a:bodyPr wrap="square" lIns="0" tIns="0" rIns="0" bIns="0" rtlCol="0" anchor="ctr"/>
          <a:lstStyle/>
          <a:p>
            <a:pPr indent="0" marL="0">
              <a:buNone/>
            </a:pPr>
            <a:r>
              <a:rPr lang="en-US" sz="2000" b="1" dirty="0">
                <a:solidFill>
                  <a:srgbClr val="00294D"/>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1133856" y="1389888"/>
            <a:ext cx="3127248" cy="384048"/>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Expand the component library</a:t>
            </a:r>
            <a:endParaRPr lang="en-US" sz="1200" dirty="0"/>
          </a:p>
        </p:txBody>
      </p:sp>
      <p:sp>
        <p:nvSpPr>
          <p:cNvPr id="9" name="Text 7"/>
          <p:cNvSpPr/>
          <p:nvPr/>
        </p:nvSpPr>
        <p:spPr>
          <a:xfrm>
            <a:off x="484632" y="1847088"/>
            <a:ext cx="3520440" cy="7772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Add campaign-specific components — countdown timer, product carousel, event registration form — to extend self-service to a broader range of campaign types.</a:t>
            </a:r>
            <a:endParaRPr lang="en-US" sz="1050" dirty="0"/>
          </a:p>
        </p:txBody>
      </p:sp>
      <p:sp>
        <p:nvSpPr>
          <p:cNvPr id="10" name="Shape 8"/>
          <p:cNvSpPr/>
          <p:nvPr/>
        </p:nvSpPr>
        <p:spPr>
          <a:xfrm>
            <a:off x="3822192" y="1408176"/>
            <a:ext cx="530352" cy="274320"/>
          </a:xfrm>
          <a:prstGeom prst="roundRect">
            <a:avLst>
              <a:gd name="adj" fmla="val 16667"/>
            </a:avLst>
          </a:prstGeom>
          <a:solidFill>
            <a:srgbClr val="C0392B"/>
          </a:solidFill>
          <a:ln w="12700">
            <a:solidFill>
              <a:srgbClr val="C0392B"/>
            </a:solidFill>
            <a:prstDash val="solid"/>
          </a:ln>
        </p:spPr>
      </p:sp>
      <p:sp>
        <p:nvSpPr>
          <p:cNvPr id="11" name="Text 9"/>
          <p:cNvSpPr/>
          <p:nvPr/>
        </p:nvSpPr>
        <p:spPr>
          <a:xfrm>
            <a:off x="3822192" y="1408176"/>
            <a:ext cx="530352" cy="274320"/>
          </a:xfrm>
          <a:prstGeom prst="rect">
            <a:avLst/>
          </a:prstGeom>
          <a:noFill/>
          <a:ln/>
        </p:spPr>
        <p:txBody>
          <a:bodyPr wrap="square" lIns="0" tIns="0" rIns="0" bIns="0" rtlCol="0" anchor="ctr"/>
          <a:lstStyle/>
          <a:p>
            <a:pPr algn="ctr" indent="0" marL="0">
              <a:buNone/>
            </a:pPr>
            <a:r>
              <a:rPr lang="en-US" sz="800" b="1" dirty="0">
                <a:solidFill>
                  <a:srgbClr val="FFFFFF"/>
                </a:solidFill>
              </a:rPr>
              <a:t>High</a:t>
            </a:r>
            <a:endParaRPr lang="en-US" sz="800" dirty="0"/>
          </a:p>
        </p:txBody>
      </p:sp>
      <p:sp>
        <p:nvSpPr>
          <p:cNvPr id="12" name="Shape 10"/>
          <p:cNvSpPr/>
          <p:nvPr/>
        </p:nvSpPr>
        <p:spPr>
          <a:xfrm>
            <a:off x="4718304" y="129844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4855464" y="1389888"/>
            <a:ext cx="566928" cy="502920"/>
          </a:xfrm>
          <a:prstGeom prst="rect">
            <a:avLst/>
          </a:prstGeom>
          <a:noFill/>
          <a:ln/>
        </p:spPr>
        <p:txBody>
          <a:bodyPr wrap="square" lIns="0" tIns="0" rIns="0" bIns="0" rtlCol="0" anchor="ctr"/>
          <a:lstStyle/>
          <a:p>
            <a:pPr indent="0" marL="0">
              <a:buNone/>
            </a:pPr>
            <a:r>
              <a:rPr lang="en-US" sz="2000" b="1" dirty="0">
                <a:solidFill>
                  <a:srgbClr val="00294D"/>
                </a:solidFill>
                <a:latin typeface="Cambria" pitchFamily="34" charset="0"/>
                <a:ea typeface="Cambria" pitchFamily="34" charset="-122"/>
                <a:cs typeface="Cambria" pitchFamily="34" charset="-120"/>
              </a:rPr>
              <a:t>02</a:t>
            </a:r>
            <a:endParaRPr lang="en-US" sz="2000" dirty="0"/>
          </a:p>
        </p:txBody>
      </p:sp>
      <p:sp>
        <p:nvSpPr>
          <p:cNvPr id="14" name="Text 12"/>
          <p:cNvSpPr/>
          <p:nvPr/>
        </p:nvSpPr>
        <p:spPr>
          <a:xfrm>
            <a:off x="5504688" y="1389888"/>
            <a:ext cx="3127248" cy="384048"/>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Formalise the creation process</a:t>
            </a:r>
            <a:endParaRPr lang="en-US" sz="1200" dirty="0"/>
          </a:p>
        </p:txBody>
      </p:sp>
      <p:sp>
        <p:nvSpPr>
          <p:cNvPr id="15" name="Text 13"/>
          <p:cNvSpPr/>
          <p:nvPr/>
        </p:nvSpPr>
        <p:spPr>
          <a:xfrm>
            <a:off x="4855464" y="1847088"/>
            <a:ext cx="3520440" cy="7772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Introduce a short onboarding guide and page-launch checklist. The system is live; a clear process around it ensures consistent adoption across teams.</a:t>
            </a:r>
            <a:endParaRPr lang="en-US" sz="1050" dirty="0"/>
          </a:p>
        </p:txBody>
      </p:sp>
      <p:sp>
        <p:nvSpPr>
          <p:cNvPr id="16" name="Shape 14"/>
          <p:cNvSpPr/>
          <p:nvPr/>
        </p:nvSpPr>
        <p:spPr>
          <a:xfrm>
            <a:off x="8193024" y="1408176"/>
            <a:ext cx="530352" cy="274320"/>
          </a:xfrm>
          <a:prstGeom prst="roundRect">
            <a:avLst>
              <a:gd name="adj" fmla="val 16667"/>
            </a:avLst>
          </a:prstGeom>
          <a:solidFill>
            <a:srgbClr val="C0392B"/>
          </a:solidFill>
          <a:ln w="12700">
            <a:solidFill>
              <a:srgbClr val="C0392B"/>
            </a:solidFill>
            <a:prstDash val="solid"/>
          </a:ln>
        </p:spPr>
      </p:sp>
      <p:sp>
        <p:nvSpPr>
          <p:cNvPr id="17" name="Text 15"/>
          <p:cNvSpPr/>
          <p:nvPr/>
        </p:nvSpPr>
        <p:spPr>
          <a:xfrm>
            <a:off x="8193024" y="1408176"/>
            <a:ext cx="530352" cy="274320"/>
          </a:xfrm>
          <a:prstGeom prst="rect">
            <a:avLst/>
          </a:prstGeom>
          <a:noFill/>
          <a:ln/>
        </p:spPr>
        <p:txBody>
          <a:bodyPr wrap="square" lIns="0" tIns="0" rIns="0" bIns="0" rtlCol="0" anchor="ctr"/>
          <a:lstStyle/>
          <a:p>
            <a:pPr algn="ctr" indent="0" marL="0">
              <a:buNone/>
            </a:pPr>
            <a:r>
              <a:rPr lang="en-US" sz="800" b="1" dirty="0">
                <a:solidFill>
                  <a:srgbClr val="FFFFFF"/>
                </a:solidFill>
              </a:rPr>
              <a:t>High</a:t>
            </a:r>
            <a:endParaRPr lang="en-US" sz="800" dirty="0"/>
          </a:p>
        </p:txBody>
      </p:sp>
      <p:sp>
        <p:nvSpPr>
          <p:cNvPr id="18" name="Shape 16"/>
          <p:cNvSpPr/>
          <p:nvPr/>
        </p:nvSpPr>
        <p:spPr>
          <a:xfrm>
            <a:off x="347472" y="303580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9" name="Text 17"/>
          <p:cNvSpPr/>
          <p:nvPr/>
        </p:nvSpPr>
        <p:spPr>
          <a:xfrm>
            <a:off x="484632" y="3127248"/>
            <a:ext cx="566928" cy="502920"/>
          </a:xfrm>
          <a:prstGeom prst="rect">
            <a:avLst/>
          </a:prstGeom>
          <a:noFill/>
          <a:ln/>
        </p:spPr>
        <p:txBody>
          <a:bodyPr wrap="square" lIns="0" tIns="0" rIns="0" bIns="0" rtlCol="0" anchor="ctr"/>
          <a:lstStyle/>
          <a:p>
            <a:pPr indent="0" marL="0">
              <a:buNone/>
            </a:pPr>
            <a:r>
              <a:rPr lang="en-US" sz="2000" b="1" dirty="0">
                <a:solidFill>
                  <a:srgbClr val="00294D"/>
                </a:solidFill>
                <a:latin typeface="Cambria" pitchFamily="34" charset="0"/>
                <a:ea typeface="Cambria" pitchFamily="34" charset="-122"/>
                <a:cs typeface="Cambria" pitchFamily="34" charset="-120"/>
              </a:rPr>
              <a:t>03</a:t>
            </a:r>
            <a:endParaRPr lang="en-US" sz="2000" dirty="0"/>
          </a:p>
        </p:txBody>
      </p:sp>
      <p:sp>
        <p:nvSpPr>
          <p:cNvPr id="20" name="Text 18"/>
          <p:cNvSpPr/>
          <p:nvPr/>
        </p:nvSpPr>
        <p:spPr>
          <a:xfrm>
            <a:off x="1133856" y="3127248"/>
            <a:ext cx="3127248" cy="384048"/>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Integrate performance analytics</a:t>
            </a:r>
            <a:endParaRPr lang="en-US" sz="1200" dirty="0"/>
          </a:p>
        </p:txBody>
      </p:sp>
      <p:sp>
        <p:nvSpPr>
          <p:cNvPr id="21" name="Text 19"/>
          <p:cNvSpPr/>
          <p:nvPr/>
        </p:nvSpPr>
        <p:spPr>
          <a:xfrm>
            <a:off x="484632" y="3584448"/>
            <a:ext cx="3520440" cy="7772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Surface landing page performance data directly in the CMS dashboard, so marketers can connect configuration decisions to business outcomes.</a:t>
            </a:r>
            <a:endParaRPr lang="en-US" sz="1050" dirty="0"/>
          </a:p>
        </p:txBody>
      </p:sp>
      <p:sp>
        <p:nvSpPr>
          <p:cNvPr id="22" name="Shape 20"/>
          <p:cNvSpPr/>
          <p:nvPr/>
        </p:nvSpPr>
        <p:spPr>
          <a:xfrm>
            <a:off x="3822192" y="3145536"/>
            <a:ext cx="530352" cy="274320"/>
          </a:xfrm>
          <a:prstGeom prst="roundRect">
            <a:avLst>
              <a:gd name="adj" fmla="val 16667"/>
            </a:avLst>
          </a:prstGeom>
          <a:solidFill>
            <a:srgbClr val="D4A017"/>
          </a:solidFill>
          <a:ln w="12700">
            <a:solidFill>
              <a:srgbClr val="D4A017"/>
            </a:solidFill>
            <a:prstDash val="solid"/>
          </a:ln>
        </p:spPr>
      </p:sp>
      <p:sp>
        <p:nvSpPr>
          <p:cNvPr id="23" name="Text 21"/>
          <p:cNvSpPr/>
          <p:nvPr/>
        </p:nvSpPr>
        <p:spPr>
          <a:xfrm>
            <a:off x="3822192" y="3145536"/>
            <a:ext cx="530352" cy="274320"/>
          </a:xfrm>
          <a:prstGeom prst="rect">
            <a:avLst/>
          </a:prstGeom>
          <a:noFill/>
          <a:ln/>
        </p:spPr>
        <p:txBody>
          <a:bodyPr wrap="square" lIns="0" tIns="0" rIns="0" bIns="0" rtlCol="0" anchor="ctr"/>
          <a:lstStyle/>
          <a:p>
            <a:pPr algn="ctr" indent="0" marL="0">
              <a:buNone/>
            </a:pPr>
            <a:r>
              <a:rPr lang="en-US" sz="800" b="1" dirty="0">
                <a:solidFill>
                  <a:srgbClr val="FFFFFF"/>
                </a:solidFill>
              </a:rPr>
              <a:t>Medium</a:t>
            </a:r>
            <a:endParaRPr lang="en-US" sz="800" dirty="0"/>
          </a:p>
        </p:txBody>
      </p:sp>
      <p:sp>
        <p:nvSpPr>
          <p:cNvPr id="24" name="Shape 22"/>
          <p:cNvSpPr/>
          <p:nvPr/>
        </p:nvSpPr>
        <p:spPr>
          <a:xfrm>
            <a:off x="4718304" y="303580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25" name="Text 23"/>
          <p:cNvSpPr/>
          <p:nvPr/>
        </p:nvSpPr>
        <p:spPr>
          <a:xfrm>
            <a:off x="4855464" y="3127248"/>
            <a:ext cx="566928" cy="502920"/>
          </a:xfrm>
          <a:prstGeom prst="rect">
            <a:avLst/>
          </a:prstGeom>
          <a:noFill/>
          <a:ln/>
        </p:spPr>
        <p:txBody>
          <a:bodyPr wrap="square" lIns="0" tIns="0" rIns="0" bIns="0" rtlCol="0" anchor="ctr"/>
          <a:lstStyle/>
          <a:p>
            <a:pPr indent="0" marL="0">
              <a:buNone/>
            </a:pPr>
            <a:r>
              <a:rPr lang="en-US" sz="2000" b="1" dirty="0">
                <a:solidFill>
                  <a:srgbClr val="00294D"/>
                </a:solidFill>
                <a:latin typeface="Cambria" pitchFamily="34" charset="0"/>
                <a:ea typeface="Cambria" pitchFamily="34" charset="-122"/>
                <a:cs typeface="Cambria" pitchFamily="34" charset="-120"/>
              </a:rPr>
              <a:t>04</a:t>
            </a:r>
            <a:endParaRPr lang="en-US" sz="2000" dirty="0"/>
          </a:p>
        </p:txBody>
      </p:sp>
      <p:sp>
        <p:nvSpPr>
          <p:cNvPr id="26" name="Text 24"/>
          <p:cNvSpPr/>
          <p:nvPr/>
        </p:nvSpPr>
        <p:spPr>
          <a:xfrm>
            <a:off x="5504688" y="3127248"/>
            <a:ext cx="3127248" cy="384048"/>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Pilot AI-assisted copy and SEO</a:t>
            </a:r>
            <a:endParaRPr lang="en-US" sz="1200" dirty="0"/>
          </a:p>
        </p:txBody>
      </p:sp>
      <p:sp>
        <p:nvSpPr>
          <p:cNvPr id="27" name="Text 25"/>
          <p:cNvSpPr/>
          <p:nvPr/>
        </p:nvSpPr>
        <p:spPr>
          <a:xfrm>
            <a:off x="4855464" y="3584448"/>
            <a:ext cx="3520440" cy="7772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Run a time-boxed pilot of AI copy suggestions and SEO feedback within the template system, building on the SQ6 concept prototype findings.</a:t>
            </a:r>
            <a:endParaRPr lang="en-US" sz="1050" dirty="0"/>
          </a:p>
        </p:txBody>
      </p:sp>
      <p:sp>
        <p:nvSpPr>
          <p:cNvPr id="28" name="Shape 26"/>
          <p:cNvSpPr/>
          <p:nvPr/>
        </p:nvSpPr>
        <p:spPr>
          <a:xfrm>
            <a:off x="8193024" y="3145536"/>
            <a:ext cx="530352" cy="274320"/>
          </a:xfrm>
          <a:prstGeom prst="roundRect">
            <a:avLst>
              <a:gd name="adj" fmla="val 16667"/>
            </a:avLst>
          </a:prstGeom>
          <a:solidFill>
            <a:srgbClr val="0087DC"/>
          </a:solidFill>
          <a:ln w="12700">
            <a:solidFill>
              <a:srgbClr val="0087DC"/>
            </a:solidFill>
            <a:prstDash val="solid"/>
          </a:ln>
        </p:spPr>
      </p:sp>
      <p:sp>
        <p:nvSpPr>
          <p:cNvPr id="29" name="Text 27"/>
          <p:cNvSpPr/>
          <p:nvPr/>
        </p:nvSpPr>
        <p:spPr>
          <a:xfrm>
            <a:off x="8193024" y="3145536"/>
            <a:ext cx="530352" cy="274320"/>
          </a:xfrm>
          <a:prstGeom prst="rect">
            <a:avLst/>
          </a:prstGeom>
          <a:noFill/>
          <a:ln/>
        </p:spPr>
        <p:txBody>
          <a:bodyPr wrap="square" lIns="0" tIns="0" rIns="0" bIns="0" rtlCol="0" anchor="ctr"/>
          <a:lstStyle/>
          <a:p>
            <a:pPr algn="ctr" indent="0" marL="0">
              <a:buNone/>
            </a:pPr>
            <a:r>
              <a:rPr lang="en-US" sz="800" b="1" dirty="0">
                <a:solidFill>
                  <a:srgbClr val="FFFFFF"/>
                </a:solidFill>
              </a:rPr>
              <a:t>Future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365760" y="201168"/>
            <a:ext cx="2103120" cy="274320"/>
          </a:xfrm>
          <a:prstGeom prst="roundRect">
            <a:avLst>
              <a:gd name="adj" fmla="val 16667"/>
            </a:avLst>
          </a:prstGeom>
          <a:solidFill>
            <a:srgbClr val="0087DC"/>
          </a:solidFill>
          <a:ln w="12700">
            <a:solidFill>
              <a:srgbClr val="0087DC"/>
            </a:solidFill>
            <a:prstDash val="solid"/>
          </a:ln>
        </p:spPr>
      </p:sp>
      <p:sp>
        <p:nvSpPr>
          <p:cNvPr id="3" name="Text 1"/>
          <p:cNvSpPr/>
          <p:nvPr/>
        </p:nvSpPr>
        <p:spPr>
          <a:xfrm>
            <a:off x="365760" y="20116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REFLECTION</a:t>
            </a:r>
            <a:endParaRPr lang="en-US" sz="800" dirty="0"/>
          </a:p>
        </p:txBody>
      </p:sp>
      <p:sp>
        <p:nvSpPr>
          <p:cNvPr id="4" name="Text 2"/>
          <p:cNvSpPr/>
          <p:nvPr/>
        </p:nvSpPr>
        <p:spPr>
          <a:xfrm>
            <a:off x="365760" y="566928"/>
            <a:ext cx="8412480" cy="530352"/>
          </a:xfrm>
          <a:prstGeom prst="rect">
            <a:avLst/>
          </a:prstGeom>
          <a:noFill/>
          <a:ln/>
        </p:spPr>
        <p:txBody>
          <a:bodyPr wrap="square" lIns="0" tIns="0" rIns="0" bIns="0" rtlCol="0" anchor="ctr"/>
          <a:lstStyle/>
          <a:p>
            <a:pPr indent="0" marL="0">
              <a:buNone/>
            </a:pPr>
            <a:r>
              <a:rPr lang="en-US" sz="2600" b="1" dirty="0">
                <a:solidFill>
                  <a:srgbClr val="00294D"/>
                </a:solidFill>
                <a:latin typeface="Cambria" pitchFamily="34" charset="0"/>
                <a:ea typeface="Cambria" pitchFamily="34" charset="-122"/>
                <a:cs typeface="Cambria" pitchFamily="34" charset="-120"/>
              </a:rPr>
              <a:t>What I Learned as an HBO-ICT Graduate</a:t>
            </a:r>
            <a:endParaRPr lang="en-US" sz="2600" dirty="0"/>
          </a:p>
        </p:txBody>
      </p:sp>
      <p:sp>
        <p:nvSpPr>
          <p:cNvPr id="5" name="Shape 3"/>
          <p:cNvSpPr/>
          <p:nvPr/>
        </p:nvSpPr>
        <p:spPr>
          <a:xfrm>
            <a:off x="365760" y="1143000"/>
            <a:ext cx="8412480" cy="25603"/>
          </a:xfrm>
          <a:prstGeom prst="rect">
            <a:avLst/>
          </a:prstGeom>
          <a:solidFill>
            <a:srgbClr val="0087DC"/>
          </a:solidFill>
          <a:ln w="12700">
            <a:solidFill>
              <a:srgbClr val="0087DC"/>
            </a:solidFill>
            <a:prstDash val="solid"/>
          </a:ln>
        </p:spPr>
      </p:sp>
      <p:sp>
        <p:nvSpPr>
          <p:cNvPr id="6" name="Shape 4"/>
          <p:cNvSpPr/>
          <p:nvPr/>
        </p:nvSpPr>
        <p:spPr>
          <a:xfrm>
            <a:off x="347472" y="129844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438912" y="1408176"/>
            <a:ext cx="502920" cy="1371600"/>
          </a:xfrm>
          <a:prstGeom prst="rect">
            <a:avLst/>
          </a:prstGeom>
          <a:noFill/>
          <a:ln/>
        </p:spPr>
        <p:txBody>
          <a:bodyPr wrap="square" lIns="0" tIns="0" rIns="0" bIns="0" rtlCol="0" anchor="t"/>
          <a:lstStyle/>
          <a:p>
            <a:pPr indent="0" marL="0">
              <a:buNone/>
            </a:pPr>
            <a:r>
              <a:rPr lang="en-US" sz="2200" dirty="0">
                <a:solidFill>
                  <a:srgbClr val="000000"/>
                </a:solidFill>
              </a:rPr>
              <a:t>🔬</a:t>
            </a:r>
            <a:endParaRPr lang="en-US" sz="2200" dirty="0"/>
          </a:p>
        </p:txBody>
      </p:sp>
      <p:sp>
        <p:nvSpPr>
          <p:cNvPr id="8" name="Text 6"/>
          <p:cNvSpPr/>
          <p:nvPr/>
        </p:nvSpPr>
        <p:spPr>
          <a:xfrm>
            <a:off x="1005840" y="1389888"/>
            <a:ext cx="3273552" cy="347472"/>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Research-driven design</a:t>
            </a:r>
            <a:endParaRPr lang="en-US" sz="1200" dirty="0"/>
          </a:p>
        </p:txBody>
      </p:sp>
      <p:sp>
        <p:nvSpPr>
          <p:cNvPr id="9" name="Text 7"/>
          <p:cNvSpPr/>
          <p:nvPr/>
        </p:nvSpPr>
        <p:spPr>
          <a:xfrm>
            <a:off x="1005840" y="1755648"/>
            <a:ext cx="3273552" cy="10058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Design decisions only hold up when you can point to the data behind them. The combination of interviews, case studies, and satisfaction surveys gave me a defensible rationale for every choice — and that rigour made all the difference.</a:t>
            </a:r>
            <a:endParaRPr lang="en-US" sz="1050" dirty="0"/>
          </a:p>
        </p:txBody>
      </p:sp>
      <p:sp>
        <p:nvSpPr>
          <p:cNvPr id="10" name="Shape 8"/>
          <p:cNvSpPr/>
          <p:nvPr/>
        </p:nvSpPr>
        <p:spPr>
          <a:xfrm>
            <a:off x="4718304" y="129844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1" name="Text 9"/>
          <p:cNvSpPr/>
          <p:nvPr/>
        </p:nvSpPr>
        <p:spPr>
          <a:xfrm>
            <a:off x="4809744" y="1408176"/>
            <a:ext cx="502920" cy="1371600"/>
          </a:xfrm>
          <a:prstGeom prst="rect">
            <a:avLst/>
          </a:prstGeom>
          <a:noFill/>
          <a:ln/>
        </p:spPr>
        <p:txBody>
          <a:bodyPr wrap="square" lIns="0" tIns="0" rIns="0" bIns="0" rtlCol="0" anchor="t"/>
          <a:lstStyle/>
          <a:p>
            <a:pPr indent="0" marL="0">
              <a:buNone/>
            </a:pPr>
            <a:r>
              <a:rPr lang="en-US" sz="2200" dirty="0">
                <a:solidFill>
                  <a:srgbClr val="000000"/>
                </a:solidFill>
              </a:rPr>
              <a:t>🗣</a:t>
            </a:r>
            <a:endParaRPr lang="en-US" sz="2200" dirty="0"/>
          </a:p>
        </p:txBody>
      </p:sp>
      <p:sp>
        <p:nvSpPr>
          <p:cNvPr id="12" name="Text 10"/>
          <p:cNvSpPr/>
          <p:nvPr/>
        </p:nvSpPr>
        <p:spPr>
          <a:xfrm>
            <a:off x="5376672" y="1389888"/>
            <a:ext cx="3273552" cy="347472"/>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Stakeholder communication</a:t>
            </a:r>
            <a:endParaRPr lang="en-US" sz="1200" dirty="0"/>
          </a:p>
        </p:txBody>
      </p:sp>
      <p:sp>
        <p:nvSpPr>
          <p:cNvPr id="13" name="Text 11"/>
          <p:cNvSpPr/>
          <p:nvPr/>
        </p:nvSpPr>
        <p:spPr>
          <a:xfrm>
            <a:off x="5376672" y="1755648"/>
            <a:ext cx="3273552" cy="10058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Involving the right people at the right time is as important as technical quality. Gathering regular feedback from both developers and marketers — and actively incorporating it — prevented major rework and kept the project aligned throughout.</a:t>
            </a:r>
            <a:endParaRPr lang="en-US" sz="1050" dirty="0"/>
          </a:p>
        </p:txBody>
      </p:sp>
      <p:sp>
        <p:nvSpPr>
          <p:cNvPr id="14" name="Shape 12"/>
          <p:cNvSpPr/>
          <p:nvPr/>
        </p:nvSpPr>
        <p:spPr>
          <a:xfrm>
            <a:off x="347472" y="303580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5" name="Text 13"/>
          <p:cNvSpPr/>
          <p:nvPr/>
        </p:nvSpPr>
        <p:spPr>
          <a:xfrm>
            <a:off x="438912" y="3145536"/>
            <a:ext cx="502920" cy="1371600"/>
          </a:xfrm>
          <a:prstGeom prst="rect">
            <a:avLst/>
          </a:prstGeom>
          <a:noFill/>
          <a:ln/>
        </p:spPr>
        <p:txBody>
          <a:bodyPr wrap="square" lIns="0" tIns="0" rIns="0" bIns="0" rtlCol="0" anchor="t"/>
          <a:lstStyle/>
          <a:p>
            <a:pPr indent="0" marL="0">
              <a:buNone/>
            </a:pPr>
            <a:r>
              <a:rPr lang="en-US" sz="2200" dirty="0">
                <a:solidFill>
                  <a:srgbClr val="000000"/>
                </a:solidFill>
              </a:rPr>
              <a:t>🔄</a:t>
            </a:r>
            <a:endParaRPr lang="en-US" sz="2200" dirty="0"/>
          </a:p>
        </p:txBody>
      </p:sp>
      <p:sp>
        <p:nvSpPr>
          <p:cNvPr id="16" name="Text 14"/>
          <p:cNvSpPr/>
          <p:nvPr/>
        </p:nvSpPr>
        <p:spPr>
          <a:xfrm>
            <a:off x="1005840" y="3127248"/>
            <a:ext cx="3273552" cy="347472"/>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Proactive feedback and continuous improvement</a:t>
            </a:r>
            <a:endParaRPr lang="en-US" sz="1200" dirty="0"/>
          </a:p>
        </p:txBody>
      </p:sp>
      <p:sp>
        <p:nvSpPr>
          <p:cNvPr id="17" name="Text 15"/>
          <p:cNvSpPr/>
          <p:nvPr/>
        </p:nvSpPr>
        <p:spPr>
          <a:xfrm>
            <a:off x="1005840" y="3493008"/>
            <a:ext cx="3273552" cy="10058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 actively sought feedback after each implementation cycle rather than waiting for problems to surface. I learned that treating every review as an opportunity to improve — not a setback — is what drives a product from good to genuinely useful.</a:t>
            </a:r>
            <a:endParaRPr lang="en-US" sz="1050" dirty="0"/>
          </a:p>
        </p:txBody>
      </p:sp>
      <p:sp>
        <p:nvSpPr>
          <p:cNvPr id="18" name="Shape 16"/>
          <p:cNvSpPr/>
          <p:nvPr/>
        </p:nvSpPr>
        <p:spPr>
          <a:xfrm>
            <a:off x="4718304" y="3035808"/>
            <a:ext cx="4078224" cy="1572768"/>
          </a:xfrm>
          <a:prstGeom prst="roundRect">
            <a:avLst>
              <a:gd name="adj" fmla="val 5233"/>
            </a:avLst>
          </a:prstGeom>
          <a:solidFill>
            <a:srgbClr val="FFFFFF"/>
          </a:solidFill>
          <a:ln w="12700">
            <a:solidFill>
              <a:srgbClr val="DCE8F5"/>
            </a:solidFill>
            <a:prstDash val="solid"/>
          </a:ln>
          <a:effectLst>
            <a:outerShdw sx="100000" sy="100000" kx="0" ky="0" algn="bl" rotWithShape="0" blurRad="101600" dist="38100" dir="2700000">
              <a:srgbClr val="000000">
                <a:alpha val="13000"/>
              </a:srgbClr>
            </a:outerShdw>
          </a:effectLst>
        </p:spPr>
      </p:sp>
      <p:sp>
        <p:nvSpPr>
          <p:cNvPr id="19" name="Text 17"/>
          <p:cNvSpPr/>
          <p:nvPr/>
        </p:nvSpPr>
        <p:spPr>
          <a:xfrm>
            <a:off x="4809744" y="3145536"/>
            <a:ext cx="502920" cy="1371600"/>
          </a:xfrm>
          <a:prstGeom prst="rect">
            <a:avLst/>
          </a:prstGeom>
          <a:noFill/>
          <a:ln/>
        </p:spPr>
        <p:txBody>
          <a:bodyPr wrap="square" lIns="0" tIns="0" rIns="0" bIns="0" rtlCol="0" anchor="t"/>
          <a:lstStyle/>
          <a:p>
            <a:pPr indent="0" marL="0">
              <a:buNone/>
            </a:pPr>
            <a:r>
              <a:rPr lang="en-US" sz="2200" dirty="0">
                <a:solidFill>
                  <a:srgbClr val="000000"/>
                </a:solidFill>
              </a:rPr>
              <a:t>🏗</a:t>
            </a:r>
            <a:endParaRPr lang="en-US" sz="2200" dirty="0"/>
          </a:p>
        </p:txBody>
      </p:sp>
      <p:sp>
        <p:nvSpPr>
          <p:cNvPr id="20" name="Text 18"/>
          <p:cNvSpPr/>
          <p:nvPr/>
        </p:nvSpPr>
        <p:spPr>
          <a:xfrm>
            <a:off x="5376672" y="3127248"/>
            <a:ext cx="3273552" cy="347472"/>
          </a:xfrm>
          <a:prstGeom prst="rect">
            <a:avLst/>
          </a:prstGeom>
          <a:noFill/>
          <a:ln/>
        </p:spPr>
        <p:txBody>
          <a:bodyPr wrap="square" lIns="0" tIns="0" rIns="0" bIns="0" rtlCol="0" anchor="ctr"/>
          <a:lstStyle/>
          <a:p>
            <a:pPr indent="0" marL="0">
              <a:buNone/>
            </a:pPr>
            <a:r>
              <a:rPr lang="en-US" sz="1200" b="1" dirty="0">
                <a:solidFill>
                  <a:srgbClr val="00294D"/>
                </a:solidFill>
                <a:latin typeface="Cambria" pitchFamily="34" charset="0"/>
                <a:ea typeface="Cambria" pitchFamily="34" charset="-122"/>
                <a:cs typeface="Cambria" pitchFamily="34" charset="-120"/>
              </a:rPr>
              <a:t>Taking ownership end-to-end</a:t>
            </a:r>
            <a:endParaRPr lang="en-US" sz="1200" dirty="0"/>
          </a:p>
        </p:txBody>
      </p:sp>
      <p:sp>
        <p:nvSpPr>
          <p:cNvPr id="21" name="Text 19"/>
          <p:cNvSpPr/>
          <p:nvPr/>
        </p:nvSpPr>
        <p:spPr>
          <a:xfrm>
            <a:off x="5376672" y="3493008"/>
            <a:ext cx="3273552" cy="100584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This project required me to lead every phase independently — from research to design to CMS implementation to evaluation. Taking full ownership, making decisions under uncertainty, and seeing them through to a working product is the most valuable thing I take from this internship.</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294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87DC"/>
          </a:solidFill>
          <a:ln w="12700">
            <a:solidFill>
              <a:srgbClr val="0087DC"/>
            </a:solidFill>
            <a:prstDash val="solid"/>
          </a:ln>
        </p:spPr>
      </p:sp>
      <p:sp>
        <p:nvSpPr>
          <p:cNvPr id="3" name="Shape 1"/>
          <p:cNvSpPr/>
          <p:nvPr/>
        </p:nvSpPr>
        <p:spPr>
          <a:xfrm>
            <a:off x="0" y="822960"/>
            <a:ext cx="9144000" cy="54864"/>
          </a:xfrm>
          <a:prstGeom prst="rect">
            <a:avLst/>
          </a:prstGeom>
          <a:solidFill>
            <a:srgbClr val="67D7D2"/>
          </a:solidFill>
          <a:ln w="12700">
            <a:solidFill>
              <a:srgbClr val="67D7D2"/>
            </a:solidFill>
            <a:prstDash val="solid"/>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1000" b="1" spc="400" kern="0" dirty="0">
                <a:solidFill>
                  <a:srgbClr val="FFFFFF"/>
                </a:solidFill>
                <a:latin typeface="Calibri" pitchFamily="34" charset="0"/>
                <a:ea typeface="Calibri" pitchFamily="34" charset="-122"/>
                <a:cs typeface="Calibri" pitchFamily="34" charset="-120"/>
              </a:rPr>
              <a:t>CONCLUSION</a:t>
            </a:r>
            <a:endParaRPr lang="en-US" sz="1000" dirty="0"/>
          </a:p>
        </p:txBody>
      </p:sp>
      <p:sp>
        <p:nvSpPr>
          <p:cNvPr id="5" name="Shape 3"/>
          <p:cNvSpPr/>
          <p:nvPr/>
        </p:nvSpPr>
        <p:spPr>
          <a:xfrm>
            <a:off x="411480" y="987552"/>
            <a:ext cx="8321040" cy="1298448"/>
          </a:xfrm>
          <a:prstGeom prst="roundRect">
            <a:avLst>
              <a:gd name="adj" fmla="val 6338"/>
            </a:avLst>
          </a:prstGeom>
          <a:solidFill>
            <a:srgbClr val="001E38"/>
          </a:solidFill>
          <a:ln w="12700">
            <a:solidFill>
              <a:srgbClr val="001E38"/>
            </a:solidFill>
            <a:prstDash val="solid"/>
          </a:ln>
          <a:effectLst>
            <a:outerShdw sx="100000" sy="100000" kx="0" ky="0" algn="bl" rotWithShape="0" blurRad="101600" dist="38100" dir="2700000">
              <a:srgbClr val="000000">
                <a:alpha val="13000"/>
              </a:srgbClr>
            </a:outerShdw>
          </a:effectLst>
        </p:spPr>
      </p:sp>
      <p:sp>
        <p:nvSpPr>
          <p:cNvPr id="6" name="Text 4"/>
          <p:cNvSpPr/>
          <p:nvPr/>
        </p:nvSpPr>
        <p:spPr>
          <a:xfrm>
            <a:off x="594360" y="1033272"/>
            <a:ext cx="7955280" cy="1170432"/>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new template system creates clear, measurable value for Delta Electronics</a:t>
            </a:r>
            <a:endParaRPr lang="en-US" sz="1600" dirty="0"/>
          </a:p>
          <a:p>
            <a:pPr indent="0" marL="0">
              <a:buNone/>
            </a:pPr>
            <a:r>
              <a:rPr lang="en-US" sz="1600" b="1" dirty="0">
                <a:solidFill>
                  <a:srgbClr val="FFFFFF"/>
                </a:solidFill>
                <a:latin typeface="Cambria" pitchFamily="34" charset="0"/>
                <a:ea typeface="Cambria" pitchFamily="34" charset="-122"/>
                <a:cs typeface="Cambria" pitchFamily="34" charset="-120"/>
              </a:rPr>
              <a:t>by solving a real workflow problem through an evidence-based, research-driven design process.</a:t>
            </a:r>
            <a:endParaRPr lang="en-US" sz="1600" dirty="0"/>
          </a:p>
        </p:txBody>
      </p:sp>
      <p:sp>
        <p:nvSpPr>
          <p:cNvPr id="7" name="Shape 5"/>
          <p:cNvSpPr/>
          <p:nvPr/>
        </p:nvSpPr>
        <p:spPr>
          <a:xfrm>
            <a:off x="347472" y="2423160"/>
            <a:ext cx="1572768" cy="1371600"/>
          </a:xfrm>
          <a:prstGeom prst="roundRect">
            <a:avLst>
              <a:gd name="adj" fmla="val 6000"/>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8" name="Text 6"/>
          <p:cNvSpPr/>
          <p:nvPr/>
        </p:nvSpPr>
        <p:spPr>
          <a:xfrm>
            <a:off x="347472" y="2468880"/>
            <a:ext cx="1572768"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~75%</a:t>
            </a:r>
            <a:endParaRPr lang="en-US" sz="2200" dirty="0"/>
          </a:p>
        </p:txBody>
      </p:sp>
      <p:sp>
        <p:nvSpPr>
          <p:cNvPr id="9" name="Text 7"/>
          <p:cNvSpPr/>
          <p:nvPr/>
        </p:nvSpPr>
        <p:spPr>
          <a:xfrm>
            <a:off x="347472" y="3090672"/>
            <a:ext cx="1572768" cy="585216"/>
          </a:xfrm>
          <a:prstGeom prst="rect">
            <a:avLst/>
          </a:prstGeom>
          <a:noFill/>
          <a:ln/>
        </p:spPr>
        <p:txBody>
          <a:bodyPr wrap="square" lIns="0" tIns="0" rIns="0" bIns="0" rtlCol="0" anchor="ctr"/>
          <a:lstStyle/>
          <a:p>
            <a:pPr algn="ctr" indent="0" marL="0">
              <a:buNone/>
            </a:pPr>
            <a:r>
              <a:rPr lang="en-US" sz="900" dirty="0">
                <a:solidFill>
                  <a:srgbClr val="67D7D2"/>
                </a:solidFill>
                <a:latin typeface="Calibri" pitchFamily="34" charset="0"/>
                <a:ea typeface="Calibri" pitchFamily="34" charset="-122"/>
                <a:cs typeface="Calibri" pitchFamily="34" charset="-120"/>
              </a:rPr>
              <a:t>time reduction</a:t>
            </a:r>
            <a:endParaRPr lang="en-US" sz="900" dirty="0"/>
          </a:p>
          <a:p>
            <a:pPr algn="ctr" indent="0" marL="0">
              <a:buNone/>
            </a:pPr>
            <a:r>
              <a:rPr lang="en-US" sz="900" dirty="0">
                <a:solidFill>
                  <a:srgbClr val="67D7D2"/>
                </a:solidFill>
                <a:latin typeface="Calibri" pitchFamily="34" charset="0"/>
                <a:ea typeface="Calibri" pitchFamily="34" charset="-122"/>
                <a:cs typeface="Calibri" pitchFamily="34" charset="-120"/>
              </a:rPr>
              <a:t>3–4 wks → ~1 week</a:t>
            </a:r>
            <a:endParaRPr lang="en-US" sz="900" dirty="0"/>
          </a:p>
        </p:txBody>
      </p:sp>
      <p:sp>
        <p:nvSpPr>
          <p:cNvPr id="10" name="Shape 8"/>
          <p:cNvSpPr/>
          <p:nvPr/>
        </p:nvSpPr>
        <p:spPr>
          <a:xfrm>
            <a:off x="2048256" y="2423160"/>
            <a:ext cx="1572768" cy="1371600"/>
          </a:xfrm>
          <a:prstGeom prst="roundRect">
            <a:avLst>
              <a:gd name="adj" fmla="val 6000"/>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11" name="Text 9"/>
          <p:cNvSpPr/>
          <p:nvPr/>
        </p:nvSpPr>
        <p:spPr>
          <a:xfrm>
            <a:off x="2048256" y="2468880"/>
            <a:ext cx="1572768"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2.1→4.2</a:t>
            </a:r>
            <a:endParaRPr lang="en-US" sz="2200" dirty="0"/>
          </a:p>
        </p:txBody>
      </p:sp>
      <p:sp>
        <p:nvSpPr>
          <p:cNvPr id="12" name="Text 10"/>
          <p:cNvSpPr/>
          <p:nvPr/>
        </p:nvSpPr>
        <p:spPr>
          <a:xfrm>
            <a:off x="2048256" y="3090672"/>
            <a:ext cx="1572768" cy="585216"/>
          </a:xfrm>
          <a:prstGeom prst="rect">
            <a:avLst/>
          </a:prstGeom>
          <a:noFill/>
          <a:ln/>
        </p:spPr>
        <p:txBody>
          <a:bodyPr wrap="square" lIns="0" tIns="0" rIns="0" bIns="0" rtlCol="0" anchor="ctr"/>
          <a:lstStyle/>
          <a:p>
            <a:pPr algn="ctr" indent="0" marL="0">
              <a:buNone/>
            </a:pPr>
            <a:r>
              <a:rPr lang="en-US" sz="900" dirty="0">
                <a:solidFill>
                  <a:srgbClr val="67D7D2"/>
                </a:solidFill>
                <a:latin typeface="Calibri" pitchFamily="34" charset="0"/>
                <a:ea typeface="Calibri" pitchFamily="34" charset="-122"/>
                <a:cs typeface="Calibri" pitchFamily="34" charset="-120"/>
              </a:rPr>
              <a:t>satisfaction</a:t>
            </a:r>
            <a:endParaRPr lang="en-US" sz="900" dirty="0"/>
          </a:p>
          <a:p>
            <a:pPr algn="ctr" indent="0" marL="0">
              <a:buNone/>
            </a:pPr>
            <a:r>
              <a:rPr lang="en-US" sz="900" dirty="0">
                <a:solidFill>
                  <a:srgbClr val="67D7D2"/>
                </a:solidFill>
                <a:latin typeface="Calibri" pitchFamily="34" charset="0"/>
                <a:ea typeface="Calibri" pitchFamily="34" charset="-122"/>
                <a:cs typeface="Calibri" pitchFamily="34" charset="-120"/>
              </a:rPr>
              <a:t>(out of 5)</a:t>
            </a:r>
            <a:endParaRPr lang="en-US" sz="900" dirty="0"/>
          </a:p>
        </p:txBody>
      </p:sp>
      <p:sp>
        <p:nvSpPr>
          <p:cNvPr id="13" name="Shape 11"/>
          <p:cNvSpPr/>
          <p:nvPr/>
        </p:nvSpPr>
        <p:spPr>
          <a:xfrm>
            <a:off x="3749040" y="2423160"/>
            <a:ext cx="1572768" cy="1371600"/>
          </a:xfrm>
          <a:prstGeom prst="roundRect">
            <a:avLst>
              <a:gd name="adj" fmla="val 6000"/>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3749040" y="2468880"/>
            <a:ext cx="1572768"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4.1/5</a:t>
            </a:r>
            <a:endParaRPr lang="en-US" sz="2200" dirty="0"/>
          </a:p>
        </p:txBody>
      </p:sp>
      <p:sp>
        <p:nvSpPr>
          <p:cNvPr id="15" name="Text 13"/>
          <p:cNvSpPr/>
          <p:nvPr/>
        </p:nvSpPr>
        <p:spPr>
          <a:xfrm>
            <a:off x="3749040" y="3090672"/>
            <a:ext cx="1572768" cy="585216"/>
          </a:xfrm>
          <a:prstGeom prst="rect">
            <a:avLst/>
          </a:prstGeom>
          <a:noFill/>
          <a:ln/>
        </p:spPr>
        <p:txBody>
          <a:bodyPr wrap="square" lIns="0" tIns="0" rIns="0" bIns="0" rtlCol="0" anchor="ctr"/>
          <a:lstStyle/>
          <a:p>
            <a:pPr algn="ctr" indent="0" marL="0">
              <a:buNone/>
            </a:pPr>
            <a:r>
              <a:rPr lang="en-US" sz="900" dirty="0">
                <a:solidFill>
                  <a:srgbClr val="67D7D2"/>
                </a:solidFill>
                <a:latin typeface="Calibri" pitchFamily="34" charset="0"/>
                <a:ea typeface="Calibri" pitchFamily="34" charset="-122"/>
                <a:cs typeface="Calibri" pitchFamily="34" charset="-120"/>
              </a:rPr>
              <a:t>self-sufficiency</a:t>
            </a:r>
            <a:endParaRPr lang="en-US" sz="900" dirty="0"/>
          </a:p>
          <a:p>
            <a:pPr algn="ctr" indent="0" marL="0">
              <a:buNone/>
            </a:pPr>
            <a:r>
              <a:rPr lang="en-US" sz="900" dirty="0">
                <a:solidFill>
                  <a:srgbClr val="67D7D2"/>
                </a:solidFill>
                <a:latin typeface="Calibri" pitchFamily="34" charset="0"/>
                <a:ea typeface="Calibri" pitchFamily="34" charset="-122"/>
                <a:cs typeface="Calibri" pitchFamily="34" charset="-120"/>
              </a:rPr>
              <a:t>(from 2.2)</a:t>
            </a:r>
            <a:endParaRPr lang="en-US" sz="900" dirty="0"/>
          </a:p>
        </p:txBody>
      </p:sp>
      <p:sp>
        <p:nvSpPr>
          <p:cNvPr id="16" name="Shape 14"/>
          <p:cNvSpPr/>
          <p:nvPr/>
        </p:nvSpPr>
        <p:spPr>
          <a:xfrm>
            <a:off x="5449824" y="2423160"/>
            <a:ext cx="1572768" cy="1371600"/>
          </a:xfrm>
          <a:prstGeom prst="roundRect">
            <a:avLst>
              <a:gd name="adj" fmla="val 6000"/>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17" name="Text 15"/>
          <p:cNvSpPr/>
          <p:nvPr/>
        </p:nvSpPr>
        <p:spPr>
          <a:xfrm>
            <a:off x="5449824" y="2468880"/>
            <a:ext cx="1572768"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 SQs</a:t>
            </a:r>
            <a:endParaRPr lang="en-US" sz="2200" dirty="0"/>
          </a:p>
        </p:txBody>
      </p:sp>
      <p:sp>
        <p:nvSpPr>
          <p:cNvPr id="18" name="Text 16"/>
          <p:cNvSpPr/>
          <p:nvPr/>
        </p:nvSpPr>
        <p:spPr>
          <a:xfrm>
            <a:off x="5449824" y="3090672"/>
            <a:ext cx="1572768" cy="585216"/>
          </a:xfrm>
          <a:prstGeom prst="rect">
            <a:avLst/>
          </a:prstGeom>
          <a:noFill/>
          <a:ln/>
        </p:spPr>
        <p:txBody>
          <a:bodyPr wrap="square" lIns="0" tIns="0" rIns="0" bIns="0" rtlCol="0" anchor="ctr"/>
          <a:lstStyle/>
          <a:p>
            <a:pPr algn="ctr" indent="0" marL="0">
              <a:buNone/>
            </a:pPr>
            <a:r>
              <a:rPr lang="en-US" sz="900" dirty="0">
                <a:solidFill>
                  <a:srgbClr val="67D7D2"/>
                </a:solidFill>
                <a:latin typeface="Calibri" pitchFamily="34" charset="0"/>
                <a:ea typeface="Calibri" pitchFamily="34" charset="-122"/>
                <a:cs typeface="Calibri" pitchFamily="34" charset="-120"/>
              </a:rPr>
              <a:t>answered with</a:t>
            </a:r>
            <a:endParaRPr lang="en-US" sz="900" dirty="0"/>
          </a:p>
          <a:p>
            <a:pPr algn="ctr" indent="0" marL="0">
              <a:buNone/>
            </a:pPr>
            <a:r>
              <a:rPr lang="en-US" sz="900" dirty="0">
                <a:solidFill>
                  <a:srgbClr val="67D7D2"/>
                </a:solidFill>
                <a:latin typeface="Calibri" pitchFamily="34" charset="0"/>
                <a:ea typeface="Calibri" pitchFamily="34" charset="-122"/>
                <a:cs typeface="Calibri" pitchFamily="34" charset="-120"/>
              </a:rPr>
              <a:t>ICT methods</a:t>
            </a:r>
            <a:endParaRPr lang="en-US" sz="900" dirty="0"/>
          </a:p>
        </p:txBody>
      </p:sp>
      <p:sp>
        <p:nvSpPr>
          <p:cNvPr id="19" name="Shape 17"/>
          <p:cNvSpPr/>
          <p:nvPr/>
        </p:nvSpPr>
        <p:spPr>
          <a:xfrm>
            <a:off x="7150608" y="2423160"/>
            <a:ext cx="1572768" cy="1371600"/>
          </a:xfrm>
          <a:prstGeom prst="roundRect">
            <a:avLst>
              <a:gd name="adj" fmla="val 6000"/>
            </a:avLst>
          </a:prstGeom>
          <a:solidFill>
            <a:srgbClr val="0A2A47"/>
          </a:solidFill>
          <a:ln w="12700">
            <a:solidFill>
              <a:srgbClr val="0A2A47"/>
            </a:solidFill>
            <a:prstDash val="solid"/>
          </a:ln>
          <a:effectLst>
            <a:outerShdw sx="100000" sy="100000" kx="0" ky="0" algn="bl" rotWithShape="0" blurRad="101600" dist="38100" dir="2700000">
              <a:srgbClr val="000000">
                <a:alpha val="13000"/>
              </a:srgbClr>
            </a:outerShdw>
          </a:effectLst>
        </p:spPr>
      </p:sp>
      <p:sp>
        <p:nvSpPr>
          <p:cNvPr id="20" name="Text 18"/>
          <p:cNvSpPr/>
          <p:nvPr/>
        </p:nvSpPr>
        <p:spPr>
          <a:xfrm>
            <a:off x="7150608" y="2468880"/>
            <a:ext cx="1572768"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9</a:t>
            </a:r>
            <a:endParaRPr lang="en-US" sz="2200" dirty="0"/>
          </a:p>
        </p:txBody>
      </p:sp>
      <p:sp>
        <p:nvSpPr>
          <p:cNvPr id="21" name="Text 19"/>
          <p:cNvSpPr/>
          <p:nvPr/>
        </p:nvSpPr>
        <p:spPr>
          <a:xfrm>
            <a:off x="7150608" y="3090672"/>
            <a:ext cx="1572768" cy="585216"/>
          </a:xfrm>
          <a:prstGeom prst="rect">
            <a:avLst/>
          </a:prstGeom>
          <a:noFill/>
          <a:ln/>
        </p:spPr>
        <p:txBody>
          <a:bodyPr wrap="square" lIns="0" tIns="0" rIns="0" bIns="0" rtlCol="0" anchor="ctr"/>
          <a:lstStyle/>
          <a:p>
            <a:pPr algn="ctr" indent="0" marL="0">
              <a:buNone/>
            </a:pPr>
            <a:r>
              <a:rPr lang="en-US" sz="900" dirty="0">
                <a:solidFill>
                  <a:srgbClr val="67D7D2"/>
                </a:solidFill>
                <a:latin typeface="Calibri" pitchFamily="34" charset="0"/>
                <a:ea typeface="Calibri" pitchFamily="34" charset="-122"/>
                <a:cs typeface="Calibri" pitchFamily="34" charset="-120"/>
              </a:rPr>
              <a:t>participants</a:t>
            </a:r>
            <a:endParaRPr lang="en-US" sz="900" dirty="0"/>
          </a:p>
          <a:p>
            <a:pPr algn="ctr" indent="0" marL="0">
              <a:buNone/>
            </a:pPr>
            <a:r>
              <a:rPr lang="en-US" sz="900" dirty="0">
                <a:solidFill>
                  <a:srgbClr val="67D7D2"/>
                </a:solidFill>
                <a:latin typeface="Calibri" pitchFamily="34" charset="0"/>
                <a:ea typeface="Calibri" pitchFamily="34" charset="-122"/>
                <a:cs typeface="Calibri" pitchFamily="34" charset="-120"/>
              </a:rPr>
              <a:t>in usability test</a:t>
            </a:r>
            <a:endParaRPr lang="en-US" sz="900" dirty="0"/>
          </a:p>
        </p:txBody>
      </p:sp>
      <p:sp>
        <p:nvSpPr>
          <p:cNvPr id="22" name="Text 20"/>
          <p:cNvSpPr/>
          <p:nvPr/>
        </p:nvSpPr>
        <p:spPr>
          <a:xfrm>
            <a:off x="411480" y="3913632"/>
            <a:ext cx="8321040" cy="292608"/>
          </a:xfrm>
          <a:prstGeom prst="rect">
            <a:avLst/>
          </a:prstGeom>
          <a:noFill/>
          <a:ln/>
        </p:spPr>
        <p:txBody>
          <a:bodyPr wrap="square" lIns="0" tIns="0" rIns="0" bIns="0" rtlCol="0" anchor="ctr"/>
          <a:lstStyle/>
          <a:p>
            <a:pPr indent="0" marL="0">
              <a:buNone/>
            </a:pPr>
            <a:r>
              <a:rPr lang="en-US" sz="1000" b="1" dirty="0">
                <a:solidFill>
                  <a:srgbClr val="67D7D2"/>
                </a:solidFill>
                <a:latin typeface="Calibri" pitchFamily="34" charset="0"/>
                <a:ea typeface="Calibri" pitchFamily="34" charset="-122"/>
                <a:cs typeface="Calibri" pitchFamily="34" charset="-120"/>
              </a:rPr>
              <a:t>Main Research Question answered:</a:t>
            </a:r>
            <a:endParaRPr lang="en-US" sz="1000" dirty="0"/>
          </a:p>
        </p:txBody>
      </p:sp>
      <p:sp>
        <p:nvSpPr>
          <p:cNvPr id="23" name="Text 21"/>
          <p:cNvSpPr/>
          <p:nvPr/>
        </p:nvSpPr>
        <p:spPr>
          <a:xfrm>
            <a:off x="411480" y="4187952"/>
            <a:ext cx="8321040" cy="749808"/>
          </a:xfrm>
          <a:prstGeom prst="rect">
            <a:avLst/>
          </a:prstGeom>
          <a:noFill/>
          <a:ln/>
        </p:spPr>
        <p:txBody>
          <a:bodyPr wrap="square" lIns="0" tIns="0" rIns="0" bIns="0" rtlCol="0" anchor="ctr"/>
          <a:lstStyle/>
          <a:p>
            <a:pPr indent="0" marL="0">
              <a:buNone/>
            </a:pPr>
            <a:r>
              <a:rPr lang="en-US" sz="1200" dirty="0">
                <a:solidFill>
                  <a:srgbClr val="C8DCF0"/>
                </a:solidFill>
                <a:latin typeface="Calibri" pitchFamily="34" charset="0"/>
                <a:ea typeface="Calibri" pitchFamily="34" charset="-122"/>
                <a:cs typeface="Calibri" pitchFamily="34" charset="-120"/>
              </a:rPr>
              <a:t>A user-friendly template system can be designed by combining structured ICT research methods with iterative, stakeholder-validated design — resulting in reusable components, guided configuration, and live preview that collectively reduce time, dependency, and inconsistency.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294D"/>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87DC"/>
          </a:solidFill>
          <a:ln w="12700">
            <a:solidFill>
              <a:srgbClr val="0087DC"/>
            </a:solidFill>
            <a:prstDash val="solid"/>
          </a:ln>
        </p:spPr>
      </p:sp>
      <p:sp>
        <p:nvSpPr>
          <p:cNvPr id="3" name="Shape 1"/>
          <p:cNvSpPr/>
          <p:nvPr/>
        </p:nvSpPr>
        <p:spPr>
          <a:xfrm>
            <a:off x="0" y="914400"/>
            <a:ext cx="9144000" cy="54864"/>
          </a:xfrm>
          <a:prstGeom prst="rect">
            <a:avLst/>
          </a:prstGeom>
          <a:solidFill>
            <a:srgbClr val="67D7D2"/>
          </a:solidFill>
          <a:ln w="12700">
            <a:solidFill>
              <a:srgbClr val="67D7D2"/>
            </a:solidFill>
            <a:prstDash val="solid"/>
          </a:ln>
        </p:spPr>
      </p:sp>
      <p:sp>
        <p:nvSpPr>
          <p:cNvPr id="4" name="Text 2"/>
          <p:cNvSpPr/>
          <p:nvPr/>
        </p:nvSpPr>
        <p:spPr>
          <a:xfrm>
            <a:off x="457200" y="91440"/>
            <a:ext cx="8229600" cy="7132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DELTA ELECTRONICS EMEA  ·  HBO-ICT THESIS DEFENSE  ·  2024–2025</a:t>
            </a:r>
            <a:endParaRPr lang="en-US" sz="900" dirty="0"/>
          </a:p>
        </p:txBody>
      </p:sp>
      <p:sp>
        <p:nvSpPr>
          <p:cNvPr id="5" name="Text 3"/>
          <p:cNvSpPr/>
          <p:nvPr/>
        </p:nvSpPr>
        <p:spPr>
          <a:xfrm>
            <a:off x="457200" y="1188720"/>
            <a:ext cx="822960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Text 4"/>
          <p:cNvSpPr/>
          <p:nvPr/>
        </p:nvSpPr>
        <p:spPr>
          <a:xfrm>
            <a:off x="457200" y="2084832"/>
            <a:ext cx="8229600" cy="530352"/>
          </a:xfrm>
          <a:prstGeom prst="rect">
            <a:avLst/>
          </a:prstGeom>
          <a:noFill/>
          <a:ln/>
        </p:spPr>
        <p:txBody>
          <a:bodyPr wrap="square" lIns="0" tIns="0" rIns="0" bIns="0" rtlCol="0" anchor="ctr"/>
          <a:lstStyle/>
          <a:p>
            <a:pPr algn="ctr" indent="0" marL="0">
              <a:buNone/>
            </a:pPr>
            <a:r>
              <a:rPr lang="en-US" sz="2200" dirty="0">
                <a:solidFill>
                  <a:srgbClr val="67D7D2"/>
                </a:solidFill>
                <a:latin typeface="Calibri" pitchFamily="34" charset="0"/>
                <a:ea typeface="Calibri" pitchFamily="34" charset="-122"/>
                <a:cs typeface="Calibri" pitchFamily="34" charset="-120"/>
              </a:rPr>
              <a:t>Questions &amp; Discussion</a:t>
            </a:r>
            <a:endParaRPr lang="en-US" sz="2200" dirty="0"/>
          </a:p>
        </p:txBody>
      </p:sp>
      <p:sp>
        <p:nvSpPr>
          <p:cNvPr id="7" name="Shape 5"/>
          <p:cNvSpPr/>
          <p:nvPr/>
        </p:nvSpPr>
        <p:spPr>
          <a:xfrm>
            <a:off x="3200400" y="2688336"/>
            <a:ext cx="2743200" cy="36576"/>
          </a:xfrm>
          <a:prstGeom prst="rect">
            <a:avLst/>
          </a:prstGeom>
          <a:solidFill>
            <a:srgbClr val="67D7D2">
              <a:alpha val="60000"/>
            </a:srgbClr>
          </a:solidFill>
          <a:ln w="12700">
            <a:solidFill>
              <a:srgbClr val="67D7D2">
                <a:alpha val="60000"/>
              </a:srgbClr>
            </a:solidFill>
            <a:prstDash val="solid"/>
          </a:ln>
        </p:spPr>
      </p:sp>
      <p:sp>
        <p:nvSpPr>
          <p:cNvPr id="8" name="Text 6"/>
          <p:cNvSpPr/>
          <p:nvPr/>
        </p:nvSpPr>
        <p:spPr>
          <a:xfrm>
            <a:off x="457200" y="2852928"/>
            <a:ext cx="8229600" cy="365760"/>
          </a:xfrm>
          <a:prstGeom prst="rect">
            <a:avLst/>
          </a:prstGeom>
          <a:noFill/>
          <a:ln/>
        </p:spPr>
        <p:txBody>
          <a:bodyPr wrap="square" lIns="0" tIns="0" rIns="0" bIns="0" rtlCol="0" anchor="ctr"/>
          <a:lstStyle/>
          <a:p>
            <a:pPr algn="ctr" indent="0" marL="0">
              <a:buNone/>
            </a:pPr>
            <a:r>
              <a:rPr lang="en-US" sz="1100" i="1" dirty="0">
                <a:solidFill>
                  <a:srgbClr val="8BBCD8"/>
                </a:solidFill>
                <a:latin typeface="Calibri" pitchFamily="34" charset="0"/>
                <a:ea typeface="Calibri" pitchFamily="34" charset="-122"/>
                <a:cs typeface="Calibri" pitchFamily="34" charset="-120"/>
              </a:rPr>
              <a:t>[Your Name]  ·  Delta Electronics EMEA  ·  HBO-ICT Graduation</a:t>
            </a:r>
            <a:endParaRPr lang="en-US" sz="1100" dirty="0"/>
          </a:p>
        </p:txBody>
      </p:sp>
      <p:sp>
        <p:nvSpPr>
          <p:cNvPr id="9" name="Shape 7"/>
          <p:cNvSpPr/>
          <p:nvPr/>
        </p:nvSpPr>
        <p:spPr>
          <a:xfrm>
            <a:off x="2286000" y="3657600"/>
            <a:ext cx="4572000" cy="868680"/>
          </a:xfrm>
          <a:prstGeom prst="roundRect">
            <a:avLst>
              <a:gd name="adj" fmla="val 9474"/>
            </a:avLst>
          </a:prstGeom>
          <a:solidFill>
            <a:srgbClr val="001E38"/>
          </a:solidFill>
          <a:ln w="12700">
            <a:solidFill>
              <a:srgbClr val="001E38"/>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2286000" y="3657600"/>
            <a:ext cx="4572000" cy="868680"/>
          </a:xfrm>
          <a:prstGeom prst="rect">
            <a:avLst/>
          </a:prstGeom>
          <a:noFill/>
          <a:ln/>
        </p:spPr>
        <p:txBody>
          <a:bodyPr wrap="square" lIns="0" tIns="0" rIns="0" bIns="0" rtlCol="0" anchor="ctr"/>
          <a:lstStyle/>
          <a:p>
            <a:pPr algn="ctr" indent="0" marL="0">
              <a:buNone/>
            </a:pPr>
            <a:r>
              <a:rPr lang="en-US" sz="1050" dirty="0">
                <a:solidFill>
                  <a:srgbClr val="8BBCD8"/>
                </a:solidFill>
                <a:latin typeface="Calibri" pitchFamily="34" charset="0"/>
                <a:ea typeface="Calibri" pitchFamily="34" charset="-122"/>
                <a:cs typeface="Calibri" pitchFamily="34" charset="-120"/>
              </a:rPr>
              <a:t>Backup slides, raw survey data, implementation artefacts</a:t>
            </a:r>
            <a:endParaRPr lang="en-US" sz="1050" dirty="0"/>
          </a:p>
          <a:p>
            <a:pPr algn="ctr" indent="0" marL="0">
              <a:buNone/>
            </a:pPr>
            <a:r>
              <a:rPr lang="en-US" sz="1050" dirty="0">
                <a:solidFill>
                  <a:srgbClr val="8BBCD8"/>
                </a:solidFill>
                <a:latin typeface="Calibri" pitchFamily="34" charset="0"/>
                <a:ea typeface="Calibri" pitchFamily="34" charset="-122"/>
                <a:cs typeface="Calibri" pitchFamily="34" charset="-120"/>
              </a:rPr>
              <a:t>and method documentation available on request.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Delta Electronics – HBO-ICT Thesis Defense</dc:title>
  <dc:subject>PptxGenJS Presentation</dc:subject>
  <dc:creator>PptxGenJS</dc:creator>
  <cp:lastModifiedBy>PptxGenJS</cp:lastModifiedBy>
  <cp:revision>1</cp:revision>
  <dcterms:created xsi:type="dcterms:W3CDTF">2026-06-25T10:30:54Z</dcterms:created>
  <dcterms:modified xsi:type="dcterms:W3CDTF">2026-06-25T10:30:54Z</dcterms:modified>
</cp:coreProperties>
</file>